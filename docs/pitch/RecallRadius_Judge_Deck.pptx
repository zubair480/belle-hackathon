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Warranty claims 2025 ($B)</c:v>
                </c:pt>
              </c:strCache>
            </c:strRef>
          </c:tx>
          <c:spPr>
            <a:solidFill>
              <a:srgbClr val="D9752B"/>
            </a:solidFill>
            <a:effectLst/>
          </c:spPr>
          <c:invertIfNegative val="0"/>
          <c:dLbls>
            <c:numFmt formatCode="0.00" sourceLinked="0"/>
            <c:txPr>
              <a:bodyPr/>
              <a:lstStyle/>
              <a:p>
                <a:pPr>
                  <a:defRPr b="0" i="0" strike="noStrike" sz="1000" u="none">
                    <a:solidFill>
                      <a:srgbClr val="14181F"/>
                    </a:solidFill>
                    <a:latin typeface="Calibri"/>
                  </a:defRPr>
                </a:pPr>
              </a:p>
            </c:txPr>
            <c:showLegendKey val="0"/>
            <c:showVal val="1"/>
            <c:showCatName val="0"/>
            <c:showSerName val="0"/>
            <c:showPercent val="0"/>
            <c:showBubbleSize val="0"/>
            <c:showLeaderLines val="0"/>
          </c:dLbls>
          <c:dPt>
            <c:idx val="0"/>
            <c:invertIfNegative val="0"/>
            <c:bubble3D val="0"/>
            <c:spPr>
              <a:solidFill>
                <a:srgbClr val="D9752B"/>
              </a:solidFill>
              <a:effectLst/>
            </c:spPr>
          </c:dPt>
          <c:dPt>
            <c:idx val="1"/>
            <c:invertIfNegative val="0"/>
            <c:bubble3D val="0"/>
            <c:spPr>
              <a:solidFill>
                <a:srgbClr val="D9752B"/>
              </a:solidFill>
              <a:effectLst/>
            </c:spPr>
          </c:dPt>
          <c:dPt>
            <c:idx val="2"/>
            <c:invertIfNegative val="0"/>
            <c:bubble3D val="0"/>
            <c:spPr>
              <a:solidFill>
                <a:srgbClr val="D9752B"/>
              </a:solidFill>
              <a:effectLst/>
            </c:spPr>
          </c:dPt>
          <c:dPt>
            <c:idx val="3"/>
            <c:invertIfNegative val="0"/>
            <c:bubble3D val="0"/>
            <c:spPr>
              <a:solidFill>
                <a:srgbClr val="3E8E6E"/>
              </a:solidFill>
              <a:effectLst/>
            </c:spPr>
          </c:dPt>
          <c:dPt>
            <c:idx val="4"/>
            <c:invertIfNegative val="0"/>
            <c:bubble3D val="0"/>
            <c:spPr>
              <a:solidFill>
                <a:srgbClr val="3E8E6E"/>
              </a:solidFill>
              <a:effectLst/>
            </c:spPr>
          </c:dPt>
          <c:cat>
            <c:multiLvlStrRef>
              <c:f>Sheet1!$A$2:$A$6</c:f>
              <c:multiLvlStrCache>
                <c:ptCount val="5"/>
                <c:lvl>
                  <c:pt idx="0">
                    <c:v>Ford</c:v>
                  </c:pt>
                  <c:pt idx="1">
                    <c:v>GM</c:v>
                  </c:pt>
                  <c:pt idx="2">
                    <c:v>Tesla</c:v>
                  </c:pt>
                  <c:pt idx="3">
                    <c:v>Rivian</c:v>
                  </c:pt>
                  <c:pt idx="4">
                    <c:v>Lucid</c:v>
                  </c:pt>
                </c:lvl>
              </c:multiLvlStrCache>
            </c:multiLvlStrRef>
          </c:cat>
          <c:val>
            <c:numRef>
              <c:f>Sheet1!$B$2:$B$6</c:f>
              <c:numCache>
                <c:formatCode>General</c:formatCode>
                <c:ptCount val="5"/>
                <c:pt idx="0">
                  <c:v>5.73</c:v>
                </c:pt>
                <c:pt idx="1">
                  <c:v>5.32</c:v>
                </c:pt>
                <c:pt idx="2">
                  <c:v>1.72</c:v>
                </c:pt>
                <c:pt idx="3">
                  <c:v>0.11</c:v>
                </c:pt>
                <c:pt idx="4">
                  <c:v>0.031</c:v>
                </c:pt>
              </c:numCache>
            </c:numRef>
          </c:val>
        </c:ser>
        <c:dLbls>
          <c:numFmt formatCode="0.00" sourceLinked="0"/>
          <c:txPr>
            <a:bodyPr/>
            <a:lstStyle/>
            <a:p>
              <a:pPr>
                <a:defRPr b="0" i="0" strike="noStrike" sz="1000" u="none">
                  <a:solidFill>
                    <a:srgbClr val="14181F"/>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4181F"/>
                </a:solidFill>
                <a:latin typeface="Calibri"/>
              </a:defRPr>
            </a:pPr>
            <a:endParaRPr lang="en-US"/>
          </a:p>
        </c:txPr>
        <c:crossAx val="2094734552"/>
        <c:crosses val="autoZero"/>
        <c:auto val="1"/>
        <c:lblAlgn val="ctr"/>
        <c:noMultiLvlLbl val="1"/>
      </c:catAx>
      <c:valAx>
        <c:axId val="2094734552"/>
        <c:scaling>
          <c:orientation val="minMax"/>
          <c:max val="7"/>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Calibri"/>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synthetic-data line once. Final Inspection finds the charge-port connector sitting proud on DEMO-EV-005. The connector was bought from a supplier; the bracket under it was made in-house. Today those records, the last fix and its verification live in different systems, and the team that found the defect usually gets the blame.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20 seconds. The middle card is the pain; the right card is the honesty that judges reward.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four numbers slowly. These are public industry figures from Warranty Week and WardsAuto, not ours. The point: warranty is 3 to 4 percent of revenue and the claims rate is rising, so the cost of a defect found late keeps going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is warranty claims paid in 2025 by US-based automakers, from Warranty Week's March 2026 report. Rivian and Lucid look tiny next to Ford and GM, but Rivian's claims grew 62 percent in a year: young EV programs have the least history to reuse. Right side: NHTSA's 2024 totals; electrical systems, which include charge ports and connectors, were the most-recalled component.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levers are exactly the three numbers we ask a pilot to measure. Do not promise a percentage. If pressed, use the footer arithmetic and say it is arithmetic on a public claims rate, not a result we have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Market size is an analyst estimate and different publishers disagree by a billion or two; say 'around twelve billion'. Do not claim a share. The wedge is the connected record between finding a defect and proving the fix; MES and QMS keep their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three-minute demo path in docs/pitch/DEMO_RUNBOOK_GRAPH.md. If the live app is down, narrate over the screenshots and say plainly that it is a recording of the same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Judges asking 'why a graph': the answers are traversals over lots, origins, installations, fixes and verifications, not joins on a fixed schema. Point at Origin: a part that is bought and a part that is made share one shape, so one query answers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runner labels a double run as a dry run and refuses to claim integration unless /api/health reports graph services. 22 before restart, 23 after because the persistence step is only counted when --persist-from is given. Insights numbers are the seeded state after cleanup; they grow during the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here. If asked about AI: it drafts and explains with citations that are verified against source spans, it never confirms a cause or closes an issue. If asked about Qoder: say what was and was not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81F"/>
        </a:solidFill>
      </p:bgPr>
    </p:bg>
    <p:spTree>
      <p:nvGrpSpPr>
        <p:cNvPr id="1" name=""/>
        <p:cNvGrpSpPr/>
        <p:nvPr/>
      </p:nvGrpSpPr>
      <p:grpSpPr>
        <a:xfrm>
          <a:off x="0" y="0"/>
          <a:ext cx="0" cy="0"/>
          <a:chOff x="0" y="0"/>
          <a:chExt cx="0" cy="0"/>
        </a:xfrm>
      </p:grpSpPr>
      <p:sp>
        <p:nvSpPr>
          <p:cNvPr id="2" name="Text 0"/>
          <p:cNvSpPr txBox="1"/>
          <p:nvPr/>
        </p:nvSpPr>
        <p:spPr>
          <a:xfrm>
            <a:off x="457200" y="502920"/>
            <a:ext cx="5486400" cy="457200"/>
          </a:xfrm>
          <a:prstGeom prst="rect">
            <a:avLst/>
          </a:prstGeom>
          <a:noFill/>
          <a:ln/>
        </p:spPr>
        <p:txBody>
          <a:bodyPr wrap="square" lIns="0" tIns="0" rIns="0" bIns="0" rtlCol="0" anchor="ctr"/>
          <a:lstStyle/>
          <a:p>
            <a:pPr indent="0" marL="0">
              <a:buNone/>
            </a:pPr>
            <a:r>
              <a:rPr lang="en-US" sz="1400" b="1" spc="400" kern="0" dirty="0">
                <a:solidFill>
                  <a:srgbClr val="D9752B"/>
                </a:solidFill>
                <a:latin typeface="Calibri" pitchFamily="34" charset="0"/>
                <a:ea typeface="Calibri" pitchFamily="34" charset="-122"/>
                <a:cs typeface="Calibri" pitchFamily="34" charset="-120"/>
              </a:rPr>
              <a:t>RecallRadius</a:t>
            </a:r>
            <a:endParaRPr lang="en-US" sz="1400" dirty="0"/>
          </a:p>
        </p:txBody>
      </p:sp>
      <p:sp>
        <p:nvSpPr>
          <p:cNvPr id="3" name="Text 1"/>
          <p:cNvSpPr txBox="1"/>
          <p:nvPr/>
        </p:nvSpPr>
        <p:spPr>
          <a:xfrm>
            <a:off x="457200" y="960120"/>
            <a:ext cx="5577840" cy="182880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One EV fails final inspection. Where did the part come from, and has anyone fixed this before?</a:t>
            </a:r>
            <a:endParaRPr lang="en-US" sz="3000" dirty="0"/>
          </a:p>
        </p:txBody>
      </p:sp>
      <p:sp>
        <p:nvSpPr>
          <p:cNvPr id="4" name="Text 2"/>
          <p:cNvSpPr txBox="1"/>
          <p:nvPr/>
        </p:nvSpPr>
        <p:spPr>
          <a:xfrm>
            <a:off x="457200" y="2926080"/>
            <a:ext cx="5486400" cy="822960"/>
          </a:xfrm>
          <a:prstGeom prst="rect">
            <a:avLst/>
          </a:prstGeom>
          <a:noFill/>
          <a:ln/>
        </p:spPr>
        <p:txBody>
          <a:bodyPr wrap="square" lIns="0" tIns="0" rIns="0" bIns="0" rtlCol="0" anchor="t"/>
          <a:lstStyle/>
          <a:p>
            <a:pPr indent="0" marL="0">
              <a:buNone/>
            </a:pPr>
            <a:r>
              <a:rPr lang="en-US" sz="1400" dirty="0">
                <a:solidFill>
                  <a:srgbClr val="D1D5DB"/>
                </a:solidFill>
                <a:latin typeface="Calibri" pitchFamily="34" charset="0"/>
                <a:ea typeface="Calibri" pitchFamily="34" charset="-122"/>
                <a:cs typeface="Calibri" pitchFamily="34" charset="-120"/>
              </a:rPr>
              <a:t>An issue-to-verified-fix workspace for EV vehicle assemblers, where every issue, part, lot, team, cause, fix and verification is one connected record in Neo4j.</a:t>
            </a:r>
            <a:endParaRPr lang="en-US" sz="1400" dirty="0"/>
          </a:p>
        </p:txBody>
      </p:sp>
      <p:sp>
        <p:nvSpPr>
          <p:cNvPr id="5" name="Text 3"/>
          <p:cNvSpPr txBox="1"/>
          <p:nvPr/>
        </p:nvSpPr>
        <p:spPr>
          <a:xfrm>
            <a:off x="457200" y="3931920"/>
            <a:ext cx="5669280" cy="548640"/>
          </a:xfrm>
          <a:prstGeom prst="rect">
            <a:avLst/>
          </a:prstGeom>
          <a:noFill/>
          <a:ln/>
        </p:spPr>
        <p:txBody>
          <a:bodyPr wrap="square" lIns="0" tIns="0" rIns="0" bIns="0" rtlCol="0" anchor="t"/>
          <a:lstStyle/>
          <a:p>
            <a:pPr indent="0" marL="0">
              <a:buNone/>
            </a:pPr>
            <a:r>
              <a:rPr lang="en-US" sz="1050" dirty="0">
                <a:solidFill>
                  <a:srgbClr val="9CA3AF"/>
                </a:solidFill>
                <a:latin typeface="Calibri" pitchFamily="34" charset="0"/>
                <a:ea typeface="Calibri" pitchFamily="34" charset="-122"/>
                <a:cs typeface="Calibri" pitchFamily="34" charset="-120"/>
              </a:rPr>
              <a:t>B.E.L.L.E hackathon, San Francisco, 12 September 2026  ·  Team: Zubair (backend, contract, Neo4j, integration), Ali (frontend, pitch), Codey (data, trace fixtures)</a:t>
            </a:r>
            <a:endParaRPr lang="en-US" sz="1050" dirty="0"/>
          </a:p>
        </p:txBody>
      </p:sp>
      <p:sp>
        <p:nvSpPr>
          <p:cNvPr id="6" name="Shape 4"/>
          <p:cNvSpPr/>
          <p:nvPr/>
        </p:nvSpPr>
        <p:spPr>
          <a:xfrm>
            <a:off x="6400800" y="914400"/>
            <a:ext cx="2286000" cy="3566160"/>
          </a:xfrm>
          <a:prstGeom prst="roundRect">
            <a:avLst>
              <a:gd name="adj" fmla="val 3200"/>
            </a:avLst>
          </a:prstGeom>
          <a:solidFill>
            <a:srgbClr val="1E242E"/>
          </a:solidFill>
          <a:ln w="9525">
            <a:solidFill>
              <a:srgbClr val="2C3440"/>
            </a:solidFill>
            <a:prstDash val="solid"/>
          </a:ln>
        </p:spPr>
      </p:sp>
      <p:sp>
        <p:nvSpPr>
          <p:cNvPr id="7" name="Text 5"/>
          <p:cNvSpPr txBox="1"/>
          <p:nvPr/>
        </p:nvSpPr>
        <p:spPr>
          <a:xfrm>
            <a:off x="6400800" y="1051560"/>
            <a:ext cx="228600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DEMO-EV-005</a:t>
            </a:r>
            <a:endParaRPr lang="en-US" sz="1100" dirty="0"/>
          </a:p>
        </p:txBody>
      </p:sp>
      <p:sp>
        <p:nvSpPr>
          <p:cNvPr id="8" name="Text 6"/>
          <p:cNvSpPr txBox="1"/>
          <p:nvPr/>
        </p:nvSpPr>
        <p:spPr>
          <a:xfrm>
            <a:off x="6400800" y="1298448"/>
            <a:ext cx="2286000" cy="228600"/>
          </a:xfrm>
          <a:prstGeom prst="rect">
            <a:avLst/>
          </a:prstGeom>
          <a:noFill/>
          <a:ln/>
        </p:spPr>
        <p:txBody>
          <a:bodyPr wrap="square" lIns="0" tIns="0" rIns="0" bIns="0" rtlCol="0" anchor="ctr"/>
          <a:lstStyle/>
          <a:p>
            <a:pPr algn="ctr" indent="0" marL="0">
              <a:buNone/>
            </a:pPr>
            <a:r>
              <a:rPr lang="en-US" sz="900" dirty="0">
                <a:solidFill>
                  <a:srgbClr val="9CA3AF"/>
                </a:solidFill>
                <a:latin typeface="Calibri" pitchFamily="34" charset="0"/>
                <a:ea typeface="Calibri" pitchFamily="34" charset="-122"/>
                <a:cs typeface="Calibri" pitchFamily="34" charset="-120"/>
              </a:rPr>
              <a:t>sedan build, VIN not assigned</a:t>
            </a:r>
            <a:endParaRPr lang="en-US" sz="900" dirty="0"/>
          </a:p>
        </p:txBody>
      </p:sp>
      <p:sp>
        <p:nvSpPr>
          <p:cNvPr id="9" name="Shape 7"/>
          <p:cNvSpPr/>
          <p:nvPr/>
        </p:nvSpPr>
        <p:spPr>
          <a:xfrm>
            <a:off x="7543800" y="1572768"/>
            <a:ext cx="0" cy="210312"/>
          </a:xfrm>
          <a:prstGeom prst="line">
            <a:avLst/>
          </a:prstGeom>
          <a:noFill/>
          <a:ln w="15875">
            <a:solidFill>
              <a:srgbClr val="6B7280"/>
            </a:solidFill>
            <a:prstDash val="solid"/>
          </a:ln>
        </p:spPr>
      </p:sp>
      <p:sp>
        <p:nvSpPr>
          <p:cNvPr id="10" name="Shape 8"/>
          <p:cNvSpPr/>
          <p:nvPr/>
        </p:nvSpPr>
        <p:spPr>
          <a:xfrm flipH="1">
            <a:off x="6949440" y="2423160"/>
            <a:ext cx="594360" cy="457200"/>
          </a:xfrm>
          <a:prstGeom prst="line">
            <a:avLst/>
          </a:prstGeom>
          <a:noFill/>
          <a:ln w="15875">
            <a:solidFill>
              <a:srgbClr val="6B7280"/>
            </a:solidFill>
            <a:prstDash val="solid"/>
          </a:ln>
        </p:spPr>
      </p:sp>
      <p:sp>
        <p:nvSpPr>
          <p:cNvPr id="11" name="Shape 9"/>
          <p:cNvSpPr/>
          <p:nvPr/>
        </p:nvSpPr>
        <p:spPr>
          <a:xfrm>
            <a:off x="7543800" y="2423160"/>
            <a:ext cx="594360" cy="457200"/>
          </a:xfrm>
          <a:prstGeom prst="line">
            <a:avLst/>
          </a:prstGeom>
          <a:noFill/>
          <a:ln w="15875">
            <a:solidFill>
              <a:srgbClr val="6B7280"/>
            </a:solidFill>
            <a:prstDash val="solid"/>
          </a:ln>
        </p:spPr>
      </p:sp>
      <p:sp>
        <p:nvSpPr>
          <p:cNvPr id="12" name="Shape 10"/>
          <p:cNvSpPr/>
          <p:nvPr/>
        </p:nvSpPr>
        <p:spPr>
          <a:xfrm>
            <a:off x="7086600" y="1783080"/>
            <a:ext cx="914400" cy="640080"/>
          </a:xfrm>
          <a:prstGeom prst="roundRect">
            <a:avLst>
              <a:gd name="adj" fmla="val 14286"/>
            </a:avLst>
          </a:prstGeom>
          <a:solidFill>
            <a:srgbClr val="2C3440"/>
          </a:solidFill>
          <a:ln w="12700">
            <a:solidFill>
              <a:srgbClr val="2C3440"/>
            </a:solidFill>
            <a:prstDash val="solid"/>
          </a:ln>
        </p:spPr>
      </p:sp>
      <p:sp>
        <p:nvSpPr>
          <p:cNvPr id="13" name="Text 11"/>
          <p:cNvSpPr txBox="1"/>
          <p:nvPr/>
        </p:nvSpPr>
        <p:spPr>
          <a:xfrm>
            <a:off x="7086600" y="1783080"/>
            <a:ext cx="914400" cy="640080"/>
          </a:xfrm>
          <a:prstGeom prst="rect">
            <a:avLst/>
          </a:prstGeom>
          <a:noFill/>
          <a:ln/>
        </p:spPr>
        <p:txBody>
          <a:bodyPr wrap="square" lIns="381" tIns="381" rIns="381" bIns="381"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CPM-0005</a:t>
            </a:r>
            <a:endParaRPr lang="en-US" sz="950" dirty="0"/>
          </a:p>
          <a:p>
            <a:pPr algn="ctr" indent="0" marL="0">
              <a:buNone/>
            </a:pPr>
            <a:r>
              <a:rPr lang="en-US" sz="700" dirty="0">
                <a:solidFill>
                  <a:srgbClr val="E5E7EB"/>
                </a:solidFill>
                <a:latin typeface="Calibri" pitchFamily="34" charset="0"/>
                <a:ea typeface="Calibri" pitchFamily="34" charset="-122"/>
                <a:cs typeface="Calibri" pitchFamily="34" charset="-120"/>
              </a:rPr>
              <a:t>charge-port module</a:t>
            </a:r>
            <a:endParaRPr lang="en-US" sz="950" dirty="0"/>
          </a:p>
        </p:txBody>
      </p:sp>
      <p:sp>
        <p:nvSpPr>
          <p:cNvPr id="14" name="Shape 12"/>
          <p:cNvSpPr/>
          <p:nvPr/>
        </p:nvSpPr>
        <p:spPr>
          <a:xfrm>
            <a:off x="6492240" y="2880360"/>
            <a:ext cx="914400" cy="640080"/>
          </a:xfrm>
          <a:prstGeom prst="roundRect">
            <a:avLst>
              <a:gd name="adj" fmla="val 14286"/>
            </a:avLst>
          </a:prstGeom>
          <a:solidFill>
            <a:srgbClr val="B85E1C"/>
          </a:solidFill>
          <a:ln w="12700">
            <a:solidFill>
              <a:srgbClr val="B85E1C"/>
            </a:solidFill>
            <a:prstDash val="solid"/>
          </a:ln>
        </p:spPr>
      </p:sp>
      <p:sp>
        <p:nvSpPr>
          <p:cNvPr id="15" name="Text 13"/>
          <p:cNvSpPr txBox="1"/>
          <p:nvPr/>
        </p:nvSpPr>
        <p:spPr>
          <a:xfrm>
            <a:off x="6492240" y="2880360"/>
            <a:ext cx="914400" cy="640080"/>
          </a:xfrm>
          <a:prstGeom prst="rect">
            <a:avLst/>
          </a:prstGeom>
          <a:noFill/>
          <a:ln/>
        </p:spPr>
        <p:txBody>
          <a:bodyPr wrap="square" lIns="381" tIns="381" rIns="381" bIns="381"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CONN-0005</a:t>
            </a:r>
            <a:endParaRPr lang="en-US" sz="950" dirty="0"/>
          </a:p>
          <a:p>
            <a:pPr algn="ctr" indent="0" marL="0">
              <a:buNone/>
            </a:pPr>
            <a:r>
              <a:rPr lang="en-US" sz="700" dirty="0">
                <a:solidFill>
                  <a:srgbClr val="E5E7EB"/>
                </a:solidFill>
                <a:latin typeface="Calibri" pitchFamily="34" charset="0"/>
                <a:ea typeface="Calibri" pitchFamily="34" charset="-122"/>
                <a:cs typeface="Calibri" pitchFamily="34" charset="-120"/>
              </a:rPr>
              <a:t>bought · DEMO-SUP-LOT-01</a:t>
            </a:r>
            <a:endParaRPr lang="en-US" sz="950" dirty="0"/>
          </a:p>
        </p:txBody>
      </p:sp>
      <p:sp>
        <p:nvSpPr>
          <p:cNvPr id="16" name="Shape 14"/>
          <p:cNvSpPr/>
          <p:nvPr/>
        </p:nvSpPr>
        <p:spPr>
          <a:xfrm>
            <a:off x="7680960" y="2880360"/>
            <a:ext cx="914400" cy="640080"/>
          </a:xfrm>
          <a:prstGeom prst="roundRect">
            <a:avLst>
              <a:gd name="adj" fmla="val 14286"/>
            </a:avLst>
          </a:prstGeom>
          <a:solidFill>
            <a:srgbClr val="3E8E6E"/>
          </a:solidFill>
          <a:ln w="12700">
            <a:solidFill>
              <a:srgbClr val="3E8E6E"/>
            </a:solidFill>
            <a:prstDash val="solid"/>
          </a:ln>
        </p:spPr>
      </p:sp>
      <p:sp>
        <p:nvSpPr>
          <p:cNvPr id="17" name="Text 15"/>
          <p:cNvSpPr txBox="1"/>
          <p:nvPr/>
        </p:nvSpPr>
        <p:spPr>
          <a:xfrm>
            <a:off x="7680960" y="2880360"/>
            <a:ext cx="914400" cy="640080"/>
          </a:xfrm>
          <a:prstGeom prst="rect">
            <a:avLst/>
          </a:prstGeom>
          <a:noFill/>
          <a:ln/>
        </p:spPr>
        <p:txBody>
          <a:bodyPr wrap="square" lIns="381" tIns="381" rIns="381" bIns="381"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BRKT-0005</a:t>
            </a:r>
            <a:endParaRPr lang="en-US" sz="950" dirty="0"/>
          </a:p>
          <a:p>
            <a:pPr algn="ctr" indent="0" marL="0">
              <a:buNone/>
            </a:pPr>
            <a:r>
              <a:rPr lang="en-US" sz="700" dirty="0">
                <a:solidFill>
                  <a:srgbClr val="E5E7EB"/>
                </a:solidFill>
                <a:latin typeface="Calibri" pitchFamily="34" charset="0"/>
                <a:ea typeface="Calibri" pitchFamily="34" charset="-122"/>
                <a:cs typeface="Calibri" pitchFamily="34" charset="-120"/>
              </a:rPr>
              <a:t>made · DEMO-MFG-LOT-01</a:t>
            </a:r>
            <a:endParaRPr lang="en-US" sz="950" dirty="0"/>
          </a:p>
        </p:txBody>
      </p:sp>
      <p:sp>
        <p:nvSpPr>
          <p:cNvPr id="18" name="Text 16"/>
          <p:cNvSpPr txBox="1"/>
          <p:nvPr/>
        </p:nvSpPr>
        <p:spPr>
          <a:xfrm>
            <a:off x="6400800" y="3703320"/>
            <a:ext cx="2286000" cy="548640"/>
          </a:xfrm>
          <a:prstGeom prst="rect">
            <a:avLst/>
          </a:prstGeom>
          <a:noFill/>
          <a:ln/>
        </p:spPr>
        <p:txBody>
          <a:bodyPr wrap="square" lIns="635" tIns="635" rIns="635" bIns="635" rtlCol="0" anchor="t"/>
          <a:lstStyle/>
          <a:p>
            <a:pPr algn="ctr" indent="0" marL="0">
              <a:buNone/>
            </a:pPr>
            <a:r>
              <a:rPr lang="en-US" sz="850" i="1" dirty="0">
                <a:solidFill>
                  <a:srgbClr val="9CA3AF"/>
                </a:solidFill>
                <a:latin typeface="Calibri" pitchFamily="34" charset="0"/>
                <a:ea typeface="Calibri" pitchFamily="34" charset="-122"/>
                <a:cs typeface="Calibri" pitchFamily="34" charset="-120"/>
              </a:rPr>
              <a:t>purchased connector and in-house bracket, one module, one build</a:t>
            </a:r>
            <a:endParaRPr lang="en-US" sz="850" dirty="0"/>
          </a:p>
        </p:txBody>
      </p:sp>
      <p:sp>
        <p:nvSpPr>
          <p:cNvPr id="19" name="Text 17"/>
          <p:cNvSpPr txBox="1"/>
          <p:nvPr/>
        </p:nvSpPr>
        <p:spPr>
          <a:xfrm>
            <a:off x="457200" y="4754880"/>
            <a:ext cx="82296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All factory records are synthetic. The plant, suppliers, vehicles and teams are fictional.</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822960"/>
          </a:xfrm>
          <a:prstGeom prst="rect">
            <a:avLst/>
          </a:prstGeom>
          <a:noFill/>
          <a:ln/>
        </p:spPr>
        <p:txBody>
          <a:bodyPr wrap="square" lIns="0" tIns="0" rIns="0" bIns="0" rtlCol="0" anchor="t">
            <a:normAutofit/>
          </a:bodyPr>
          <a:lstStyle/>
          <a:p>
            <a:pPr indent="0" marL="0">
              <a:buNone/>
            </a:pPr>
            <a:r>
              <a:rPr lang="en-US" sz="2800" b="1" dirty="0">
                <a:solidFill>
                  <a:srgbClr val="14181F"/>
                </a:solidFill>
                <a:latin typeface="Cambria" pitchFamily="34" charset="0"/>
                <a:ea typeface="Cambria" pitchFamily="34" charset="-122"/>
                <a:cs typeface="Cambria" pitchFamily="34" charset="-120"/>
              </a:rPr>
              <a:t>Four teams, four record systems, and the finder gets blamed</a:t>
            </a:r>
            <a:endParaRPr lang="en-US" sz="2800" dirty="0"/>
          </a:p>
        </p:txBody>
      </p:sp>
      <p:sp>
        <p:nvSpPr>
          <p:cNvPr id="3" name="Shape 1"/>
          <p:cNvSpPr/>
          <p:nvPr/>
        </p:nvSpPr>
        <p:spPr>
          <a:xfrm>
            <a:off x="457200" y="1371600"/>
            <a:ext cx="2651760" cy="2834640"/>
          </a:xfrm>
          <a:prstGeom prst="roundRect">
            <a:avLst>
              <a:gd name="adj" fmla="val 2759"/>
            </a:avLst>
          </a:prstGeom>
          <a:solidFill>
            <a:srgbClr val="F3F4F6"/>
          </a:solidFill>
          <a:ln w="9525">
            <a:solidFill>
              <a:srgbClr val="F3F4F6"/>
            </a:solidFill>
            <a:prstDash val="solid"/>
          </a:ln>
        </p:spPr>
      </p:sp>
      <p:sp>
        <p:nvSpPr>
          <p:cNvPr id="4" name="Shape 2"/>
          <p:cNvSpPr/>
          <p:nvPr/>
        </p:nvSpPr>
        <p:spPr>
          <a:xfrm>
            <a:off x="640080" y="1554480"/>
            <a:ext cx="310896" cy="310896"/>
          </a:xfrm>
          <a:prstGeom prst="ellipse">
            <a:avLst/>
          </a:prstGeom>
          <a:solidFill>
            <a:srgbClr val="D9752B"/>
          </a:solidFill>
          <a:ln w="12700">
            <a:solidFill>
              <a:srgbClr val="D9752B"/>
            </a:solidFill>
            <a:prstDash val="solid"/>
          </a:ln>
        </p:spPr>
      </p:sp>
      <p:sp>
        <p:nvSpPr>
          <p:cNvPr id="5" name="Text 3"/>
          <p:cNvSpPr txBox="1"/>
          <p:nvPr/>
        </p:nvSpPr>
        <p:spPr>
          <a:xfrm>
            <a:off x="640080" y="155448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1051560" y="1536192"/>
            <a:ext cx="1920240" cy="347472"/>
          </a:xfrm>
          <a:prstGeom prst="rect">
            <a:avLst/>
          </a:prstGeom>
          <a:noFill/>
          <a:ln/>
        </p:spPr>
        <p:txBody>
          <a:bodyPr wrap="square" lIns="0" tIns="0" rIns="0" bIns="0" rtlCol="0" anchor="ctr"/>
          <a:lstStyle/>
          <a:p>
            <a:pPr indent="0" marL="0">
              <a:buNone/>
            </a:pPr>
            <a:r>
              <a:rPr lang="en-US" sz="1500" b="1" dirty="0">
                <a:solidFill>
                  <a:srgbClr val="14181F"/>
                </a:solidFill>
                <a:latin typeface="Cambria" pitchFamily="34" charset="0"/>
                <a:ea typeface="Cambria" pitchFamily="34" charset="-122"/>
                <a:cs typeface="Cambria" pitchFamily="34" charset="-120"/>
              </a:rPr>
              <a:t>Who buys</a:t>
            </a:r>
            <a:endParaRPr lang="en-US" sz="1500" dirty="0"/>
          </a:p>
        </p:txBody>
      </p:sp>
      <p:sp>
        <p:nvSpPr>
          <p:cNvPr id="7" name="Text 5"/>
          <p:cNvSpPr txBox="1"/>
          <p:nvPr/>
        </p:nvSpPr>
        <p:spPr>
          <a:xfrm>
            <a:off x="640080" y="2011680"/>
            <a:ext cx="2286000" cy="2423160"/>
          </a:xfrm>
          <a:prstGeom prst="rect">
            <a:avLst/>
          </a:prstGeom>
          <a:noFill/>
          <a:ln/>
        </p:spPr>
        <p:txBody>
          <a:bodyPr wrap="square" lIns="0" tIns="0" rIns="0" bIns="0" rtlCol="0" anchor="t"/>
          <a:lstStyle/>
          <a:p>
            <a:pPr indent="0" marL="0">
              <a:buNone/>
            </a:pPr>
            <a:r>
              <a:rPr lang="en-US" sz="1150" dirty="0">
                <a:solidFill>
                  <a:srgbClr val="374151"/>
                </a:solidFill>
                <a:latin typeface="Calibri" pitchFamily="34" charset="0"/>
                <a:ea typeface="Calibri" pitchFamily="34" charset="-122"/>
                <a:cs typeface="Calibri" pitchFamily="34" charset="-120"/>
              </a:rPr>
              <a:t>Head of quality or manufacturing operations at an EV assembler that buys some components and makes others in-house. Users: final inspection, assembly, in-house manufacturing, supplier quality, quality engineering.</a:t>
            </a:r>
            <a:endParaRPr lang="en-US" sz="1150" dirty="0"/>
          </a:p>
        </p:txBody>
      </p:sp>
      <p:sp>
        <p:nvSpPr>
          <p:cNvPr id="8" name="Shape 6"/>
          <p:cNvSpPr/>
          <p:nvPr/>
        </p:nvSpPr>
        <p:spPr>
          <a:xfrm>
            <a:off x="3246120" y="1371600"/>
            <a:ext cx="2651760" cy="2834640"/>
          </a:xfrm>
          <a:prstGeom prst="roundRect">
            <a:avLst>
              <a:gd name="adj" fmla="val 2759"/>
            </a:avLst>
          </a:prstGeom>
          <a:solidFill>
            <a:srgbClr val="14181F"/>
          </a:solidFill>
          <a:ln w="9525">
            <a:solidFill>
              <a:srgbClr val="14181F"/>
            </a:solidFill>
            <a:prstDash val="solid"/>
          </a:ln>
        </p:spPr>
      </p:sp>
      <p:sp>
        <p:nvSpPr>
          <p:cNvPr id="9" name="Shape 7"/>
          <p:cNvSpPr/>
          <p:nvPr/>
        </p:nvSpPr>
        <p:spPr>
          <a:xfrm>
            <a:off x="3429000" y="1554480"/>
            <a:ext cx="310896" cy="310896"/>
          </a:xfrm>
          <a:prstGeom prst="ellipse">
            <a:avLst/>
          </a:prstGeom>
          <a:solidFill>
            <a:srgbClr val="D9752B"/>
          </a:solidFill>
          <a:ln w="12700">
            <a:solidFill>
              <a:srgbClr val="D9752B"/>
            </a:solidFill>
            <a:prstDash val="solid"/>
          </a:ln>
        </p:spPr>
      </p:sp>
      <p:sp>
        <p:nvSpPr>
          <p:cNvPr id="10" name="Text 8"/>
          <p:cNvSpPr txBox="1"/>
          <p:nvPr/>
        </p:nvSpPr>
        <p:spPr>
          <a:xfrm>
            <a:off x="3429000" y="155448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3840480" y="1536192"/>
            <a:ext cx="1920240" cy="347472"/>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What breaks today</a:t>
            </a:r>
            <a:endParaRPr lang="en-US" sz="1500" dirty="0"/>
          </a:p>
        </p:txBody>
      </p:sp>
      <p:sp>
        <p:nvSpPr>
          <p:cNvPr id="12" name="Text 10"/>
          <p:cNvSpPr txBox="1"/>
          <p:nvPr/>
        </p:nvSpPr>
        <p:spPr>
          <a:xfrm>
            <a:off x="3429000" y="2011680"/>
            <a:ext cx="2286000" cy="2423160"/>
          </a:xfrm>
          <a:prstGeom prst="rect">
            <a:avLst/>
          </a:prstGeom>
          <a:noFill/>
          <a:ln/>
        </p:spPr>
        <p:txBody>
          <a:bodyPr wrap="square" lIns="0" tIns="0" rIns="0" bIns="0" rtlCol="0" anchor="t"/>
          <a:lstStyle/>
          <a:p>
            <a:pPr indent="0" marL="0">
              <a:buNone/>
            </a:pPr>
            <a:r>
              <a:rPr lang="en-US" sz="1150" dirty="0">
                <a:solidFill>
                  <a:srgbClr val="E5E7EB"/>
                </a:solidFill>
                <a:latin typeface="Calibri" pitchFamily="34" charset="0"/>
                <a:ea typeface="Calibri" pitchFamily="34" charset="-122"/>
                <a:cs typeface="Calibri" pitchFamily="34" charset="-120"/>
              </a:rPr>
              <a:t>An issue on the line touches a purchased connector and an in-house bracket. The receipt, the manufacturing lot, the earlier fix and its verification live in different records. Who reported, who is assigned and who caused it collapse into one blame column.</a:t>
            </a:r>
            <a:endParaRPr lang="en-US" sz="1150" dirty="0"/>
          </a:p>
        </p:txBody>
      </p:sp>
      <p:sp>
        <p:nvSpPr>
          <p:cNvPr id="13" name="Shape 11"/>
          <p:cNvSpPr/>
          <p:nvPr/>
        </p:nvSpPr>
        <p:spPr>
          <a:xfrm>
            <a:off x="6035040" y="1371600"/>
            <a:ext cx="2651760" cy="2834640"/>
          </a:xfrm>
          <a:prstGeom prst="roundRect">
            <a:avLst>
              <a:gd name="adj" fmla="val 2759"/>
            </a:avLst>
          </a:prstGeom>
          <a:solidFill>
            <a:srgbClr val="F3F4F6"/>
          </a:solidFill>
          <a:ln w="9525">
            <a:solidFill>
              <a:srgbClr val="F3F4F6"/>
            </a:solidFill>
            <a:prstDash val="solid"/>
          </a:ln>
        </p:spPr>
      </p:sp>
      <p:sp>
        <p:nvSpPr>
          <p:cNvPr id="14" name="Shape 12"/>
          <p:cNvSpPr/>
          <p:nvPr/>
        </p:nvSpPr>
        <p:spPr>
          <a:xfrm>
            <a:off x="6217920" y="1554480"/>
            <a:ext cx="310896" cy="310896"/>
          </a:xfrm>
          <a:prstGeom prst="ellipse">
            <a:avLst/>
          </a:prstGeom>
          <a:solidFill>
            <a:srgbClr val="D9752B"/>
          </a:solidFill>
          <a:ln w="12700">
            <a:solidFill>
              <a:srgbClr val="D9752B"/>
            </a:solidFill>
            <a:prstDash val="solid"/>
          </a:ln>
        </p:spPr>
      </p:sp>
      <p:sp>
        <p:nvSpPr>
          <p:cNvPr id="15" name="Text 13"/>
          <p:cNvSpPr txBox="1"/>
          <p:nvPr/>
        </p:nvSpPr>
        <p:spPr>
          <a:xfrm>
            <a:off x="6217920" y="155448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txBox="1"/>
          <p:nvPr/>
        </p:nvSpPr>
        <p:spPr>
          <a:xfrm>
            <a:off x="6629400" y="1536192"/>
            <a:ext cx="1920240" cy="347472"/>
          </a:xfrm>
          <a:prstGeom prst="rect">
            <a:avLst/>
          </a:prstGeom>
          <a:noFill/>
          <a:ln/>
        </p:spPr>
        <p:txBody>
          <a:bodyPr wrap="square" lIns="0" tIns="0" rIns="0" bIns="0" rtlCol="0" anchor="ctr"/>
          <a:lstStyle/>
          <a:p>
            <a:pPr indent="0" marL="0">
              <a:buNone/>
            </a:pPr>
            <a:r>
              <a:rPr lang="en-US" sz="1500" b="1" dirty="0">
                <a:solidFill>
                  <a:srgbClr val="14181F"/>
                </a:solidFill>
                <a:latin typeface="Cambria" pitchFamily="34" charset="0"/>
                <a:ea typeface="Cambria" pitchFamily="34" charset="-122"/>
                <a:cs typeface="Cambria" pitchFamily="34" charset="-120"/>
              </a:rPr>
              <a:t>What we are not claiming</a:t>
            </a:r>
            <a:endParaRPr lang="en-US" sz="1500" dirty="0"/>
          </a:p>
        </p:txBody>
      </p:sp>
      <p:sp>
        <p:nvSpPr>
          <p:cNvPr id="17" name="Text 15"/>
          <p:cNvSpPr txBox="1"/>
          <p:nvPr/>
        </p:nvSpPr>
        <p:spPr>
          <a:xfrm>
            <a:off x="6217920" y="2011680"/>
            <a:ext cx="2286000" cy="2423160"/>
          </a:xfrm>
          <a:prstGeom prst="rect">
            <a:avLst/>
          </a:prstGeom>
          <a:noFill/>
          <a:ln/>
        </p:spPr>
        <p:txBody>
          <a:bodyPr wrap="square" lIns="0" tIns="0" rIns="0" bIns="0" rtlCol="0" anchor="t"/>
          <a:lstStyle/>
          <a:p>
            <a:pPr indent="0" marL="0">
              <a:buNone/>
            </a:pPr>
            <a:r>
              <a:rPr lang="en-US" sz="1150" dirty="0">
                <a:solidFill>
                  <a:srgbClr val="374151"/>
                </a:solidFill>
                <a:latin typeface="Calibri" pitchFamily="34" charset="0"/>
                <a:ea typeface="Calibri" pitchFamily="34" charset="-122"/>
                <a:cs typeface="Calibri" pitchFamily="34" charset="-120"/>
              </a:rPr>
              <a:t>No measured savings, no customers, no market-size figure. Traceability exists inside MES suites; we test a narrower advantage: one connected record from issue to verified fix, with attribution kept honest.</a:t>
            </a:r>
            <a:endParaRPr lang="en-US" sz="1150" dirty="0"/>
          </a:p>
        </p:txBody>
      </p:sp>
      <p:sp>
        <p:nvSpPr>
          <p:cNvPr id="18" name="Text 16"/>
          <p:cNvSpPr txBox="1"/>
          <p:nvPr/>
        </p:nvSpPr>
        <p:spPr>
          <a:xfrm>
            <a:off x="457200" y="4754880"/>
            <a:ext cx="82296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Buyer and users are a hypothesis to test in a pilot, not a validated segment.</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822960"/>
          </a:xfrm>
          <a:prstGeom prst="rect">
            <a:avLst/>
          </a:prstGeom>
          <a:noFill/>
          <a:ln/>
        </p:spPr>
        <p:txBody>
          <a:bodyPr wrap="square" lIns="0" tIns="0" rIns="0" bIns="0" rtlCol="0" anchor="t">
            <a:normAutofit/>
          </a:bodyPr>
          <a:lstStyle/>
          <a:p>
            <a:pPr indent="0" marL="0">
              <a:buNone/>
            </a:pPr>
            <a:r>
              <a:rPr lang="en-US" sz="2800" b="1" dirty="0">
                <a:solidFill>
                  <a:srgbClr val="14181F"/>
                </a:solidFill>
                <a:latin typeface="Cambria" pitchFamily="34" charset="0"/>
                <a:ea typeface="Cambria" pitchFamily="34" charset="-122"/>
                <a:cs typeface="Cambria" pitchFamily="34" charset="-120"/>
              </a:rPr>
              <a:t>The problem is measured in tens of billions a year</a:t>
            </a:r>
            <a:endParaRPr lang="en-US" sz="2800" dirty="0"/>
          </a:p>
        </p:txBody>
      </p:sp>
      <p:sp>
        <p:nvSpPr>
          <p:cNvPr id="3" name="Shape 1"/>
          <p:cNvSpPr/>
          <p:nvPr/>
        </p:nvSpPr>
        <p:spPr>
          <a:xfrm>
            <a:off x="457200" y="1371600"/>
            <a:ext cx="1965960" cy="2148840"/>
          </a:xfrm>
          <a:prstGeom prst="roundRect">
            <a:avLst>
              <a:gd name="adj" fmla="val 3721"/>
            </a:avLst>
          </a:prstGeom>
          <a:solidFill>
            <a:srgbClr val="F3F4F6"/>
          </a:solidFill>
          <a:ln w="9525">
            <a:solidFill>
              <a:srgbClr val="F3F4F6"/>
            </a:solidFill>
            <a:prstDash val="solid"/>
          </a:ln>
        </p:spPr>
      </p:sp>
      <p:sp>
        <p:nvSpPr>
          <p:cNvPr id="4" name="Text 2"/>
          <p:cNvSpPr txBox="1"/>
          <p:nvPr/>
        </p:nvSpPr>
        <p:spPr>
          <a:xfrm>
            <a:off x="594360" y="1481328"/>
            <a:ext cx="1691640" cy="731520"/>
          </a:xfrm>
          <a:prstGeom prst="rect">
            <a:avLst/>
          </a:prstGeom>
          <a:noFill/>
          <a:ln/>
        </p:spPr>
        <p:txBody>
          <a:bodyPr wrap="square" lIns="0" tIns="0" rIns="0" bIns="0" rtlCol="0" anchor="ctr">
            <a:normAutofit/>
          </a:bodyPr>
          <a:lstStyle/>
          <a:p>
            <a:pPr indent="0" marL="0">
              <a:buNone/>
            </a:pPr>
            <a:r>
              <a:rPr lang="en-US" sz="3200" b="1" dirty="0">
                <a:solidFill>
                  <a:srgbClr val="14181F"/>
                </a:solidFill>
                <a:latin typeface="Cambria" pitchFamily="34" charset="0"/>
                <a:ea typeface="Cambria" pitchFamily="34" charset="-122"/>
                <a:cs typeface="Cambria" pitchFamily="34" charset="-120"/>
              </a:rPr>
              <a:t>$57.9B</a:t>
            </a:r>
            <a:endParaRPr lang="en-US" sz="3200" dirty="0"/>
          </a:p>
        </p:txBody>
      </p:sp>
      <p:sp>
        <p:nvSpPr>
          <p:cNvPr id="5" name="Text 3"/>
          <p:cNvSpPr txBox="1"/>
          <p:nvPr/>
        </p:nvSpPr>
        <p:spPr>
          <a:xfrm>
            <a:off x="594360" y="2240280"/>
            <a:ext cx="1691640" cy="777240"/>
          </a:xfrm>
          <a:prstGeom prst="rect">
            <a:avLst/>
          </a:prstGeom>
          <a:noFill/>
          <a:ln/>
        </p:spPr>
        <p:txBody>
          <a:bodyPr wrap="square" lIns="0" tIns="0" rIns="0" bIns="0" rtlCol="0" anchor="t"/>
          <a:lstStyle/>
          <a:p>
            <a:pPr indent="0" marL="0">
              <a:buNone/>
            </a:pPr>
            <a:r>
              <a:rPr lang="en-US" sz="1100" b="1" dirty="0">
                <a:solidFill>
                  <a:srgbClr val="14181F"/>
                </a:solidFill>
                <a:latin typeface="Calibri" pitchFamily="34" charset="0"/>
                <a:ea typeface="Calibri" pitchFamily="34" charset="-122"/>
                <a:cs typeface="Calibri" pitchFamily="34" charset="-120"/>
              </a:rPr>
              <a:t>warranty claims paid by 40 global passenger-car OEMs in 2024</a:t>
            </a:r>
            <a:endParaRPr lang="en-US" sz="1100" dirty="0"/>
          </a:p>
        </p:txBody>
      </p:sp>
      <p:sp>
        <p:nvSpPr>
          <p:cNvPr id="6" name="Text 4"/>
          <p:cNvSpPr txBox="1"/>
          <p:nvPr/>
        </p:nvSpPr>
        <p:spPr>
          <a:xfrm>
            <a:off x="594360" y="3017520"/>
            <a:ext cx="1691640" cy="457200"/>
          </a:xfrm>
          <a:prstGeom prst="rect">
            <a:avLst/>
          </a:prstGeom>
          <a:noFill/>
          <a:ln/>
        </p:spPr>
        <p:txBody>
          <a:bodyPr wrap="square" lIns="0" tIns="0" rIns="0" bIns="0" rtlCol="0" anchor="t"/>
          <a:lstStyle/>
          <a:p>
            <a:pPr indent="0" marL="0">
              <a:buNone/>
            </a:pPr>
            <a:r>
              <a:rPr lang="en-US" sz="900" dirty="0">
                <a:solidFill>
                  <a:srgbClr val="6B7280"/>
                </a:solidFill>
                <a:latin typeface="Calibri" pitchFamily="34" charset="0"/>
                <a:ea typeface="Calibri" pitchFamily="34" charset="-122"/>
                <a:cs typeface="Calibri" pitchFamily="34" charset="-120"/>
              </a:rPr>
              <a:t>about 95% of worldwide passenger-vehicle warranty expense</a:t>
            </a:r>
            <a:endParaRPr lang="en-US" sz="900" dirty="0"/>
          </a:p>
        </p:txBody>
      </p:sp>
      <p:sp>
        <p:nvSpPr>
          <p:cNvPr id="7" name="Shape 5"/>
          <p:cNvSpPr/>
          <p:nvPr/>
        </p:nvSpPr>
        <p:spPr>
          <a:xfrm>
            <a:off x="2542032" y="1371600"/>
            <a:ext cx="1965960" cy="2148840"/>
          </a:xfrm>
          <a:prstGeom prst="roundRect">
            <a:avLst>
              <a:gd name="adj" fmla="val 3721"/>
            </a:avLst>
          </a:prstGeom>
          <a:solidFill>
            <a:srgbClr val="F3F4F6"/>
          </a:solidFill>
          <a:ln w="9525">
            <a:solidFill>
              <a:srgbClr val="F3F4F6"/>
            </a:solidFill>
            <a:prstDash val="solid"/>
          </a:ln>
        </p:spPr>
      </p:sp>
      <p:sp>
        <p:nvSpPr>
          <p:cNvPr id="8" name="Text 6"/>
          <p:cNvSpPr txBox="1"/>
          <p:nvPr/>
        </p:nvSpPr>
        <p:spPr>
          <a:xfrm>
            <a:off x="2679192" y="1481328"/>
            <a:ext cx="1691640" cy="731520"/>
          </a:xfrm>
          <a:prstGeom prst="rect">
            <a:avLst/>
          </a:prstGeom>
          <a:noFill/>
          <a:ln/>
        </p:spPr>
        <p:txBody>
          <a:bodyPr wrap="square" lIns="0" tIns="0" rIns="0" bIns="0" rtlCol="0" anchor="ctr">
            <a:normAutofit/>
          </a:bodyPr>
          <a:lstStyle/>
          <a:p>
            <a:pPr indent="0" marL="0">
              <a:buNone/>
            </a:pPr>
            <a:r>
              <a:rPr lang="en-US" sz="3200" b="1" dirty="0">
                <a:solidFill>
                  <a:srgbClr val="14181F"/>
                </a:solidFill>
                <a:latin typeface="Cambria" pitchFamily="34" charset="0"/>
                <a:ea typeface="Cambria" pitchFamily="34" charset="-122"/>
                <a:cs typeface="Cambria" pitchFamily="34" charset="-120"/>
              </a:rPr>
              <a:t>$72.5B</a:t>
            </a:r>
            <a:endParaRPr lang="en-US" sz="3200" dirty="0"/>
          </a:p>
        </p:txBody>
      </p:sp>
      <p:sp>
        <p:nvSpPr>
          <p:cNvPr id="9" name="Text 7"/>
          <p:cNvSpPr txBox="1"/>
          <p:nvPr/>
        </p:nvSpPr>
        <p:spPr>
          <a:xfrm>
            <a:off x="2679192" y="2240280"/>
            <a:ext cx="1691640" cy="777240"/>
          </a:xfrm>
          <a:prstGeom prst="rect">
            <a:avLst/>
          </a:prstGeom>
          <a:noFill/>
          <a:ln/>
        </p:spPr>
        <p:txBody>
          <a:bodyPr wrap="square" lIns="0" tIns="0" rIns="0" bIns="0" rtlCol="0" anchor="t"/>
          <a:lstStyle/>
          <a:p>
            <a:pPr indent="0" marL="0">
              <a:buNone/>
            </a:pPr>
            <a:r>
              <a:rPr lang="en-US" sz="1100" b="1" dirty="0">
                <a:solidFill>
                  <a:srgbClr val="14181F"/>
                </a:solidFill>
                <a:latin typeface="Calibri" pitchFamily="34" charset="0"/>
                <a:ea typeface="Calibri" pitchFamily="34" charset="-122"/>
                <a:cs typeface="Calibri" pitchFamily="34" charset="-120"/>
              </a:rPr>
              <a:t>set aside in warranty accruals in 2024, up 11% on 2023</a:t>
            </a:r>
            <a:endParaRPr lang="en-US" sz="1100" dirty="0"/>
          </a:p>
        </p:txBody>
      </p:sp>
      <p:sp>
        <p:nvSpPr>
          <p:cNvPr id="10" name="Text 8"/>
          <p:cNvSpPr txBox="1"/>
          <p:nvPr/>
        </p:nvSpPr>
        <p:spPr>
          <a:xfrm>
            <a:off x="2679192" y="3017520"/>
            <a:ext cx="1691640" cy="457200"/>
          </a:xfrm>
          <a:prstGeom prst="rect">
            <a:avLst/>
          </a:prstGeom>
          <a:noFill/>
          <a:ln/>
        </p:spPr>
        <p:txBody>
          <a:bodyPr wrap="square" lIns="0" tIns="0" rIns="0" bIns="0" rtlCol="0" anchor="t"/>
          <a:lstStyle/>
          <a:p>
            <a:pPr indent="0" marL="0">
              <a:buNone/>
            </a:pPr>
            <a:r>
              <a:rPr lang="en-US" sz="900" dirty="0">
                <a:solidFill>
                  <a:srgbClr val="6B7280"/>
                </a:solidFill>
                <a:latin typeface="Calibri" pitchFamily="34" charset="0"/>
                <a:ea typeface="Calibri" pitchFamily="34" charset="-122"/>
                <a:cs typeface="Calibri" pitchFamily="34" charset="-120"/>
              </a:rPr>
              <a:t>OEMs are reserving more, not less</a:t>
            </a:r>
            <a:endParaRPr lang="en-US" sz="900" dirty="0"/>
          </a:p>
        </p:txBody>
      </p:sp>
      <p:sp>
        <p:nvSpPr>
          <p:cNvPr id="11" name="Shape 9"/>
          <p:cNvSpPr/>
          <p:nvPr/>
        </p:nvSpPr>
        <p:spPr>
          <a:xfrm>
            <a:off x="4626864" y="1371600"/>
            <a:ext cx="1965960" cy="2148840"/>
          </a:xfrm>
          <a:prstGeom prst="roundRect">
            <a:avLst>
              <a:gd name="adj" fmla="val 3721"/>
            </a:avLst>
          </a:prstGeom>
          <a:solidFill>
            <a:srgbClr val="14181F"/>
          </a:solidFill>
          <a:ln w="9525">
            <a:solidFill>
              <a:srgbClr val="14181F"/>
            </a:solidFill>
            <a:prstDash val="solid"/>
          </a:ln>
        </p:spPr>
      </p:sp>
      <p:sp>
        <p:nvSpPr>
          <p:cNvPr id="12" name="Text 10"/>
          <p:cNvSpPr txBox="1"/>
          <p:nvPr/>
        </p:nvSpPr>
        <p:spPr>
          <a:xfrm>
            <a:off x="4764024" y="1481328"/>
            <a:ext cx="1691640" cy="731520"/>
          </a:xfrm>
          <a:prstGeom prst="rect">
            <a:avLst/>
          </a:prstGeom>
          <a:noFill/>
          <a:ln/>
        </p:spPr>
        <p:txBody>
          <a:bodyPr wrap="square" lIns="0" tIns="0" rIns="0" bIns="0" rtlCol="0" anchor="ctr">
            <a:normAutofit/>
          </a:bodyPr>
          <a:lstStyle/>
          <a:p>
            <a:pPr indent="0" marL="0">
              <a:buNone/>
            </a:pPr>
            <a:r>
              <a:rPr lang="en-US" sz="3200" b="1" dirty="0">
                <a:solidFill>
                  <a:srgbClr val="D9752B"/>
                </a:solidFill>
                <a:latin typeface="Cambria" pitchFamily="34" charset="0"/>
                <a:ea typeface="Cambria" pitchFamily="34" charset="-122"/>
                <a:cs typeface="Cambria" pitchFamily="34" charset="-120"/>
              </a:rPr>
              <a:t>2.2%</a:t>
            </a:r>
            <a:endParaRPr lang="en-US" sz="3200" dirty="0"/>
          </a:p>
        </p:txBody>
      </p:sp>
      <p:sp>
        <p:nvSpPr>
          <p:cNvPr id="13" name="Text 11"/>
          <p:cNvSpPr txBox="1"/>
          <p:nvPr/>
        </p:nvSpPr>
        <p:spPr>
          <a:xfrm>
            <a:off x="4764024" y="2240280"/>
            <a:ext cx="1691640" cy="777240"/>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average warranty claims rate in 2024, up from 1.9%</a:t>
            </a:r>
            <a:endParaRPr lang="en-US" sz="1100" dirty="0"/>
          </a:p>
        </p:txBody>
      </p:sp>
      <p:sp>
        <p:nvSpPr>
          <p:cNvPr id="14" name="Text 12"/>
          <p:cNvSpPr txBox="1"/>
          <p:nvPr/>
        </p:nvSpPr>
        <p:spPr>
          <a:xfrm>
            <a:off x="4764024" y="3017520"/>
            <a:ext cx="1691640" cy="457200"/>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roughly one-sixth worse in a single year</a:t>
            </a:r>
            <a:endParaRPr lang="en-US" sz="900" dirty="0"/>
          </a:p>
        </p:txBody>
      </p:sp>
      <p:sp>
        <p:nvSpPr>
          <p:cNvPr id="15" name="Shape 13"/>
          <p:cNvSpPr/>
          <p:nvPr/>
        </p:nvSpPr>
        <p:spPr>
          <a:xfrm>
            <a:off x="6711696" y="1371600"/>
            <a:ext cx="1965960" cy="2148840"/>
          </a:xfrm>
          <a:prstGeom prst="roundRect">
            <a:avLst>
              <a:gd name="adj" fmla="val 3721"/>
            </a:avLst>
          </a:prstGeom>
          <a:solidFill>
            <a:srgbClr val="F3F4F6"/>
          </a:solidFill>
          <a:ln w="9525">
            <a:solidFill>
              <a:srgbClr val="F3F4F6"/>
            </a:solidFill>
            <a:prstDash val="solid"/>
          </a:ln>
        </p:spPr>
      </p:sp>
      <p:sp>
        <p:nvSpPr>
          <p:cNvPr id="16" name="Text 14"/>
          <p:cNvSpPr txBox="1"/>
          <p:nvPr/>
        </p:nvSpPr>
        <p:spPr>
          <a:xfrm>
            <a:off x="6848856" y="1481328"/>
            <a:ext cx="1691640" cy="731520"/>
          </a:xfrm>
          <a:prstGeom prst="rect">
            <a:avLst/>
          </a:prstGeom>
          <a:noFill/>
          <a:ln/>
        </p:spPr>
        <p:txBody>
          <a:bodyPr wrap="square" lIns="0" tIns="0" rIns="0" bIns="0" rtlCol="0" anchor="ctr">
            <a:normAutofit/>
          </a:bodyPr>
          <a:lstStyle/>
          <a:p>
            <a:pPr indent="0" marL="0">
              <a:buNone/>
            </a:pPr>
            <a:r>
              <a:rPr lang="en-US" sz="3200" b="1" dirty="0">
                <a:solidFill>
                  <a:srgbClr val="14181F"/>
                </a:solidFill>
                <a:latin typeface="Cambria" pitchFamily="34" charset="0"/>
                <a:ea typeface="Cambria" pitchFamily="34" charset="-122"/>
                <a:cs typeface="Cambria" pitchFamily="34" charset="-120"/>
              </a:rPr>
              <a:t>3 to 4%</a:t>
            </a:r>
            <a:endParaRPr lang="en-US" sz="3200" dirty="0"/>
          </a:p>
        </p:txBody>
      </p:sp>
      <p:sp>
        <p:nvSpPr>
          <p:cNvPr id="17" name="Text 15"/>
          <p:cNvSpPr txBox="1"/>
          <p:nvPr/>
        </p:nvSpPr>
        <p:spPr>
          <a:xfrm>
            <a:off x="6848856" y="2240280"/>
            <a:ext cx="1691640" cy="777240"/>
          </a:xfrm>
          <a:prstGeom prst="rect">
            <a:avLst/>
          </a:prstGeom>
          <a:noFill/>
          <a:ln/>
        </p:spPr>
        <p:txBody>
          <a:bodyPr wrap="square" lIns="0" tIns="0" rIns="0" bIns="0" rtlCol="0" anchor="t"/>
          <a:lstStyle/>
          <a:p>
            <a:pPr indent="0" marL="0">
              <a:buNone/>
            </a:pPr>
            <a:r>
              <a:rPr lang="en-US" sz="1100" b="1" dirty="0">
                <a:solidFill>
                  <a:srgbClr val="14181F"/>
                </a:solidFill>
                <a:latin typeface="Calibri" pitchFamily="34" charset="0"/>
                <a:ea typeface="Calibri" pitchFamily="34" charset="-122"/>
                <a:cs typeface="Calibri" pitchFamily="34" charset="-120"/>
              </a:rPr>
              <a:t>of total revenue now goes to warranty claims at most OEMs</a:t>
            </a:r>
            <a:endParaRPr lang="en-US" sz="1100" dirty="0"/>
          </a:p>
        </p:txBody>
      </p:sp>
      <p:sp>
        <p:nvSpPr>
          <p:cNvPr id="18" name="Text 16"/>
          <p:cNvSpPr txBox="1"/>
          <p:nvPr/>
        </p:nvSpPr>
        <p:spPr>
          <a:xfrm>
            <a:off x="6848856" y="3017520"/>
            <a:ext cx="1691640" cy="457200"/>
          </a:xfrm>
          <a:prstGeom prst="rect">
            <a:avLst/>
          </a:prstGeom>
          <a:noFill/>
          <a:ln/>
        </p:spPr>
        <p:txBody>
          <a:bodyPr wrap="square" lIns="0" tIns="0" rIns="0" bIns="0" rtlCol="0" anchor="t"/>
          <a:lstStyle/>
          <a:p>
            <a:pPr indent="0" marL="0">
              <a:buNone/>
            </a:pPr>
            <a:r>
              <a:rPr lang="en-US" sz="900" dirty="0">
                <a:solidFill>
                  <a:srgbClr val="6B7280"/>
                </a:solidFill>
                <a:latin typeface="Calibri" pitchFamily="34" charset="0"/>
                <a:ea typeface="Calibri" pitchFamily="34" charset="-122"/>
                <a:cs typeface="Calibri" pitchFamily="34" charset="-120"/>
              </a:rPr>
              <a:t>before recall logistics and brand damage</a:t>
            </a:r>
            <a:endParaRPr lang="en-US" sz="900" dirty="0"/>
          </a:p>
        </p:txBody>
      </p:sp>
      <p:sp>
        <p:nvSpPr>
          <p:cNvPr id="19" name="Shape 17"/>
          <p:cNvSpPr/>
          <p:nvPr/>
        </p:nvSpPr>
        <p:spPr>
          <a:xfrm>
            <a:off x="457200" y="3703320"/>
            <a:ext cx="8229600" cy="868680"/>
          </a:xfrm>
          <a:prstGeom prst="roundRect">
            <a:avLst>
              <a:gd name="adj" fmla="val 8421"/>
            </a:avLst>
          </a:prstGeom>
          <a:solidFill>
            <a:srgbClr val="F3F4F6"/>
          </a:solidFill>
          <a:ln w="9525">
            <a:solidFill>
              <a:srgbClr val="F3F4F6"/>
            </a:solidFill>
            <a:prstDash val="solid"/>
          </a:ln>
        </p:spPr>
      </p:sp>
      <p:sp>
        <p:nvSpPr>
          <p:cNvPr id="20" name="Text 18"/>
          <p:cNvSpPr txBox="1"/>
          <p:nvPr/>
        </p:nvSpPr>
        <p:spPr>
          <a:xfrm>
            <a:off x="640080" y="3749040"/>
            <a:ext cx="7863840" cy="777240"/>
          </a:xfrm>
          <a:prstGeom prst="rect">
            <a:avLst/>
          </a:prstGeom>
          <a:noFill/>
          <a:ln/>
        </p:spPr>
        <p:txBody>
          <a:bodyPr wrap="square" lIns="0" tIns="0" rIns="0" bIns="0" rtlCol="0" anchor="ctr"/>
          <a:lstStyle/>
          <a:p>
            <a:pPr indent="0" marL="0">
              <a:buNone/>
            </a:pPr>
            <a:r>
              <a:rPr lang="en-US" sz="1150" b="1" dirty="0">
                <a:solidFill>
                  <a:srgbClr val="14181F"/>
                </a:solidFill>
                <a:latin typeface="Calibri" pitchFamily="34" charset="0"/>
                <a:ea typeface="Calibri" pitchFamily="34" charset="-122"/>
                <a:cs typeface="Calibri" pitchFamily="34" charset="-120"/>
              </a:rPr>
              <a:t>Every one of those dollars starts as an issue somebody found on a line, traced to a part, and either fixed once or fixed again. </a:t>
            </a:r>
            <a:pPr indent="0" marL="0">
              <a:buNone/>
            </a:pPr>
            <a:r>
              <a:rPr lang="en-US" sz="1150" dirty="0">
                <a:solidFill>
                  <a:srgbClr val="374151"/>
                </a:solidFill>
                <a:latin typeface="Calibri" pitchFamily="34" charset="0"/>
                <a:ea typeface="Calibri" pitchFamily="34" charset="-122"/>
                <a:cs typeface="Calibri" pitchFamily="34" charset="-120"/>
              </a:rPr>
              <a:t>RecallRadius works on the step between finding the defect and proving the fix, where the record is split across systems today.</a:t>
            </a:r>
            <a:endParaRPr lang="en-US" sz="1150" dirty="0"/>
          </a:p>
        </p:txBody>
      </p:sp>
      <p:sp>
        <p:nvSpPr>
          <p:cNvPr id="21" name="Text 19"/>
          <p:cNvSpPr txBox="1"/>
          <p:nvPr/>
        </p:nvSpPr>
        <p:spPr>
          <a:xfrm>
            <a:off x="457200" y="4754880"/>
            <a:ext cx="82296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Sources: Warranty Week, Worldwide Auto Warranty Report (30 Oct 2025); WardsAuto, "The $100B quality tax" (23 Apr 2026). Public industry figures, not our measurements.</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822960"/>
          </a:xfrm>
          <a:prstGeom prst="rect">
            <a:avLst/>
          </a:prstGeom>
          <a:noFill/>
          <a:ln/>
        </p:spPr>
        <p:txBody>
          <a:bodyPr wrap="square" lIns="0" tIns="0" rIns="0" bIns="0" rtlCol="0" anchor="t">
            <a:normAutofit/>
          </a:bodyPr>
          <a:lstStyle/>
          <a:p>
            <a:pPr indent="0" marL="0">
              <a:buNone/>
            </a:pPr>
            <a:r>
              <a:rPr lang="en-US" sz="2800" b="1" dirty="0">
                <a:solidFill>
                  <a:srgbClr val="14181F"/>
                </a:solidFill>
                <a:latin typeface="Cambria" pitchFamily="34" charset="0"/>
                <a:ea typeface="Cambria" pitchFamily="34" charset="-122"/>
                <a:cs typeface="Cambria" pitchFamily="34" charset="-120"/>
              </a:rPr>
              <a:t>Every EV maker pays it, and electrical systems lead recalls</a:t>
            </a:r>
            <a:endParaRPr lang="en-US" sz="2800" dirty="0"/>
          </a:p>
        </p:txBody>
      </p:sp>
      <p:sp>
        <p:nvSpPr>
          <p:cNvPr id="3" name="Text 1"/>
          <p:cNvSpPr txBox="1"/>
          <p:nvPr/>
        </p:nvSpPr>
        <p:spPr>
          <a:xfrm>
            <a:off x="457200" y="1280160"/>
            <a:ext cx="4937760" cy="274320"/>
          </a:xfrm>
          <a:prstGeom prst="rect">
            <a:avLst/>
          </a:prstGeom>
          <a:noFill/>
          <a:ln/>
        </p:spPr>
        <p:txBody>
          <a:bodyPr wrap="square" lIns="0" tIns="0" rIns="0" bIns="0" rtlCol="0" anchor="ctr"/>
          <a:lstStyle/>
          <a:p>
            <a:pPr indent="0" marL="0">
              <a:buNone/>
            </a:pPr>
            <a:r>
              <a:rPr lang="en-US" sz="1100" b="1" dirty="0">
                <a:solidFill>
                  <a:srgbClr val="14181F"/>
                </a:solidFill>
                <a:latin typeface="Calibri" pitchFamily="34" charset="0"/>
                <a:ea typeface="Calibri" pitchFamily="34" charset="-122"/>
                <a:cs typeface="Calibri" pitchFamily="34" charset="-120"/>
              </a:rPr>
              <a:t>Warranty claims paid in 2025, US-based automakers, $ billions</a:t>
            </a:r>
            <a:endParaRPr lang="en-US" sz="1100" dirty="0"/>
          </a:p>
        </p:txBody>
      </p:sp>
      <p:graphicFrame>
        <p:nvGraphicFramePr>
          <p:cNvPr id="4" name="Chart 0" descr=""/>
          <p:cNvGraphicFramePr/>
          <p:nvPr/>
        </p:nvGraphicFramePr>
        <p:xfrm>
          <a:off x="457200" y="1554480"/>
          <a:ext cx="4937760" cy="26517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57200" y="4224528"/>
            <a:ext cx="4937760" cy="411480"/>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Ford down 2%, GM up 19%, Tesla up 19%, Rivian up 62% versus 2024. Newer EV makers are small in dollars and growing fastest in claims.</a:t>
            </a:r>
            <a:endParaRPr lang="en-US" sz="950" dirty="0"/>
          </a:p>
        </p:txBody>
      </p:sp>
      <p:sp>
        <p:nvSpPr>
          <p:cNvPr id="6" name="Shape 3"/>
          <p:cNvSpPr/>
          <p:nvPr/>
        </p:nvSpPr>
        <p:spPr>
          <a:xfrm>
            <a:off x="5715000" y="1280160"/>
            <a:ext cx="2971800" cy="3337560"/>
          </a:xfrm>
          <a:prstGeom prst="roundRect">
            <a:avLst>
              <a:gd name="adj" fmla="val 2462"/>
            </a:avLst>
          </a:prstGeom>
          <a:solidFill>
            <a:srgbClr val="14181F"/>
          </a:solidFill>
          <a:ln w="9525">
            <a:solidFill>
              <a:srgbClr val="14181F"/>
            </a:solidFill>
            <a:prstDash val="solid"/>
          </a:ln>
        </p:spPr>
      </p:sp>
      <p:sp>
        <p:nvSpPr>
          <p:cNvPr id="7" name="Text 4"/>
          <p:cNvSpPr txBox="1"/>
          <p:nvPr/>
        </p:nvSpPr>
        <p:spPr>
          <a:xfrm>
            <a:off x="5897880" y="1371600"/>
            <a:ext cx="2606040" cy="274320"/>
          </a:xfrm>
          <a:prstGeom prst="rect">
            <a:avLst/>
          </a:prstGeom>
          <a:noFill/>
          <a:ln/>
        </p:spPr>
        <p:txBody>
          <a:bodyPr wrap="square" lIns="0" tIns="0" rIns="0" bIns="0" rtlCol="0" anchor="ctr"/>
          <a:lstStyle/>
          <a:p>
            <a:pPr indent="0" marL="0">
              <a:buNone/>
            </a:pPr>
            <a:r>
              <a:rPr lang="en-US" sz="1250" b="1" dirty="0">
                <a:solidFill>
                  <a:srgbClr val="D9752B"/>
                </a:solidFill>
                <a:latin typeface="Cambria" pitchFamily="34" charset="0"/>
                <a:ea typeface="Cambria" pitchFamily="34" charset="-122"/>
                <a:cs typeface="Cambria" pitchFamily="34" charset="-120"/>
              </a:rPr>
              <a:t>US safety recalls, 2024 (NHTSA)</a:t>
            </a:r>
            <a:endParaRPr lang="en-US" sz="1250" dirty="0"/>
          </a:p>
        </p:txBody>
      </p:sp>
      <p:sp>
        <p:nvSpPr>
          <p:cNvPr id="8" name="Text 5"/>
          <p:cNvSpPr txBox="1"/>
          <p:nvPr/>
        </p:nvSpPr>
        <p:spPr>
          <a:xfrm>
            <a:off x="5897880" y="1737360"/>
            <a:ext cx="1051560" cy="594360"/>
          </a:xfrm>
          <a:prstGeom prst="rect">
            <a:avLst/>
          </a:prstGeom>
          <a:noFill/>
          <a:ln/>
        </p:spPr>
        <p:txBody>
          <a:bodyPr wrap="square" lIns="0" tIns="0" rIns="0" bIns="0" rtlCol="0" anchor="t">
            <a:normAutofit/>
          </a:bodyPr>
          <a:lstStyle/>
          <a:p>
            <a:pPr indent="0" marL="0">
              <a:buNone/>
            </a:pPr>
            <a:r>
              <a:rPr lang="en-US" sz="1800" b="1" dirty="0">
                <a:solidFill>
                  <a:srgbClr val="FFFFFF"/>
                </a:solidFill>
                <a:latin typeface="Cambria" pitchFamily="34" charset="0"/>
                <a:ea typeface="Cambria" pitchFamily="34" charset="-122"/>
                <a:cs typeface="Cambria" pitchFamily="34" charset="-120"/>
              </a:rPr>
              <a:t>1,073</a:t>
            </a:r>
            <a:endParaRPr lang="en-US" sz="1800" dirty="0"/>
          </a:p>
        </p:txBody>
      </p:sp>
      <p:sp>
        <p:nvSpPr>
          <p:cNvPr id="9" name="Text 6"/>
          <p:cNvSpPr txBox="1"/>
          <p:nvPr/>
        </p:nvSpPr>
        <p:spPr>
          <a:xfrm>
            <a:off x="6995160" y="1755648"/>
            <a:ext cx="1508760" cy="594360"/>
          </a:xfrm>
          <a:prstGeom prst="rect">
            <a:avLst/>
          </a:prstGeom>
          <a:noFill/>
          <a:ln/>
        </p:spPr>
        <p:txBody>
          <a:bodyPr wrap="square" lIns="0" tIns="0" rIns="0" bIns="0" rtlCol="0" anchor="t"/>
          <a:lstStyle/>
          <a:p>
            <a:pPr indent="0" marL="0">
              <a:buNone/>
            </a:pPr>
            <a:r>
              <a:rPr lang="en-US" sz="950" dirty="0">
                <a:solidFill>
                  <a:srgbClr val="D1D5DB"/>
                </a:solidFill>
                <a:latin typeface="Calibri" pitchFamily="34" charset="0"/>
                <a:ea typeface="Calibri" pitchFamily="34" charset="-122"/>
                <a:cs typeface="Calibri" pitchFamily="34" charset="-120"/>
              </a:rPr>
              <a:t>safety recalls across 257 manufacturers</a:t>
            </a:r>
            <a:endParaRPr lang="en-US" sz="950" dirty="0"/>
          </a:p>
        </p:txBody>
      </p:sp>
      <p:sp>
        <p:nvSpPr>
          <p:cNvPr id="10" name="Text 7"/>
          <p:cNvSpPr txBox="1"/>
          <p:nvPr/>
        </p:nvSpPr>
        <p:spPr>
          <a:xfrm>
            <a:off x="5897880" y="2423160"/>
            <a:ext cx="1051560" cy="594360"/>
          </a:xfrm>
          <a:prstGeom prst="rect">
            <a:avLst/>
          </a:prstGeom>
          <a:noFill/>
          <a:ln/>
        </p:spPr>
        <p:txBody>
          <a:bodyPr wrap="square" lIns="0" tIns="0" rIns="0" bIns="0" rtlCol="0" anchor="t">
            <a:normAutofit/>
          </a:bodyPr>
          <a:lstStyle/>
          <a:p>
            <a:pPr indent="0" marL="0">
              <a:buNone/>
            </a:pPr>
            <a:r>
              <a:rPr lang="en-US" sz="1800" b="1" dirty="0">
                <a:solidFill>
                  <a:srgbClr val="FFFFFF"/>
                </a:solidFill>
                <a:latin typeface="Cambria" pitchFamily="34" charset="0"/>
                <a:ea typeface="Cambria" pitchFamily="34" charset="-122"/>
                <a:cs typeface="Cambria" pitchFamily="34" charset="-120"/>
              </a:rPr>
              <a:t>27.7M</a:t>
            </a:r>
            <a:endParaRPr lang="en-US" sz="1800" dirty="0"/>
          </a:p>
        </p:txBody>
      </p:sp>
      <p:sp>
        <p:nvSpPr>
          <p:cNvPr id="11" name="Text 8"/>
          <p:cNvSpPr txBox="1"/>
          <p:nvPr/>
        </p:nvSpPr>
        <p:spPr>
          <a:xfrm>
            <a:off x="6995160" y="2441448"/>
            <a:ext cx="1508760" cy="594360"/>
          </a:xfrm>
          <a:prstGeom prst="rect">
            <a:avLst/>
          </a:prstGeom>
          <a:noFill/>
          <a:ln/>
        </p:spPr>
        <p:txBody>
          <a:bodyPr wrap="square" lIns="0" tIns="0" rIns="0" bIns="0" rtlCol="0" anchor="t"/>
          <a:lstStyle/>
          <a:p>
            <a:pPr indent="0" marL="0">
              <a:buNone/>
            </a:pPr>
            <a:r>
              <a:rPr lang="en-US" sz="950" dirty="0">
                <a:solidFill>
                  <a:srgbClr val="D1D5DB"/>
                </a:solidFill>
                <a:latin typeface="Calibri" pitchFamily="34" charset="0"/>
                <a:ea typeface="Calibri" pitchFamily="34" charset="-122"/>
                <a:cs typeface="Calibri" pitchFamily="34" charset="-120"/>
              </a:rPr>
              <a:t>vehicles recalled in the year</a:t>
            </a:r>
            <a:endParaRPr lang="en-US" sz="950" dirty="0"/>
          </a:p>
        </p:txBody>
      </p:sp>
      <p:sp>
        <p:nvSpPr>
          <p:cNvPr id="12" name="Text 9"/>
          <p:cNvSpPr txBox="1"/>
          <p:nvPr/>
        </p:nvSpPr>
        <p:spPr>
          <a:xfrm>
            <a:off x="5897880" y="3108960"/>
            <a:ext cx="1051560" cy="594360"/>
          </a:xfrm>
          <a:prstGeom prst="rect">
            <a:avLst/>
          </a:prstGeom>
          <a:noFill/>
          <a:ln/>
        </p:spPr>
        <p:txBody>
          <a:bodyPr wrap="square" lIns="0" tIns="0" rIns="0" bIns="0" rtlCol="0" anchor="t">
            <a:normAutofit/>
          </a:bodyPr>
          <a:lstStyle/>
          <a:p>
            <a:pPr indent="0" marL="0">
              <a:buNone/>
            </a:pPr>
            <a:r>
              <a:rPr lang="en-US" sz="1800" b="1" dirty="0">
                <a:solidFill>
                  <a:srgbClr val="FFFFFF"/>
                </a:solidFill>
                <a:latin typeface="Cambria" pitchFamily="34" charset="0"/>
                <a:ea typeface="Cambria" pitchFamily="34" charset="-122"/>
                <a:cs typeface="Cambria" pitchFamily="34" charset="-120"/>
              </a:rPr>
              <a:t>72.7M</a:t>
            </a:r>
            <a:endParaRPr lang="en-US" sz="1800" dirty="0"/>
          </a:p>
        </p:txBody>
      </p:sp>
      <p:sp>
        <p:nvSpPr>
          <p:cNvPr id="13" name="Text 10"/>
          <p:cNvSpPr txBox="1"/>
          <p:nvPr/>
        </p:nvSpPr>
        <p:spPr>
          <a:xfrm>
            <a:off x="6995160" y="3127248"/>
            <a:ext cx="1508760" cy="594360"/>
          </a:xfrm>
          <a:prstGeom prst="rect">
            <a:avLst/>
          </a:prstGeom>
          <a:noFill/>
          <a:ln/>
        </p:spPr>
        <p:txBody>
          <a:bodyPr wrap="square" lIns="0" tIns="0" rIns="0" bIns="0" rtlCol="0" anchor="t"/>
          <a:lstStyle/>
          <a:p>
            <a:pPr indent="0" marL="0">
              <a:buNone/>
            </a:pPr>
            <a:r>
              <a:rPr lang="en-US" sz="950" dirty="0">
                <a:solidFill>
                  <a:srgbClr val="D1D5DB"/>
                </a:solidFill>
                <a:latin typeface="Calibri" pitchFamily="34" charset="0"/>
                <a:ea typeface="Calibri" pitchFamily="34" charset="-122"/>
                <a:cs typeface="Calibri" pitchFamily="34" charset="-120"/>
              </a:rPr>
              <a:t>vehicles on the road with an open recall, about one in four</a:t>
            </a:r>
            <a:endParaRPr lang="en-US" sz="950" dirty="0"/>
          </a:p>
        </p:txBody>
      </p:sp>
      <p:sp>
        <p:nvSpPr>
          <p:cNvPr id="14" name="Text 11"/>
          <p:cNvSpPr txBox="1"/>
          <p:nvPr/>
        </p:nvSpPr>
        <p:spPr>
          <a:xfrm>
            <a:off x="5897880" y="3794760"/>
            <a:ext cx="1051560" cy="594360"/>
          </a:xfrm>
          <a:prstGeom prst="rect">
            <a:avLst/>
          </a:prstGeom>
          <a:noFill/>
          <a:ln/>
        </p:spPr>
        <p:txBody>
          <a:bodyPr wrap="square" lIns="0" tIns="0" rIns="0" bIns="0" rtlCol="0" anchor="t">
            <a:normAutofit/>
          </a:bodyPr>
          <a:lstStyle/>
          <a:p>
            <a:pPr indent="0" marL="0">
              <a:buNone/>
            </a:pPr>
            <a:r>
              <a:rPr lang="en-US" sz="1800" b="1" dirty="0">
                <a:solidFill>
                  <a:srgbClr val="FFFFFF"/>
                </a:solidFill>
                <a:latin typeface="Cambria" pitchFamily="34" charset="0"/>
                <a:ea typeface="Cambria" pitchFamily="34" charset="-122"/>
                <a:cs typeface="Cambria" pitchFamily="34" charset="-120"/>
              </a:rPr>
              <a:t>Electrical</a:t>
            </a:r>
            <a:endParaRPr lang="en-US" sz="1800" dirty="0"/>
          </a:p>
        </p:txBody>
      </p:sp>
      <p:sp>
        <p:nvSpPr>
          <p:cNvPr id="15" name="Text 12"/>
          <p:cNvSpPr txBox="1"/>
          <p:nvPr/>
        </p:nvSpPr>
        <p:spPr>
          <a:xfrm>
            <a:off x="6995160" y="3813048"/>
            <a:ext cx="1508760" cy="594360"/>
          </a:xfrm>
          <a:prstGeom prst="rect">
            <a:avLst/>
          </a:prstGeom>
          <a:noFill/>
          <a:ln/>
        </p:spPr>
        <p:txBody>
          <a:bodyPr wrap="square" lIns="0" tIns="0" rIns="0" bIns="0" rtlCol="0" anchor="t"/>
          <a:lstStyle/>
          <a:p>
            <a:pPr indent="0" marL="0">
              <a:buNone/>
            </a:pPr>
            <a:r>
              <a:rPr lang="en-US" sz="950" dirty="0">
                <a:solidFill>
                  <a:srgbClr val="D1D5DB"/>
                </a:solidFill>
                <a:latin typeface="Calibri" pitchFamily="34" charset="0"/>
                <a:ea typeface="Calibri" pitchFamily="34" charset="-122"/>
                <a:cs typeface="Calibri" pitchFamily="34" charset="-120"/>
              </a:rPr>
              <a:t>systems were the most-recalled component</a:t>
            </a:r>
            <a:endParaRPr lang="en-US" sz="950" dirty="0"/>
          </a:p>
        </p:txBody>
      </p:sp>
      <p:sp>
        <p:nvSpPr>
          <p:cNvPr id="16" name="Text 13"/>
          <p:cNvSpPr txBox="1"/>
          <p:nvPr/>
        </p:nvSpPr>
        <p:spPr>
          <a:xfrm>
            <a:off x="457200" y="4754880"/>
            <a:ext cx="82296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Sources: Warranty Week, U.S. Auto Warranty Expenses (12 Mar 2026); NHTSA 2024 Annual Recalls Report (Apr 2025) as summarised by Motus. Public figures, not ours.</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81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822960"/>
          </a:xfrm>
          <a:prstGeom prst="rect">
            <a:avLst/>
          </a:prstGeom>
          <a:noFill/>
          <a:ln/>
        </p:spPr>
        <p:txBody>
          <a:bodyPr wrap="square" lIns="0" tIns="0" rIns="0" bIns="0" rtlCol="0" anchor="t">
            <a:normAutofit/>
          </a:bodyPr>
          <a:lstStyle/>
          <a:p>
            <a:pPr indent="0" marL="0">
              <a:buNone/>
            </a:pPr>
            <a:r>
              <a:rPr lang="en-US" sz="2800" b="1" dirty="0">
                <a:solidFill>
                  <a:srgbClr val="FFFFFF"/>
                </a:solidFill>
                <a:latin typeface="Cambria" pitchFamily="34" charset="0"/>
                <a:ea typeface="Cambria" pitchFamily="34" charset="-122"/>
                <a:cs typeface="Cambria" pitchFamily="34" charset="-120"/>
              </a:rPr>
              <a:t>Where RecallRadius takes cost out</a:t>
            </a:r>
            <a:endParaRPr lang="en-US" sz="2800" dirty="0"/>
          </a:p>
        </p:txBody>
      </p:sp>
      <p:sp>
        <p:nvSpPr>
          <p:cNvPr id="3" name="Shape 1"/>
          <p:cNvSpPr/>
          <p:nvPr/>
        </p:nvSpPr>
        <p:spPr>
          <a:xfrm>
            <a:off x="457200" y="1325880"/>
            <a:ext cx="3291840" cy="3246120"/>
          </a:xfrm>
          <a:prstGeom prst="roundRect">
            <a:avLst>
              <a:gd name="adj" fmla="val 2254"/>
            </a:avLst>
          </a:prstGeom>
          <a:solidFill>
            <a:srgbClr val="1E242E"/>
          </a:solidFill>
          <a:ln w="9525">
            <a:solidFill>
              <a:srgbClr val="2C3440"/>
            </a:solidFill>
            <a:prstDash val="solid"/>
          </a:ln>
        </p:spPr>
      </p:sp>
      <p:sp>
        <p:nvSpPr>
          <p:cNvPr id="4" name="Text 2"/>
          <p:cNvSpPr txBox="1"/>
          <p:nvPr/>
        </p:nvSpPr>
        <p:spPr>
          <a:xfrm>
            <a:off x="640080" y="1417320"/>
            <a:ext cx="2926080" cy="274320"/>
          </a:xfrm>
          <a:prstGeom prst="rect">
            <a:avLst/>
          </a:prstGeom>
          <a:noFill/>
          <a:ln/>
        </p:spPr>
        <p:txBody>
          <a:bodyPr wrap="square" lIns="0" tIns="0" rIns="0" bIns="0" rtlCol="0" anchor="ctr"/>
          <a:lstStyle/>
          <a:p>
            <a:pPr indent="0" marL="0">
              <a:buNone/>
            </a:pPr>
            <a:r>
              <a:rPr lang="en-US" sz="1300" b="1" dirty="0">
                <a:solidFill>
                  <a:srgbClr val="D9752B"/>
                </a:solidFill>
                <a:latin typeface="Cambria" pitchFamily="34" charset="0"/>
                <a:ea typeface="Cambria" pitchFamily="34" charset="-122"/>
                <a:cs typeface="Cambria" pitchFamily="34" charset="-120"/>
              </a:rPr>
              <a:t>The cost pool</a:t>
            </a:r>
            <a:endParaRPr lang="en-US" sz="1300" dirty="0"/>
          </a:p>
        </p:txBody>
      </p:sp>
      <p:sp>
        <p:nvSpPr>
          <p:cNvPr id="5" name="Text 3"/>
          <p:cNvSpPr txBox="1"/>
          <p:nvPr/>
        </p:nvSpPr>
        <p:spPr>
          <a:xfrm>
            <a:off x="640080" y="1737360"/>
            <a:ext cx="292608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5 to 30%</a:t>
            </a:r>
            <a:endParaRPr lang="en-US" sz="3400" dirty="0"/>
          </a:p>
        </p:txBody>
      </p:sp>
      <p:sp>
        <p:nvSpPr>
          <p:cNvPr id="6" name="Text 4"/>
          <p:cNvSpPr txBox="1"/>
          <p:nvPr/>
        </p:nvSpPr>
        <p:spPr>
          <a:xfrm>
            <a:off x="640080" y="2423160"/>
            <a:ext cx="2926080" cy="868680"/>
          </a:xfrm>
          <a:prstGeom prst="rect">
            <a:avLst/>
          </a:prstGeom>
          <a:noFill/>
          <a:ln/>
        </p:spPr>
        <p:txBody>
          <a:bodyPr wrap="square" lIns="0" tIns="0" rIns="0" bIns="0" rtlCol="0" anchor="t"/>
          <a:lstStyle/>
          <a:p>
            <a:pPr indent="0" marL="0">
              <a:buNone/>
            </a:pPr>
            <a:r>
              <a:rPr lang="en-US" sz="1050" dirty="0">
                <a:solidFill>
                  <a:srgbClr val="D1D5DB"/>
                </a:solidFill>
                <a:latin typeface="Calibri" pitchFamily="34" charset="0"/>
                <a:ea typeface="Calibri" pitchFamily="34" charset="-122"/>
                <a:cs typeface="Calibri" pitchFamily="34" charset="-120"/>
              </a:rPr>
              <a:t>of annual revenue is the range industry research gives for the cost of poor quality in manufacturing: scrap, rework, warranty, returns, penalties.</a:t>
            </a:r>
            <a:endParaRPr lang="en-US" sz="1050" dirty="0"/>
          </a:p>
        </p:txBody>
      </p:sp>
      <p:sp>
        <p:nvSpPr>
          <p:cNvPr id="7" name="Text 5"/>
          <p:cNvSpPr txBox="1"/>
          <p:nvPr/>
        </p:nvSpPr>
        <p:spPr>
          <a:xfrm>
            <a:off x="640080" y="3337560"/>
            <a:ext cx="2926080" cy="41148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about 6 : 1</a:t>
            </a:r>
            <a:endParaRPr lang="en-US" sz="2200" dirty="0"/>
          </a:p>
        </p:txBody>
      </p:sp>
      <p:sp>
        <p:nvSpPr>
          <p:cNvPr id="8" name="Text 6"/>
          <p:cNvSpPr txBox="1"/>
          <p:nvPr/>
        </p:nvSpPr>
        <p:spPr>
          <a:xfrm>
            <a:off x="640080" y="3749040"/>
            <a:ext cx="2926080" cy="731520"/>
          </a:xfrm>
          <a:prstGeom prst="rect">
            <a:avLst/>
          </a:prstGeom>
          <a:noFill/>
          <a:ln/>
        </p:spPr>
        <p:txBody>
          <a:bodyPr wrap="square" lIns="0" tIns="0" rIns="0" bIns="0" rtlCol="0" anchor="t"/>
          <a:lstStyle/>
          <a:p>
            <a:pPr indent="0" marL="0">
              <a:buNone/>
            </a:pPr>
            <a:r>
              <a:rPr lang="en-US" sz="950" dirty="0">
                <a:solidFill>
                  <a:srgbClr val="9CA3AF"/>
                </a:solidFill>
                <a:latin typeface="Calibri" pitchFamily="34" charset="0"/>
                <a:ea typeface="Calibri" pitchFamily="34" charset="-122"/>
                <a:cs typeface="Calibri" pitchFamily="34" charset="-120"/>
              </a:rPr>
              <a:t>return on formal quality systems, per ASQ as cited by industry sources, mostly from avoided rework and warranty.</a:t>
            </a:r>
            <a:endParaRPr lang="en-US" sz="950" dirty="0"/>
          </a:p>
        </p:txBody>
      </p:sp>
      <p:sp>
        <p:nvSpPr>
          <p:cNvPr id="9" name="Shape 7"/>
          <p:cNvSpPr/>
          <p:nvPr/>
        </p:nvSpPr>
        <p:spPr>
          <a:xfrm>
            <a:off x="3977640" y="1344168"/>
            <a:ext cx="310896" cy="310896"/>
          </a:xfrm>
          <a:prstGeom prst="ellipse">
            <a:avLst/>
          </a:prstGeom>
          <a:solidFill>
            <a:srgbClr val="D9752B"/>
          </a:solidFill>
          <a:ln w="12700">
            <a:solidFill>
              <a:srgbClr val="D9752B"/>
            </a:solidFill>
            <a:prstDash val="solid"/>
          </a:ln>
        </p:spPr>
      </p:sp>
      <p:sp>
        <p:nvSpPr>
          <p:cNvPr id="10" name="Text 8"/>
          <p:cNvSpPr txBox="1"/>
          <p:nvPr/>
        </p:nvSpPr>
        <p:spPr>
          <a:xfrm>
            <a:off x="3977640" y="134416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4389120" y="1325880"/>
            <a:ext cx="4297680" cy="320040"/>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Investigation time per issue</a:t>
            </a:r>
            <a:endParaRPr lang="en-US" sz="1250" dirty="0"/>
          </a:p>
        </p:txBody>
      </p:sp>
      <p:sp>
        <p:nvSpPr>
          <p:cNvPr id="12" name="Text 10"/>
          <p:cNvSpPr txBox="1"/>
          <p:nvPr/>
        </p:nvSpPr>
        <p:spPr>
          <a:xfrm>
            <a:off x="4389120" y="1664208"/>
            <a:ext cx="4297680" cy="713232"/>
          </a:xfrm>
          <a:prstGeom prst="rect">
            <a:avLst/>
          </a:prstGeom>
          <a:noFill/>
          <a:ln/>
        </p:spPr>
        <p:txBody>
          <a:bodyPr wrap="square" lIns="0" tIns="0" rIns="0" bIns="0" rtlCol="0" anchor="t"/>
          <a:lstStyle/>
          <a:p>
            <a:pPr indent="0" marL="0">
              <a:buNone/>
            </a:pPr>
            <a:r>
              <a:rPr lang="en-US" sz="950" dirty="0">
                <a:solidFill>
                  <a:srgbClr val="D1D5DB"/>
                </a:solidFill>
                <a:latin typeface="Calibri" pitchFamily="34" charset="0"/>
                <a:ea typeface="Calibri" pitchFamily="34" charset="-122"/>
                <a:cs typeface="Calibri" pitchFamily="34" charset="-120"/>
              </a:rPr>
              <a:t>Provenance for both origins, the prior fix and its verification in one record. Cost line: engineering and quality hours per issue.</a:t>
            </a:r>
            <a:endParaRPr lang="en-US" sz="950" dirty="0"/>
          </a:p>
        </p:txBody>
      </p:sp>
      <p:sp>
        <p:nvSpPr>
          <p:cNvPr id="13" name="Shape 11"/>
          <p:cNvSpPr/>
          <p:nvPr/>
        </p:nvSpPr>
        <p:spPr>
          <a:xfrm>
            <a:off x="3977640" y="2441448"/>
            <a:ext cx="310896" cy="310896"/>
          </a:xfrm>
          <a:prstGeom prst="ellipse">
            <a:avLst/>
          </a:prstGeom>
          <a:solidFill>
            <a:srgbClr val="D9752B"/>
          </a:solidFill>
          <a:ln w="12700">
            <a:solidFill>
              <a:srgbClr val="D9752B"/>
            </a:solidFill>
            <a:prstDash val="solid"/>
          </a:ln>
        </p:spPr>
      </p:sp>
      <p:sp>
        <p:nvSpPr>
          <p:cNvPr id="14" name="Text 12"/>
          <p:cNvSpPr txBox="1"/>
          <p:nvPr/>
        </p:nvSpPr>
        <p:spPr>
          <a:xfrm>
            <a:off x="3977640" y="244144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4389120" y="2423160"/>
            <a:ext cx="4297680" cy="320040"/>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Repeated issue families</a:t>
            </a:r>
            <a:endParaRPr lang="en-US" sz="1250" dirty="0"/>
          </a:p>
        </p:txBody>
      </p:sp>
      <p:sp>
        <p:nvSpPr>
          <p:cNvPr id="16" name="Text 14"/>
          <p:cNvSpPr txBox="1"/>
          <p:nvPr/>
        </p:nvSpPr>
        <p:spPr>
          <a:xfrm>
            <a:off x="4389120" y="2761488"/>
            <a:ext cx="4297680" cy="713232"/>
          </a:xfrm>
          <a:prstGeom prst="rect">
            <a:avLst/>
          </a:prstGeom>
          <a:noFill/>
          <a:ln/>
        </p:spPr>
        <p:txBody>
          <a:bodyPr wrap="square" lIns="0" tIns="0" rIns="0" bIns="0" rtlCol="0" anchor="t"/>
          <a:lstStyle/>
          <a:p>
            <a:pPr indent="0" marL="0">
              <a:buNone/>
            </a:pPr>
            <a:r>
              <a:rPr lang="en-US" sz="950" dirty="0">
                <a:solidFill>
                  <a:srgbClr val="D1D5DB"/>
                </a:solidFill>
                <a:latin typeface="Calibri" pitchFamily="34" charset="0"/>
                <a:ea typeface="Calibri" pitchFamily="34" charset="-122"/>
                <a:cs typeface="Calibri" pitchFamily="34" charset="-120"/>
              </a:rPr>
              <a:t>Graph retrieval surfaces the verified fix for the same defect, part family and process step. Cost line: rework, scrap, repeat warranty claims.</a:t>
            </a:r>
            <a:endParaRPr lang="en-US" sz="950" dirty="0"/>
          </a:p>
        </p:txBody>
      </p:sp>
      <p:sp>
        <p:nvSpPr>
          <p:cNvPr id="17" name="Shape 15"/>
          <p:cNvSpPr/>
          <p:nvPr/>
        </p:nvSpPr>
        <p:spPr>
          <a:xfrm>
            <a:off x="3977640" y="3538728"/>
            <a:ext cx="310896" cy="310896"/>
          </a:xfrm>
          <a:prstGeom prst="ellipse">
            <a:avLst/>
          </a:prstGeom>
          <a:solidFill>
            <a:srgbClr val="D9752B"/>
          </a:solidFill>
          <a:ln w="12700">
            <a:solidFill>
              <a:srgbClr val="D9752B"/>
            </a:solidFill>
            <a:prstDash val="solid"/>
          </a:ln>
        </p:spPr>
      </p:sp>
      <p:sp>
        <p:nvSpPr>
          <p:cNvPr id="18" name="Text 16"/>
          <p:cNvSpPr txBox="1"/>
          <p:nvPr/>
        </p:nvSpPr>
        <p:spPr>
          <a:xfrm>
            <a:off x="3977640" y="353872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4389120" y="3520440"/>
            <a:ext cx="4297680" cy="320040"/>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Verified fix reuse</a:t>
            </a:r>
            <a:endParaRPr lang="en-US" sz="1250" dirty="0"/>
          </a:p>
        </p:txBody>
      </p:sp>
      <p:sp>
        <p:nvSpPr>
          <p:cNvPr id="20" name="Text 18"/>
          <p:cNvSpPr txBox="1"/>
          <p:nvPr/>
        </p:nvSpPr>
        <p:spPr>
          <a:xfrm>
            <a:off x="4389120" y="3858768"/>
            <a:ext cx="4297680" cy="713232"/>
          </a:xfrm>
          <a:prstGeom prst="rect">
            <a:avLst/>
          </a:prstGeom>
          <a:noFill/>
          <a:ln/>
        </p:spPr>
        <p:txBody>
          <a:bodyPr wrap="square" lIns="0" tIns="0" rIns="0" bIns="0" rtlCol="0" anchor="t"/>
          <a:lstStyle/>
          <a:p>
            <a:pPr indent="0" marL="0">
              <a:buNone/>
            </a:pPr>
            <a:r>
              <a:rPr lang="en-US" sz="950" dirty="0">
                <a:solidFill>
                  <a:srgbClr val="D1D5DB"/>
                </a:solidFill>
                <a:latin typeface="Calibri" pitchFamily="34" charset="0"/>
                <a:ea typeface="Calibri" pitchFamily="34" charset="-122"/>
                <a:cs typeface="Calibri" pitchFamily="34" charset="-120"/>
              </a:rPr>
              <a:t>A reused fix is a proposal until this vehicle passes its own check, so reuse never ships an unverified change. Cost line: recurrence and field recalls.</a:t>
            </a:r>
            <a:endParaRPr lang="en-US" sz="950" dirty="0"/>
          </a:p>
        </p:txBody>
      </p:sp>
      <p:sp>
        <p:nvSpPr>
          <p:cNvPr id="21" name="Text 19"/>
          <p:cNvSpPr txBox="1"/>
          <p:nvPr/>
        </p:nvSpPr>
        <p:spPr>
          <a:xfrm>
            <a:off x="457200" y="4754880"/>
            <a:ext cx="82296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Illustration only: an OEM with $10B revenue at the 2024 average claims rate of 2.2% pays about $220M a year in warranty claims; each 1% cut is about $2.2M. Arithmetic on public figures, not a measured result.</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822960"/>
          </a:xfrm>
          <a:prstGeom prst="rect">
            <a:avLst/>
          </a:prstGeom>
          <a:noFill/>
          <a:ln/>
        </p:spPr>
        <p:txBody>
          <a:bodyPr wrap="square" lIns="0" tIns="0" rIns="0" bIns="0" rtlCol="0" anchor="t">
            <a:normAutofit/>
          </a:bodyPr>
          <a:lstStyle/>
          <a:p>
            <a:pPr indent="0" marL="0">
              <a:buNone/>
            </a:pPr>
            <a:r>
              <a:rPr lang="en-US" sz="2800" b="1" dirty="0">
                <a:solidFill>
                  <a:srgbClr val="14181F"/>
                </a:solidFill>
                <a:latin typeface="Cambria" pitchFamily="34" charset="0"/>
                <a:ea typeface="Cambria" pitchFamily="34" charset="-122"/>
                <a:cs typeface="Cambria" pitchFamily="34" charset="-120"/>
              </a:rPr>
              <a:t>A growing market, and a narrow wedge into it</a:t>
            </a:r>
            <a:endParaRPr lang="en-US" sz="2800" dirty="0"/>
          </a:p>
        </p:txBody>
      </p:sp>
      <p:sp>
        <p:nvSpPr>
          <p:cNvPr id="3" name="Shape 1"/>
          <p:cNvSpPr/>
          <p:nvPr/>
        </p:nvSpPr>
        <p:spPr>
          <a:xfrm>
            <a:off x="457200" y="1325880"/>
            <a:ext cx="3108960" cy="3246120"/>
          </a:xfrm>
          <a:prstGeom prst="roundRect">
            <a:avLst>
              <a:gd name="adj" fmla="val 2353"/>
            </a:avLst>
          </a:prstGeom>
          <a:solidFill>
            <a:srgbClr val="14181F"/>
          </a:solidFill>
          <a:ln w="9525">
            <a:solidFill>
              <a:srgbClr val="14181F"/>
            </a:solidFill>
            <a:prstDash val="solid"/>
          </a:ln>
        </p:spPr>
      </p:sp>
      <p:sp>
        <p:nvSpPr>
          <p:cNvPr id="4" name="Text 2"/>
          <p:cNvSpPr txBox="1"/>
          <p:nvPr/>
        </p:nvSpPr>
        <p:spPr>
          <a:xfrm>
            <a:off x="640080" y="1417320"/>
            <a:ext cx="2743200" cy="274320"/>
          </a:xfrm>
          <a:prstGeom prst="rect">
            <a:avLst/>
          </a:prstGeom>
          <a:noFill/>
          <a:ln/>
        </p:spPr>
        <p:txBody>
          <a:bodyPr wrap="square" lIns="0" tIns="0" rIns="0" bIns="0" rtlCol="0" anchor="ctr"/>
          <a:lstStyle/>
          <a:p>
            <a:pPr indent="0" marL="0">
              <a:buNone/>
            </a:pPr>
            <a:r>
              <a:rPr lang="en-US" sz="1250" b="1" dirty="0">
                <a:solidFill>
                  <a:srgbClr val="D9752B"/>
                </a:solidFill>
                <a:latin typeface="Cambria" pitchFamily="34" charset="0"/>
                <a:ea typeface="Cambria" pitchFamily="34" charset="-122"/>
                <a:cs typeface="Cambria" pitchFamily="34" charset="-120"/>
              </a:rPr>
              <a:t>Quality management software</a:t>
            </a:r>
            <a:endParaRPr lang="en-US" sz="1250" dirty="0"/>
          </a:p>
        </p:txBody>
      </p:sp>
      <p:sp>
        <p:nvSpPr>
          <p:cNvPr id="5" name="Text 3"/>
          <p:cNvSpPr txBox="1"/>
          <p:nvPr/>
        </p:nvSpPr>
        <p:spPr>
          <a:xfrm>
            <a:off x="640080" y="1737360"/>
            <a:ext cx="274320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~$12B</a:t>
            </a:r>
            <a:endParaRPr lang="en-US" sz="3400" dirty="0"/>
          </a:p>
        </p:txBody>
      </p:sp>
      <p:sp>
        <p:nvSpPr>
          <p:cNvPr id="6" name="Text 4"/>
          <p:cNvSpPr txBox="1"/>
          <p:nvPr/>
        </p:nvSpPr>
        <p:spPr>
          <a:xfrm>
            <a:off x="640080" y="2377440"/>
            <a:ext cx="2743200" cy="274320"/>
          </a:xfrm>
          <a:prstGeom prst="rect">
            <a:avLst/>
          </a:prstGeom>
          <a:noFill/>
          <a:ln/>
        </p:spPr>
        <p:txBody>
          <a:bodyPr wrap="square" lIns="0" tIns="0" rIns="0" bIns="0" rtlCol="0" anchor="ctr"/>
          <a:lstStyle/>
          <a:p>
            <a:pPr indent="0" marL="0">
              <a:buNone/>
            </a:pPr>
            <a:r>
              <a:rPr lang="en-US" sz="1000" dirty="0">
                <a:solidFill>
                  <a:srgbClr val="D1D5DB"/>
                </a:solidFill>
                <a:latin typeface="Calibri" pitchFamily="34" charset="0"/>
                <a:ea typeface="Calibri" pitchFamily="34" charset="-122"/>
                <a:cs typeface="Calibri" pitchFamily="34" charset="-120"/>
              </a:rPr>
              <a:t>global market in 2025, analyst estimates</a:t>
            </a:r>
            <a:endParaRPr lang="en-US" sz="1000" dirty="0"/>
          </a:p>
        </p:txBody>
      </p:sp>
      <p:sp>
        <p:nvSpPr>
          <p:cNvPr id="7" name="Text 5"/>
          <p:cNvSpPr txBox="1"/>
          <p:nvPr/>
        </p:nvSpPr>
        <p:spPr>
          <a:xfrm>
            <a:off x="640080" y="2743200"/>
            <a:ext cx="274320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~$29B</a:t>
            </a:r>
            <a:endParaRPr lang="en-US" sz="2800" dirty="0"/>
          </a:p>
        </p:txBody>
      </p:sp>
      <p:sp>
        <p:nvSpPr>
          <p:cNvPr id="8" name="Text 6"/>
          <p:cNvSpPr txBox="1"/>
          <p:nvPr/>
        </p:nvSpPr>
        <p:spPr>
          <a:xfrm>
            <a:off x="640080" y="3291840"/>
            <a:ext cx="2743200" cy="274320"/>
          </a:xfrm>
          <a:prstGeom prst="rect">
            <a:avLst/>
          </a:prstGeom>
          <a:noFill/>
          <a:ln/>
        </p:spPr>
        <p:txBody>
          <a:bodyPr wrap="square" lIns="0" tIns="0" rIns="0" bIns="0" rtlCol="0" anchor="ctr"/>
          <a:lstStyle/>
          <a:p>
            <a:pPr indent="0" marL="0">
              <a:buNone/>
            </a:pPr>
            <a:r>
              <a:rPr lang="en-US" sz="1000" dirty="0">
                <a:solidFill>
                  <a:srgbClr val="D1D5DB"/>
                </a:solidFill>
                <a:latin typeface="Calibri" pitchFamily="34" charset="0"/>
                <a:ea typeface="Calibri" pitchFamily="34" charset="-122"/>
                <a:cs typeface="Calibri" pitchFamily="34" charset="-120"/>
              </a:rPr>
              <a:t>projected for 2033, about 11.5% a year</a:t>
            </a:r>
            <a:endParaRPr lang="en-US" sz="1000" dirty="0"/>
          </a:p>
        </p:txBody>
      </p:sp>
      <p:sp>
        <p:nvSpPr>
          <p:cNvPr id="9" name="Text 7"/>
          <p:cNvSpPr txBox="1"/>
          <p:nvPr/>
        </p:nvSpPr>
        <p:spPr>
          <a:xfrm>
            <a:off x="640080" y="3703320"/>
            <a:ext cx="2743200" cy="777240"/>
          </a:xfrm>
          <a:prstGeom prst="rect">
            <a:avLst/>
          </a:prstGeom>
          <a:noFill/>
          <a:ln/>
        </p:spPr>
        <p:txBody>
          <a:bodyPr wrap="square" lIns="0" tIns="0" rIns="0" bIns="0" rtlCol="0" anchor="t"/>
          <a:lstStyle/>
          <a:p>
            <a:pPr indent="0" marL="0">
              <a:buNone/>
            </a:pPr>
            <a:r>
              <a:rPr lang="en-US" sz="950" i="1" dirty="0">
                <a:solidFill>
                  <a:srgbClr val="9CA3AF"/>
                </a:solidFill>
                <a:latin typeface="Calibri" pitchFamily="34" charset="0"/>
                <a:ea typeface="Calibri" pitchFamily="34" charset="-122"/>
                <a:cs typeface="Calibri" pitchFamily="34" charset="-120"/>
              </a:rPr>
              <a:t>We do not size our share. The market number says buyers already pay for this category.</a:t>
            </a:r>
            <a:endParaRPr lang="en-US" sz="950" dirty="0"/>
          </a:p>
        </p:txBody>
      </p:sp>
      <p:sp>
        <p:nvSpPr>
          <p:cNvPr id="10" name="Shape 8"/>
          <p:cNvSpPr/>
          <p:nvPr/>
        </p:nvSpPr>
        <p:spPr>
          <a:xfrm>
            <a:off x="3794760" y="1325880"/>
            <a:ext cx="4892040" cy="987552"/>
          </a:xfrm>
          <a:prstGeom prst="roundRect">
            <a:avLst>
              <a:gd name="adj" fmla="val 7407"/>
            </a:avLst>
          </a:prstGeom>
          <a:solidFill>
            <a:srgbClr val="F3F4F6"/>
          </a:solidFill>
          <a:ln w="9525">
            <a:solidFill>
              <a:srgbClr val="F3F4F6"/>
            </a:solidFill>
            <a:prstDash val="solid"/>
          </a:ln>
        </p:spPr>
      </p:sp>
      <p:sp>
        <p:nvSpPr>
          <p:cNvPr id="11" name="Shape 9"/>
          <p:cNvSpPr/>
          <p:nvPr/>
        </p:nvSpPr>
        <p:spPr>
          <a:xfrm>
            <a:off x="3931920" y="1463040"/>
            <a:ext cx="310896" cy="310896"/>
          </a:xfrm>
          <a:prstGeom prst="ellipse">
            <a:avLst/>
          </a:prstGeom>
          <a:solidFill>
            <a:srgbClr val="D9752B"/>
          </a:solidFill>
          <a:ln w="12700">
            <a:solidFill>
              <a:srgbClr val="D9752B"/>
            </a:solidFill>
            <a:prstDash val="solid"/>
          </a:ln>
        </p:spPr>
      </p:sp>
      <p:sp>
        <p:nvSpPr>
          <p:cNvPr id="12" name="Text 10"/>
          <p:cNvSpPr txBox="1"/>
          <p:nvPr/>
        </p:nvSpPr>
        <p:spPr>
          <a:xfrm>
            <a:off x="3931920" y="14630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3" name="Text 11"/>
          <p:cNvSpPr txBox="1"/>
          <p:nvPr/>
        </p:nvSpPr>
        <p:spPr>
          <a:xfrm>
            <a:off x="4343400" y="1435608"/>
            <a:ext cx="4206240" cy="320040"/>
          </a:xfrm>
          <a:prstGeom prst="rect">
            <a:avLst/>
          </a:prstGeom>
          <a:noFill/>
          <a:ln/>
        </p:spPr>
        <p:txBody>
          <a:bodyPr wrap="square" lIns="0" tIns="0" rIns="0" bIns="0" rtlCol="0" anchor="ctr"/>
          <a:lstStyle/>
          <a:p>
            <a:pPr indent="0" marL="0">
              <a:buNone/>
            </a:pPr>
            <a:r>
              <a:rPr lang="en-US" sz="1250" b="1" dirty="0">
                <a:solidFill>
                  <a:srgbClr val="14181F"/>
                </a:solidFill>
                <a:latin typeface="Cambria" pitchFamily="34" charset="0"/>
                <a:ea typeface="Cambria" pitchFamily="34" charset="-122"/>
                <a:cs typeface="Cambria" pitchFamily="34" charset="-120"/>
              </a:rPr>
              <a:t>Why now</a:t>
            </a:r>
            <a:endParaRPr lang="en-US" sz="1250" dirty="0"/>
          </a:p>
        </p:txBody>
      </p:sp>
      <p:sp>
        <p:nvSpPr>
          <p:cNvPr id="14" name="Text 12"/>
          <p:cNvSpPr txBox="1"/>
          <p:nvPr/>
        </p:nvSpPr>
        <p:spPr>
          <a:xfrm>
            <a:off x="4343400" y="1764792"/>
            <a:ext cx="4206240" cy="530352"/>
          </a:xfrm>
          <a:prstGeom prst="rect">
            <a:avLst/>
          </a:prstGeom>
          <a:noFill/>
          <a:ln/>
        </p:spPr>
        <p:txBody>
          <a:bodyPr wrap="square" lIns="0" tIns="0" rIns="0" bIns="0" rtlCol="0" anchor="t"/>
          <a:lstStyle/>
          <a:p>
            <a:pPr indent="0" marL="0">
              <a:buNone/>
            </a:pPr>
            <a:r>
              <a:rPr lang="en-US" sz="950" dirty="0">
                <a:solidFill>
                  <a:srgbClr val="374151"/>
                </a:solidFill>
                <a:latin typeface="Calibri" pitchFamily="34" charset="0"/>
                <a:ea typeface="Calibri" pitchFamily="34" charset="-122"/>
                <a:cs typeface="Calibri" pitchFamily="34" charset="-120"/>
              </a:rPr>
              <a:t>EV programs mix bought and in-house parts on new part families with no history. Warranty claims rates rose from 1.9% to 2.2% in one year. Attribution fights slow every fix.</a:t>
            </a:r>
            <a:endParaRPr lang="en-US" sz="950" dirty="0"/>
          </a:p>
        </p:txBody>
      </p:sp>
      <p:sp>
        <p:nvSpPr>
          <p:cNvPr id="15" name="Shape 13"/>
          <p:cNvSpPr/>
          <p:nvPr/>
        </p:nvSpPr>
        <p:spPr>
          <a:xfrm>
            <a:off x="3794760" y="2423160"/>
            <a:ext cx="4892040" cy="987552"/>
          </a:xfrm>
          <a:prstGeom prst="roundRect">
            <a:avLst>
              <a:gd name="adj" fmla="val 7407"/>
            </a:avLst>
          </a:prstGeom>
          <a:solidFill>
            <a:srgbClr val="F3F4F6"/>
          </a:solidFill>
          <a:ln w="9525">
            <a:solidFill>
              <a:srgbClr val="F3F4F6"/>
            </a:solidFill>
            <a:prstDash val="solid"/>
          </a:ln>
        </p:spPr>
      </p:sp>
      <p:sp>
        <p:nvSpPr>
          <p:cNvPr id="16" name="Shape 14"/>
          <p:cNvSpPr/>
          <p:nvPr/>
        </p:nvSpPr>
        <p:spPr>
          <a:xfrm>
            <a:off x="3931920" y="2560320"/>
            <a:ext cx="310896" cy="310896"/>
          </a:xfrm>
          <a:prstGeom prst="ellipse">
            <a:avLst/>
          </a:prstGeom>
          <a:solidFill>
            <a:srgbClr val="D9752B"/>
          </a:solidFill>
          <a:ln w="12700">
            <a:solidFill>
              <a:srgbClr val="D9752B"/>
            </a:solidFill>
            <a:prstDash val="solid"/>
          </a:ln>
        </p:spPr>
      </p:sp>
      <p:sp>
        <p:nvSpPr>
          <p:cNvPr id="17" name="Text 15"/>
          <p:cNvSpPr txBox="1"/>
          <p:nvPr/>
        </p:nvSpPr>
        <p:spPr>
          <a:xfrm>
            <a:off x="3931920" y="256032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8" name="Text 16"/>
          <p:cNvSpPr txBox="1"/>
          <p:nvPr/>
        </p:nvSpPr>
        <p:spPr>
          <a:xfrm>
            <a:off x="4343400" y="2532888"/>
            <a:ext cx="4206240" cy="320040"/>
          </a:xfrm>
          <a:prstGeom prst="rect">
            <a:avLst/>
          </a:prstGeom>
          <a:noFill/>
          <a:ln/>
        </p:spPr>
        <p:txBody>
          <a:bodyPr wrap="square" lIns="0" tIns="0" rIns="0" bIns="0" rtlCol="0" anchor="ctr"/>
          <a:lstStyle/>
          <a:p>
            <a:pPr indent="0" marL="0">
              <a:buNone/>
            </a:pPr>
            <a:r>
              <a:rPr lang="en-US" sz="1250" b="1" dirty="0">
                <a:solidFill>
                  <a:srgbClr val="14181F"/>
                </a:solidFill>
                <a:latin typeface="Cambria" pitchFamily="34" charset="0"/>
                <a:ea typeface="Cambria" pitchFamily="34" charset="-122"/>
                <a:cs typeface="Cambria" pitchFamily="34" charset="-120"/>
              </a:rPr>
              <a:t>Where we fit</a:t>
            </a:r>
            <a:endParaRPr lang="en-US" sz="1250" dirty="0"/>
          </a:p>
        </p:txBody>
      </p:sp>
      <p:sp>
        <p:nvSpPr>
          <p:cNvPr id="19" name="Text 17"/>
          <p:cNvSpPr txBox="1"/>
          <p:nvPr/>
        </p:nvSpPr>
        <p:spPr>
          <a:xfrm>
            <a:off x="4343400" y="2862072"/>
            <a:ext cx="4206240" cy="530352"/>
          </a:xfrm>
          <a:prstGeom prst="rect">
            <a:avLst/>
          </a:prstGeom>
          <a:noFill/>
          <a:ln/>
        </p:spPr>
        <p:txBody>
          <a:bodyPr wrap="square" lIns="0" tIns="0" rIns="0" bIns="0" rtlCol="0" anchor="t"/>
          <a:lstStyle/>
          <a:p>
            <a:pPr indent="0" marL="0">
              <a:buNone/>
            </a:pPr>
            <a:r>
              <a:rPr lang="en-US" sz="950" dirty="0">
                <a:solidFill>
                  <a:srgbClr val="374151"/>
                </a:solidFill>
                <a:latin typeface="Calibri" pitchFamily="34" charset="0"/>
                <a:ea typeface="Calibri" pitchFamily="34" charset="-122"/>
                <a:cs typeface="Calibri" pitchFamily="34" charset="-120"/>
              </a:rPr>
              <a:t>A connected-record layer beside MES and QMS, not a replacement. Issue, parts, lots, teams, causes, fixes, verifications and evidence as one graph; existing systems stay the source of their own data.</a:t>
            </a:r>
            <a:endParaRPr lang="en-US" sz="950" dirty="0"/>
          </a:p>
        </p:txBody>
      </p:sp>
      <p:sp>
        <p:nvSpPr>
          <p:cNvPr id="20" name="Shape 18"/>
          <p:cNvSpPr/>
          <p:nvPr/>
        </p:nvSpPr>
        <p:spPr>
          <a:xfrm>
            <a:off x="3794760" y="3520440"/>
            <a:ext cx="4892040" cy="987552"/>
          </a:xfrm>
          <a:prstGeom prst="roundRect">
            <a:avLst>
              <a:gd name="adj" fmla="val 7407"/>
            </a:avLst>
          </a:prstGeom>
          <a:solidFill>
            <a:srgbClr val="F3F4F6"/>
          </a:solidFill>
          <a:ln w="9525">
            <a:solidFill>
              <a:srgbClr val="F3F4F6"/>
            </a:solidFill>
            <a:prstDash val="solid"/>
          </a:ln>
        </p:spPr>
      </p:sp>
      <p:sp>
        <p:nvSpPr>
          <p:cNvPr id="21" name="Shape 19"/>
          <p:cNvSpPr/>
          <p:nvPr/>
        </p:nvSpPr>
        <p:spPr>
          <a:xfrm>
            <a:off x="3931920" y="3657600"/>
            <a:ext cx="310896" cy="310896"/>
          </a:xfrm>
          <a:prstGeom prst="ellipse">
            <a:avLst/>
          </a:prstGeom>
          <a:solidFill>
            <a:srgbClr val="D9752B"/>
          </a:solidFill>
          <a:ln w="12700">
            <a:solidFill>
              <a:srgbClr val="D9752B"/>
            </a:solidFill>
            <a:prstDash val="solid"/>
          </a:ln>
        </p:spPr>
      </p:sp>
      <p:sp>
        <p:nvSpPr>
          <p:cNvPr id="22" name="Text 20"/>
          <p:cNvSpPr txBox="1"/>
          <p:nvPr/>
        </p:nvSpPr>
        <p:spPr>
          <a:xfrm>
            <a:off x="3931920" y="36576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3" name="Text 21"/>
          <p:cNvSpPr txBox="1"/>
          <p:nvPr/>
        </p:nvSpPr>
        <p:spPr>
          <a:xfrm>
            <a:off x="4343400" y="3630168"/>
            <a:ext cx="4206240" cy="320040"/>
          </a:xfrm>
          <a:prstGeom prst="rect">
            <a:avLst/>
          </a:prstGeom>
          <a:noFill/>
          <a:ln/>
        </p:spPr>
        <p:txBody>
          <a:bodyPr wrap="square" lIns="0" tIns="0" rIns="0" bIns="0" rtlCol="0" anchor="ctr"/>
          <a:lstStyle/>
          <a:p>
            <a:pPr indent="0" marL="0">
              <a:buNone/>
            </a:pPr>
            <a:r>
              <a:rPr lang="en-US" sz="1250" b="1" dirty="0">
                <a:solidFill>
                  <a:srgbClr val="14181F"/>
                </a:solidFill>
                <a:latin typeface="Cambria" pitchFamily="34" charset="0"/>
                <a:ea typeface="Cambria" pitchFamily="34" charset="-122"/>
                <a:cs typeface="Cambria" pitchFamily="34" charset="-120"/>
              </a:rPr>
              <a:t>How we would charge</a:t>
            </a:r>
            <a:endParaRPr lang="en-US" sz="1250" dirty="0"/>
          </a:p>
        </p:txBody>
      </p:sp>
      <p:sp>
        <p:nvSpPr>
          <p:cNvPr id="24" name="Text 22"/>
          <p:cNvSpPr txBox="1"/>
          <p:nvPr/>
        </p:nvSpPr>
        <p:spPr>
          <a:xfrm>
            <a:off x="4343400" y="3959352"/>
            <a:ext cx="4206240" cy="530352"/>
          </a:xfrm>
          <a:prstGeom prst="rect">
            <a:avLst/>
          </a:prstGeom>
          <a:noFill/>
          <a:ln/>
        </p:spPr>
        <p:txBody>
          <a:bodyPr wrap="square" lIns="0" tIns="0" rIns="0" bIns="0" rtlCol="0" anchor="t"/>
          <a:lstStyle/>
          <a:p>
            <a:pPr indent="0" marL="0">
              <a:buNone/>
            </a:pPr>
            <a:r>
              <a:rPr lang="en-US" sz="950" dirty="0">
                <a:solidFill>
                  <a:srgbClr val="374151"/>
                </a:solidFill>
                <a:latin typeface="Calibri" pitchFamily="34" charset="0"/>
                <a:ea typeface="Calibri" pitchFamily="34" charset="-122"/>
                <a:cs typeface="Calibri" pitchFamily="34" charset="-120"/>
              </a:rPr>
              <a:t>Per-site pilot first, then per-plant subscription. Pricing follows the three measured pilot numbers: investigation time, repeated issue families, verified fix reuse.</a:t>
            </a:r>
            <a:endParaRPr lang="en-US" sz="950" dirty="0"/>
          </a:p>
        </p:txBody>
      </p:sp>
      <p:sp>
        <p:nvSpPr>
          <p:cNvPr id="25" name="Text 23"/>
          <p:cNvSpPr txBox="1"/>
          <p:nvPr/>
        </p:nvSpPr>
        <p:spPr>
          <a:xfrm>
            <a:off x="457200" y="4754880"/>
            <a:ext cx="82296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Market figures: Fortune Business Insights and Verified Market Research, 2025 editions (analyst estimates, ranges differ by publisher). Claims-rate figure: Warranty Week, Oct 2025.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822960"/>
          </a:xfrm>
          <a:prstGeom prst="rect">
            <a:avLst/>
          </a:prstGeom>
          <a:noFill/>
          <a:ln/>
        </p:spPr>
        <p:txBody>
          <a:bodyPr wrap="square" lIns="0" tIns="0" rIns="0" bIns="0" rtlCol="0" anchor="t">
            <a:normAutofit/>
          </a:bodyPr>
          <a:lstStyle/>
          <a:p>
            <a:pPr indent="0" marL="0">
              <a:buNone/>
            </a:pPr>
            <a:r>
              <a:rPr lang="en-US" sz="2800" b="1" dirty="0">
                <a:solidFill>
                  <a:srgbClr val="14181F"/>
                </a:solidFill>
                <a:latin typeface="Cambria" pitchFamily="34" charset="0"/>
                <a:ea typeface="Cambria" pitchFamily="34" charset="-122"/>
                <a:cs typeface="Cambria" pitchFamily="34" charset="-120"/>
              </a:rPr>
              <a:t>Report from the 3D sketch, save a real record, prove it with this vehicle</a:t>
            </a:r>
            <a:endParaRPr lang="en-US" sz="2800" dirty="0"/>
          </a:p>
        </p:txBody>
      </p:sp>
      <p:sp>
        <p:nvSpPr>
          <p:cNvPr id="3" name="Shape 1"/>
          <p:cNvSpPr/>
          <p:nvPr/>
        </p:nvSpPr>
        <p:spPr>
          <a:xfrm>
            <a:off x="457200" y="1371600"/>
            <a:ext cx="1572768" cy="2834640"/>
          </a:xfrm>
          <a:prstGeom prst="roundRect">
            <a:avLst>
              <a:gd name="adj" fmla="val 4651"/>
            </a:avLst>
          </a:prstGeom>
          <a:solidFill>
            <a:srgbClr val="F3F4F6"/>
          </a:solidFill>
          <a:ln w="9525">
            <a:solidFill>
              <a:srgbClr val="F3F4F6"/>
            </a:solidFill>
            <a:prstDash val="solid"/>
          </a:ln>
        </p:spPr>
      </p:sp>
      <p:sp>
        <p:nvSpPr>
          <p:cNvPr id="4" name="Shape 2"/>
          <p:cNvSpPr/>
          <p:nvPr/>
        </p:nvSpPr>
        <p:spPr>
          <a:xfrm>
            <a:off x="594360" y="1508760"/>
            <a:ext cx="310896" cy="310896"/>
          </a:xfrm>
          <a:prstGeom prst="ellipse">
            <a:avLst/>
          </a:prstGeom>
          <a:solidFill>
            <a:srgbClr val="D9752B"/>
          </a:solidFill>
          <a:ln w="12700">
            <a:solidFill>
              <a:srgbClr val="D9752B"/>
            </a:solidFill>
            <a:prstDash val="solid"/>
          </a:ln>
        </p:spPr>
      </p:sp>
      <p:sp>
        <p:nvSpPr>
          <p:cNvPr id="5" name="Text 3"/>
          <p:cNvSpPr txBox="1"/>
          <p:nvPr/>
        </p:nvSpPr>
        <p:spPr>
          <a:xfrm>
            <a:off x="594360" y="150876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594360" y="1901952"/>
            <a:ext cx="1298448" cy="457200"/>
          </a:xfrm>
          <a:prstGeom prst="rect">
            <a:avLst/>
          </a:prstGeom>
          <a:noFill/>
          <a:ln/>
        </p:spPr>
        <p:txBody>
          <a:bodyPr wrap="square" lIns="0" tIns="0" rIns="0" bIns="0" rtlCol="0" anchor="t"/>
          <a:lstStyle/>
          <a:p>
            <a:pPr indent="0" marL="0">
              <a:buNone/>
            </a:pPr>
            <a:r>
              <a:rPr lang="en-US" sz="1250" b="1" dirty="0">
                <a:solidFill>
                  <a:srgbClr val="14181F"/>
                </a:solidFill>
                <a:latin typeface="Cambria" pitchFamily="34" charset="0"/>
                <a:ea typeface="Cambria" pitchFamily="34" charset="-122"/>
                <a:cs typeface="Cambria" pitchFamily="34" charset="-120"/>
              </a:rPr>
              <a:t>Tap the charge port</a:t>
            </a:r>
            <a:endParaRPr lang="en-US" sz="1250" dirty="0"/>
          </a:p>
        </p:txBody>
      </p:sp>
      <p:sp>
        <p:nvSpPr>
          <p:cNvPr id="7" name="Text 5"/>
          <p:cNvSpPr txBox="1"/>
          <p:nvPr/>
        </p:nvSpPr>
        <p:spPr>
          <a:xfrm>
            <a:off x="594360" y="2395728"/>
            <a:ext cx="1298448" cy="2011680"/>
          </a:xfrm>
          <a:prstGeom prst="rect">
            <a:avLst/>
          </a:prstGeom>
          <a:noFill/>
          <a:ln/>
        </p:spPr>
        <p:txBody>
          <a:bodyPr wrap="square" lIns="0" tIns="0" rIns="0" bIns="0" rtlCol="0" anchor="t"/>
          <a:lstStyle/>
          <a:p>
            <a:pPr indent="0" marL="0">
              <a:buNone/>
            </a:pPr>
            <a:r>
              <a:rPr lang="en-US" sz="950" dirty="0">
                <a:solidFill>
                  <a:srgbClr val="374151"/>
                </a:solidFill>
                <a:latin typeface="Calibri" pitchFamily="34" charset="0"/>
                <a:ea typeface="Calibri" pitchFamily="34" charset="-122"/>
                <a:cs typeface="Calibri" pitchFamily="34" charset="-120"/>
              </a:rPr>
              <a:t>CONN-0005 shows "Bought from supplier · DEMO-SUP-LOT-01"; BRKT-0005 shows "Made in-house · DEMO-MFG-LOT-01 · WO-DEMO-0001". Parts with no record say so. We never invent provenance.</a:t>
            </a:r>
            <a:endParaRPr lang="en-US" sz="950" dirty="0"/>
          </a:p>
        </p:txBody>
      </p:sp>
      <p:sp>
        <p:nvSpPr>
          <p:cNvPr id="8" name="Shape 6"/>
          <p:cNvSpPr/>
          <p:nvPr/>
        </p:nvSpPr>
        <p:spPr>
          <a:xfrm>
            <a:off x="2121408" y="1371600"/>
            <a:ext cx="1572768" cy="2834640"/>
          </a:xfrm>
          <a:prstGeom prst="roundRect">
            <a:avLst>
              <a:gd name="adj" fmla="val 4651"/>
            </a:avLst>
          </a:prstGeom>
          <a:solidFill>
            <a:srgbClr val="F3F4F6"/>
          </a:solidFill>
          <a:ln w="9525">
            <a:solidFill>
              <a:srgbClr val="F3F4F6"/>
            </a:solidFill>
            <a:prstDash val="solid"/>
          </a:ln>
        </p:spPr>
      </p:sp>
      <p:sp>
        <p:nvSpPr>
          <p:cNvPr id="9" name="Shape 7"/>
          <p:cNvSpPr/>
          <p:nvPr/>
        </p:nvSpPr>
        <p:spPr>
          <a:xfrm>
            <a:off x="2258568" y="1508760"/>
            <a:ext cx="310896" cy="310896"/>
          </a:xfrm>
          <a:prstGeom prst="ellipse">
            <a:avLst/>
          </a:prstGeom>
          <a:solidFill>
            <a:srgbClr val="D9752B"/>
          </a:solidFill>
          <a:ln w="12700">
            <a:solidFill>
              <a:srgbClr val="D9752B"/>
            </a:solidFill>
            <a:prstDash val="solid"/>
          </a:ln>
        </p:spPr>
      </p:sp>
      <p:sp>
        <p:nvSpPr>
          <p:cNvPr id="10" name="Text 8"/>
          <p:cNvSpPr txBox="1"/>
          <p:nvPr/>
        </p:nvSpPr>
        <p:spPr>
          <a:xfrm>
            <a:off x="2258568" y="150876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2258568" y="1901952"/>
            <a:ext cx="1298448" cy="457200"/>
          </a:xfrm>
          <a:prstGeom prst="rect">
            <a:avLst/>
          </a:prstGeom>
          <a:noFill/>
          <a:ln/>
        </p:spPr>
        <p:txBody>
          <a:bodyPr wrap="square" lIns="0" tIns="0" rIns="0" bIns="0" rtlCol="0" anchor="t"/>
          <a:lstStyle/>
          <a:p>
            <a:pPr indent="0" marL="0">
              <a:buNone/>
            </a:pPr>
            <a:r>
              <a:rPr lang="en-US" sz="1250" b="1" dirty="0">
                <a:solidFill>
                  <a:srgbClr val="14181F"/>
                </a:solidFill>
                <a:latin typeface="Cambria" pitchFamily="34" charset="0"/>
                <a:ea typeface="Cambria" pitchFamily="34" charset="-122"/>
                <a:cs typeface="Cambria" pitchFamily="34" charset="-120"/>
              </a:rPr>
              <a:t>Report and save</a:t>
            </a:r>
            <a:endParaRPr lang="en-US" sz="1250" dirty="0"/>
          </a:p>
        </p:txBody>
      </p:sp>
      <p:sp>
        <p:nvSpPr>
          <p:cNvPr id="12" name="Text 10"/>
          <p:cNvSpPr txBox="1"/>
          <p:nvPr/>
        </p:nvSpPr>
        <p:spPr>
          <a:xfrm>
            <a:off x="2258568" y="2395728"/>
            <a:ext cx="1298448" cy="2011680"/>
          </a:xfrm>
          <a:prstGeom prst="rect">
            <a:avLst/>
          </a:prstGeom>
          <a:noFill/>
          <a:ln/>
        </p:spPr>
        <p:txBody>
          <a:bodyPr wrap="square" lIns="0" tIns="0" rIns="0" bIns="0" rtlCol="0" anchor="t"/>
          <a:lstStyle/>
          <a:p>
            <a:pPr indent="0" marL="0">
              <a:buNone/>
            </a:pPr>
            <a:r>
              <a:rPr lang="en-US" sz="950" dirty="0">
                <a:solidFill>
                  <a:srgbClr val="374151"/>
                </a:solidFill>
                <a:latin typeface="Calibri" pitchFamily="34" charset="0"/>
                <a:ea typeface="Calibri" pitchFamily="34" charset="-122"/>
                <a:cs typeface="Calibri" pitchFamily="34" charset="-120"/>
              </a:rPr>
              <a:t>Title, severity, defect code, station, process step, reporting team. No CSV, no alert, no model call. Saved as v1 in Neo4j; F5 reloads it with its audit entry.</a:t>
            </a:r>
            <a:endParaRPr lang="en-US" sz="950" dirty="0"/>
          </a:p>
        </p:txBody>
      </p:sp>
      <p:sp>
        <p:nvSpPr>
          <p:cNvPr id="13" name="Shape 11"/>
          <p:cNvSpPr/>
          <p:nvPr/>
        </p:nvSpPr>
        <p:spPr>
          <a:xfrm>
            <a:off x="3785616" y="1371600"/>
            <a:ext cx="1572768" cy="2834640"/>
          </a:xfrm>
          <a:prstGeom prst="roundRect">
            <a:avLst>
              <a:gd name="adj" fmla="val 4651"/>
            </a:avLst>
          </a:prstGeom>
          <a:solidFill>
            <a:srgbClr val="F3F4F6"/>
          </a:solidFill>
          <a:ln w="9525">
            <a:solidFill>
              <a:srgbClr val="F3F4F6"/>
            </a:solidFill>
            <a:prstDash val="solid"/>
          </a:ln>
        </p:spPr>
      </p:sp>
      <p:sp>
        <p:nvSpPr>
          <p:cNvPr id="14" name="Shape 12"/>
          <p:cNvSpPr/>
          <p:nvPr/>
        </p:nvSpPr>
        <p:spPr>
          <a:xfrm>
            <a:off x="3922776" y="1508760"/>
            <a:ext cx="310896" cy="310896"/>
          </a:xfrm>
          <a:prstGeom prst="ellipse">
            <a:avLst/>
          </a:prstGeom>
          <a:solidFill>
            <a:srgbClr val="D9752B"/>
          </a:solidFill>
          <a:ln w="12700">
            <a:solidFill>
              <a:srgbClr val="D9752B"/>
            </a:solidFill>
            <a:prstDash val="solid"/>
          </a:ln>
        </p:spPr>
      </p:sp>
      <p:sp>
        <p:nvSpPr>
          <p:cNvPr id="15" name="Text 13"/>
          <p:cNvSpPr txBox="1"/>
          <p:nvPr/>
        </p:nvSpPr>
        <p:spPr>
          <a:xfrm>
            <a:off x="3922776" y="150876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txBox="1"/>
          <p:nvPr/>
        </p:nvSpPr>
        <p:spPr>
          <a:xfrm>
            <a:off x="3922776" y="1901952"/>
            <a:ext cx="1298448" cy="457200"/>
          </a:xfrm>
          <a:prstGeom prst="rect">
            <a:avLst/>
          </a:prstGeom>
          <a:noFill/>
          <a:ln/>
        </p:spPr>
        <p:txBody>
          <a:bodyPr wrap="square" lIns="0" tIns="0" rIns="0" bIns="0" rtlCol="0" anchor="t"/>
          <a:lstStyle/>
          <a:p>
            <a:pPr indent="0" marL="0">
              <a:buNone/>
            </a:pPr>
            <a:r>
              <a:rPr lang="en-US" sz="1250" b="1" dirty="0">
                <a:solidFill>
                  <a:srgbClr val="14181F"/>
                </a:solidFill>
                <a:latin typeface="Cambria" pitchFamily="34" charset="0"/>
                <a:ea typeface="Cambria" pitchFamily="34" charset="-122"/>
                <a:cs typeface="Cambria" pitchFamily="34" charset="-120"/>
              </a:rPr>
              <a:t>Confirm the cause</a:t>
            </a:r>
            <a:endParaRPr lang="en-US" sz="1250" dirty="0"/>
          </a:p>
        </p:txBody>
      </p:sp>
      <p:sp>
        <p:nvSpPr>
          <p:cNvPr id="17" name="Text 15"/>
          <p:cNvSpPr txBox="1"/>
          <p:nvPr/>
        </p:nvSpPr>
        <p:spPr>
          <a:xfrm>
            <a:off x="3922776" y="2395728"/>
            <a:ext cx="1298448" cy="2011680"/>
          </a:xfrm>
          <a:prstGeom prst="rect">
            <a:avLst/>
          </a:prstGeom>
          <a:noFill/>
          <a:ln/>
        </p:spPr>
        <p:txBody>
          <a:bodyPr wrap="square" lIns="0" tIns="0" rIns="0" bIns="0" rtlCol="0" anchor="t"/>
          <a:lstStyle/>
          <a:p>
            <a:pPr indent="0" marL="0">
              <a:buNone/>
            </a:pPr>
            <a:r>
              <a:rPr lang="en-US" sz="950" dirty="0">
                <a:solidFill>
                  <a:srgbClr val="374151"/>
                </a:solidFill>
                <a:latin typeface="Calibri" pitchFamily="34" charset="0"/>
                <a:ea typeface="Calibri" pitchFamily="34" charset="-122"/>
                <a:cs typeface="Calibri" pitchFamily="34" charset="-120"/>
              </a:rPr>
              <a:t>Cause assessment: confirmed, type in-house manufacturing, team In-house Manufacturing, step Bracket forming. Header now separates reporter, assignee and confirmed causal team.</a:t>
            </a:r>
            <a:endParaRPr lang="en-US" sz="950" dirty="0"/>
          </a:p>
        </p:txBody>
      </p:sp>
      <p:sp>
        <p:nvSpPr>
          <p:cNvPr id="18" name="Shape 16"/>
          <p:cNvSpPr/>
          <p:nvPr/>
        </p:nvSpPr>
        <p:spPr>
          <a:xfrm>
            <a:off x="5449824" y="1371600"/>
            <a:ext cx="1572768" cy="2834640"/>
          </a:xfrm>
          <a:prstGeom prst="roundRect">
            <a:avLst>
              <a:gd name="adj" fmla="val 4651"/>
            </a:avLst>
          </a:prstGeom>
          <a:solidFill>
            <a:srgbClr val="F3F4F6"/>
          </a:solidFill>
          <a:ln w="9525">
            <a:solidFill>
              <a:srgbClr val="F3F4F6"/>
            </a:solidFill>
            <a:prstDash val="solid"/>
          </a:ln>
        </p:spPr>
      </p:sp>
      <p:sp>
        <p:nvSpPr>
          <p:cNvPr id="19" name="Shape 17"/>
          <p:cNvSpPr/>
          <p:nvPr/>
        </p:nvSpPr>
        <p:spPr>
          <a:xfrm>
            <a:off x="5586984" y="1508760"/>
            <a:ext cx="310896" cy="310896"/>
          </a:xfrm>
          <a:prstGeom prst="ellipse">
            <a:avLst/>
          </a:prstGeom>
          <a:solidFill>
            <a:srgbClr val="D9752B"/>
          </a:solidFill>
          <a:ln w="12700">
            <a:solidFill>
              <a:srgbClr val="D9752B"/>
            </a:solidFill>
            <a:prstDash val="solid"/>
          </a:ln>
        </p:spPr>
      </p:sp>
      <p:sp>
        <p:nvSpPr>
          <p:cNvPr id="20" name="Text 18"/>
          <p:cNvSpPr txBox="1"/>
          <p:nvPr/>
        </p:nvSpPr>
        <p:spPr>
          <a:xfrm>
            <a:off x="5586984" y="150876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1" name="Text 19"/>
          <p:cNvSpPr txBox="1"/>
          <p:nvPr/>
        </p:nvSpPr>
        <p:spPr>
          <a:xfrm>
            <a:off x="5586984" y="1901952"/>
            <a:ext cx="1298448" cy="457200"/>
          </a:xfrm>
          <a:prstGeom prst="rect">
            <a:avLst/>
          </a:prstGeom>
          <a:noFill/>
          <a:ln/>
        </p:spPr>
        <p:txBody>
          <a:bodyPr wrap="square" lIns="0" tIns="0" rIns="0" bIns="0" rtlCol="0" anchor="t"/>
          <a:lstStyle/>
          <a:p>
            <a:pPr indent="0" marL="0">
              <a:buNone/>
            </a:pPr>
            <a:r>
              <a:rPr lang="en-US" sz="1250" b="1" dirty="0">
                <a:solidFill>
                  <a:srgbClr val="14181F"/>
                </a:solidFill>
                <a:latin typeface="Cambria" pitchFamily="34" charset="0"/>
                <a:ea typeface="Cambria" pitchFamily="34" charset="-122"/>
                <a:cs typeface="Cambria" pitchFamily="34" charset="-120"/>
              </a:rPr>
              <a:t>Reuse a verified fix</a:t>
            </a:r>
            <a:endParaRPr lang="en-US" sz="1250" dirty="0"/>
          </a:p>
        </p:txBody>
      </p:sp>
      <p:sp>
        <p:nvSpPr>
          <p:cNvPr id="22" name="Text 20"/>
          <p:cNvSpPr txBox="1"/>
          <p:nvPr/>
        </p:nvSpPr>
        <p:spPr>
          <a:xfrm>
            <a:off x="5586984" y="2395728"/>
            <a:ext cx="1298448" cy="2011680"/>
          </a:xfrm>
          <a:prstGeom prst="rect">
            <a:avLst/>
          </a:prstGeom>
          <a:noFill/>
          <a:ln/>
        </p:spPr>
        <p:txBody>
          <a:bodyPr wrap="square" lIns="0" tIns="0" rIns="0" bIns="0" rtlCol="0" anchor="t"/>
          <a:lstStyle/>
          <a:p>
            <a:pPr indent="0" marL="0">
              <a:buNone/>
            </a:pPr>
            <a:r>
              <a:rPr lang="en-US" sz="950" dirty="0">
                <a:solidFill>
                  <a:srgbClr val="374151"/>
                </a:solidFill>
                <a:latin typeface="Calibri" pitchFamily="34" charset="0"/>
                <a:ea typeface="Calibri" pitchFamily="34" charset="-122"/>
                <a:cs typeface="Calibri" pitchFamily="34" charset="-120"/>
              </a:rPr>
              <a:t>Graph retrieval returns the bracket fix verified on DEMO-EV-002 with match reasons and limits. Reuse creates a new proposal; the original is never edited.</a:t>
            </a:r>
            <a:endParaRPr lang="en-US" sz="950" dirty="0"/>
          </a:p>
        </p:txBody>
      </p:sp>
      <p:sp>
        <p:nvSpPr>
          <p:cNvPr id="23" name="Shape 21"/>
          <p:cNvSpPr/>
          <p:nvPr/>
        </p:nvSpPr>
        <p:spPr>
          <a:xfrm>
            <a:off x="7114032" y="1371600"/>
            <a:ext cx="1572768" cy="2834640"/>
          </a:xfrm>
          <a:prstGeom prst="roundRect">
            <a:avLst>
              <a:gd name="adj" fmla="val 4651"/>
            </a:avLst>
          </a:prstGeom>
          <a:solidFill>
            <a:srgbClr val="F3F4F6"/>
          </a:solidFill>
          <a:ln w="9525">
            <a:solidFill>
              <a:srgbClr val="F3F4F6"/>
            </a:solidFill>
            <a:prstDash val="solid"/>
          </a:ln>
        </p:spPr>
      </p:sp>
      <p:sp>
        <p:nvSpPr>
          <p:cNvPr id="24" name="Shape 22"/>
          <p:cNvSpPr/>
          <p:nvPr/>
        </p:nvSpPr>
        <p:spPr>
          <a:xfrm>
            <a:off x="7251192" y="1508760"/>
            <a:ext cx="310896" cy="310896"/>
          </a:xfrm>
          <a:prstGeom prst="ellipse">
            <a:avLst/>
          </a:prstGeom>
          <a:solidFill>
            <a:srgbClr val="D9752B"/>
          </a:solidFill>
          <a:ln w="12700">
            <a:solidFill>
              <a:srgbClr val="D9752B"/>
            </a:solidFill>
            <a:prstDash val="solid"/>
          </a:ln>
        </p:spPr>
      </p:sp>
      <p:sp>
        <p:nvSpPr>
          <p:cNvPr id="25" name="Text 23"/>
          <p:cNvSpPr txBox="1"/>
          <p:nvPr/>
        </p:nvSpPr>
        <p:spPr>
          <a:xfrm>
            <a:off x="7251192" y="150876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6" name="Text 24"/>
          <p:cNvSpPr txBox="1"/>
          <p:nvPr/>
        </p:nvSpPr>
        <p:spPr>
          <a:xfrm>
            <a:off x="7251192" y="1901952"/>
            <a:ext cx="1298448" cy="457200"/>
          </a:xfrm>
          <a:prstGeom prst="rect">
            <a:avLst/>
          </a:prstGeom>
          <a:noFill/>
          <a:ln/>
        </p:spPr>
        <p:txBody>
          <a:bodyPr wrap="square" lIns="0" tIns="0" rIns="0" bIns="0" rtlCol="0" anchor="t"/>
          <a:lstStyle/>
          <a:p>
            <a:pPr indent="0" marL="0">
              <a:buNone/>
            </a:pPr>
            <a:r>
              <a:rPr lang="en-US" sz="1250" b="1" dirty="0">
                <a:solidFill>
                  <a:srgbClr val="14181F"/>
                </a:solidFill>
                <a:latin typeface="Cambria" pitchFamily="34" charset="0"/>
                <a:ea typeface="Cambria" pitchFamily="34" charset="-122"/>
                <a:cs typeface="Cambria" pitchFamily="34" charset="-120"/>
              </a:rPr>
              <a:t>Fail, then pass, then close</a:t>
            </a:r>
            <a:endParaRPr lang="en-US" sz="1250" dirty="0"/>
          </a:p>
        </p:txBody>
      </p:sp>
      <p:sp>
        <p:nvSpPr>
          <p:cNvPr id="27" name="Text 25"/>
          <p:cNvSpPr txBox="1"/>
          <p:nvPr/>
        </p:nvSpPr>
        <p:spPr>
          <a:xfrm>
            <a:off x="7251192" y="2395728"/>
            <a:ext cx="1298448" cy="2011680"/>
          </a:xfrm>
          <a:prstGeom prst="rect">
            <a:avLst/>
          </a:prstGeom>
          <a:noFill/>
          <a:ln/>
        </p:spPr>
        <p:txBody>
          <a:bodyPr wrap="square" lIns="0" tIns="0" rIns="0" bIns="0" rtlCol="0" anchor="t"/>
          <a:lstStyle/>
          <a:p>
            <a:pPr indent="0" marL="0">
              <a:buNone/>
            </a:pPr>
            <a:r>
              <a:rPr lang="en-US" sz="950" dirty="0">
                <a:solidFill>
                  <a:srgbClr val="374151"/>
                </a:solidFill>
                <a:latin typeface="Calibri" pitchFamily="34" charset="0"/>
                <a:ea typeface="Calibri" pitchFamily="34" charset="-122"/>
                <a:cs typeface="Calibri" pitchFamily="34" charset="-120"/>
              </a:rPr>
              <a:t>Close stays disabled until a passed verification of the applied fix. A failed verification is kept, status returns to in progress, then pass and close. Reopen keeps the full history.</a:t>
            </a:r>
            <a:endParaRPr lang="en-US" sz="950" dirty="0"/>
          </a:p>
        </p:txBody>
      </p:sp>
      <p:sp>
        <p:nvSpPr>
          <p:cNvPr id="28" name="Text 26"/>
          <p:cNvSpPr txBox="1"/>
          <p:nvPr/>
        </p:nvSpPr>
        <p:spPr>
          <a:xfrm>
            <a:off x="457200" y="4754880"/>
            <a:ext cx="82296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Every state above was cross-checked in the browser by reading the issue back through GET /api/issues/:id in graph mode (docs/evidence/BROWSER_ACCEPTANCE_RUN_2026-09-12.md).</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81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822960"/>
          </a:xfrm>
          <a:prstGeom prst="rect">
            <a:avLst/>
          </a:prstGeom>
          <a:noFill/>
          <a:ln/>
        </p:spPr>
        <p:txBody>
          <a:bodyPr wrap="square" lIns="0" tIns="0" rIns="0" bIns="0" rtlCol="0" anchor="t">
            <a:normAutofit/>
          </a:bodyPr>
          <a:lstStyle/>
          <a:p>
            <a:pPr indent="0" marL="0">
              <a:buNone/>
            </a:pPr>
            <a:r>
              <a:rPr lang="en-US" sz="2800" b="1" dirty="0">
                <a:solidFill>
                  <a:srgbClr val="FFFFFF"/>
                </a:solidFill>
                <a:latin typeface="Cambria" pitchFamily="34" charset="0"/>
                <a:ea typeface="Cambria" pitchFamily="34" charset="-122"/>
                <a:cs typeface="Cambria" pitchFamily="34" charset="-120"/>
              </a:rPr>
              <a:t>Why Neo4j: the questions are relationship questions</a:t>
            </a:r>
            <a:endParaRPr lang="en-US" sz="2800" dirty="0"/>
          </a:p>
        </p:txBody>
      </p:sp>
      <p:sp>
        <p:nvSpPr>
          <p:cNvPr id="3" name="Shape 1"/>
          <p:cNvSpPr/>
          <p:nvPr/>
        </p:nvSpPr>
        <p:spPr>
          <a:xfrm>
            <a:off x="457200" y="1325880"/>
            <a:ext cx="4206240" cy="3246120"/>
          </a:xfrm>
          <a:prstGeom prst="roundRect">
            <a:avLst>
              <a:gd name="adj" fmla="val 2254"/>
            </a:avLst>
          </a:prstGeom>
          <a:solidFill>
            <a:srgbClr val="1E242E"/>
          </a:solidFill>
          <a:ln w="9525">
            <a:solidFill>
              <a:srgbClr val="2C3440"/>
            </a:solidFill>
            <a:prstDash val="solid"/>
          </a:ln>
        </p:spPr>
      </p:sp>
      <p:sp>
        <p:nvSpPr>
          <p:cNvPr id="4" name="Shape 2"/>
          <p:cNvSpPr/>
          <p:nvPr/>
        </p:nvSpPr>
        <p:spPr>
          <a:xfrm>
            <a:off x="640080" y="1554480"/>
            <a:ext cx="1051560" cy="365760"/>
          </a:xfrm>
          <a:prstGeom prst="roundRect">
            <a:avLst>
              <a:gd name="adj" fmla="val 20000"/>
            </a:avLst>
          </a:prstGeom>
          <a:solidFill>
            <a:srgbClr val="4B5563"/>
          </a:solidFill>
          <a:ln w="12700">
            <a:solidFill>
              <a:srgbClr val="4B5563"/>
            </a:solidFill>
            <a:prstDash val="solid"/>
          </a:ln>
        </p:spPr>
      </p:sp>
      <p:sp>
        <p:nvSpPr>
          <p:cNvPr id="5" name="Text 3"/>
          <p:cNvSpPr txBox="1"/>
          <p:nvPr/>
        </p:nvSpPr>
        <p:spPr>
          <a:xfrm>
            <a:off x="640080" y="1554480"/>
            <a:ext cx="1051560" cy="3657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Supplier</a:t>
            </a:r>
            <a:endParaRPr lang="en-US" sz="900" dirty="0"/>
          </a:p>
        </p:txBody>
      </p:sp>
      <p:sp>
        <p:nvSpPr>
          <p:cNvPr id="6" name="Shape 4"/>
          <p:cNvSpPr/>
          <p:nvPr/>
        </p:nvSpPr>
        <p:spPr>
          <a:xfrm>
            <a:off x="2011680" y="1554480"/>
            <a:ext cx="1051560" cy="365760"/>
          </a:xfrm>
          <a:prstGeom prst="roundRect">
            <a:avLst>
              <a:gd name="adj" fmla="val 20000"/>
            </a:avLst>
          </a:prstGeom>
          <a:solidFill>
            <a:srgbClr val="B85E1C"/>
          </a:solidFill>
          <a:ln w="12700">
            <a:solidFill>
              <a:srgbClr val="B85E1C"/>
            </a:solidFill>
            <a:prstDash val="solid"/>
          </a:ln>
        </p:spPr>
      </p:sp>
      <p:sp>
        <p:nvSpPr>
          <p:cNvPr id="7" name="Text 5"/>
          <p:cNvSpPr txBox="1"/>
          <p:nvPr/>
        </p:nvSpPr>
        <p:spPr>
          <a:xfrm>
            <a:off x="2011680" y="1554480"/>
            <a:ext cx="1051560" cy="3657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SupplierLot</a:t>
            </a:r>
            <a:endParaRPr lang="en-US" sz="900" dirty="0"/>
          </a:p>
        </p:txBody>
      </p:sp>
      <p:sp>
        <p:nvSpPr>
          <p:cNvPr id="8" name="Shape 6"/>
          <p:cNvSpPr/>
          <p:nvPr/>
        </p:nvSpPr>
        <p:spPr>
          <a:xfrm>
            <a:off x="3383280" y="1554480"/>
            <a:ext cx="1051560" cy="365760"/>
          </a:xfrm>
          <a:prstGeom prst="roundRect">
            <a:avLst>
              <a:gd name="adj" fmla="val 20000"/>
            </a:avLst>
          </a:prstGeom>
          <a:solidFill>
            <a:srgbClr val="3E8E6E"/>
          </a:solidFill>
          <a:ln w="12700">
            <a:solidFill>
              <a:srgbClr val="3E8E6E"/>
            </a:solidFill>
            <a:prstDash val="solid"/>
          </a:ln>
        </p:spPr>
      </p:sp>
      <p:sp>
        <p:nvSpPr>
          <p:cNvPr id="9" name="Text 7"/>
          <p:cNvSpPr txBox="1"/>
          <p:nvPr/>
        </p:nvSpPr>
        <p:spPr>
          <a:xfrm>
            <a:off x="3383280" y="1554480"/>
            <a:ext cx="1051560" cy="3657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MfgLot</a:t>
            </a:r>
            <a:endParaRPr lang="en-US" sz="900" dirty="0"/>
          </a:p>
        </p:txBody>
      </p:sp>
      <p:sp>
        <p:nvSpPr>
          <p:cNvPr id="10" name="Shape 8"/>
          <p:cNvSpPr/>
          <p:nvPr/>
        </p:nvSpPr>
        <p:spPr>
          <a:xfrm>
            <a:off x="1691640" y="1737360"/>
            <a:ext cx="320040" cy="0"/>
          </a:xfrm>
          <a:prstGeom prst="line">
            <a:avLst/>
          </a:prstGeom>
          <a:noFill/>
          <a:ln w="12700">
            <a:solidFill>
              <a:srgbClr val="9CA3AF"/>
            </a:solidFill>
            <a:prstDash val="solid"/>
            <a:tailEnd type="triangle"/>
          </a:ln>
        </p:spPr>
      </p:sp>
      <p:sp>
        <p:nvSpPr>
          <p:cNvPr id="11" name="Text 9"/>
          <p:cNvSpPr txBox="1"/>
          <p:nvPr/>
        </p:nvSpPr>
        <p:spPr>
          <a:xfrm>
            <a:off x="1417320" y="1371600"/>
            <a:ext cx="868680" cy="182880"/>
          </a:xfrm>
          <a:prstGeom prst="rect">
            <a:avLst/>
          </a:prstGeom>
          <a:noFill/>
          <a:ln/>
        </p:spPr>
        <p:txBody>
          <a:bodyPr wrap="square" lIns="0" tIns="0" rIns="0" bIns="0" rtlCol="0" anchor="ctr"/>
          <a:lstStyle/>
          <a:p>
            <a:pPr algn="ctr" indent="0" marL="0">
              <a:buNone/>
            </a:pPr>
            <a:r>
              <a:rPr lang="en-US" sz="700" dirty="0">
                <a:solidFill>
                  <a:srgbClr val="9CA3AF"/>
                </a:solidFill>
                <a:latin typeface="Calibri" pitchFamily="34" charset="0"/>
                <a:ea typeface="Calibri" pitchFamily="34" charset="-122"/>
                <a:cs typeface="Calibri" pitchFamily="34" charset="-120"/>
              </a:rPr>
              <a:t>SUPPLIED_BY</a:t>
            </a:r>
            <a:endParaRPr lang="en-US" sz="700" dirty="0"/>
          </a:p>
        </p:txBody>
      </p:sp>
      <p:sp>
        <p:nvSpPr>
          <p:cNvPr id="12" name="Shape 10"/>
          <p:cNvSpPr/>
          <p:nvPr/>
        </p:nvSpPr>
        <p:spPr>
          <a:xfrm>
            <a:off x="2011680" y="2377440"/>
            <a:ext cx="1051560" cy="365760"/>
          </a:xfrm>
          <a:prstGeom prst="roundRect">
            <a:avLst>
              <a:gd name="adj" fmla="val 20000"/>
            </a:avLst>
          </a:prstGeom>
          <a:solidFill>
            <a:srgbClr val="374151"/>
          </a:solidFill>
          <a:ln w="12700">
            <a:solidFill>
              <a:srgbClr val="374151"/>
            </a:solidFill>
            <a:prstDash val="solid"/>
          </a:ln>
        </p:spPr>
      </p:sp>
      <p:sp>
        <p:nvSpPr>
          <p:cNvPr id="13" name="Text 11"/>
          <p:cNvSpPr txBox="1"/>
          <p:nvPr/>
        </p:nvSpPr>
        <p:spPr>
          <a:xfrm>
            <a:off x="2011680" y="2377440"/>
            <a:ext cx="1051560" cy="3657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Origin</a:t>
            </a:r>
            <a:endParaRPr lang="en-US" sz="900" dirty="0"/>
          </a:p>
        </p:txBody>
      </p:sp>
      <p:sp>
        <p:nvSpPr>
          <p:cNvPr id="14" name="Shape 12"/>
          <p:cNvSpPr/>
          <p:nvPr/>
        </p:nvSpPr>
        <p:spPr>
          <a:xfrm>
            <a:off x="2532888" y="1920240"/>
            <a:ext cx="0" cy="457200"/>
          </a:xfrm>
          <a:prstGeom prst="line">
            <a:avLst/>
          </a:prstGeom>
          <a:noFill/>
          <a:ln w="12700">
            <a:solidFill>
              <a:srgbClr val="9CA3AF"/>
            </a:solidFill>
            <a:prstDash val="solid"/>
            <a:tailEnd type="triangle"/>
          </a:ln>
        </p:spPr>
      </p:sp>
      <p:sp>
        <p:nvSpPr>
          <p:cNvPr id="15" name="Text 13"/>
          <p:cNvSpPr txBox="1"/>
          <p:nvPr/>
        </p:nvSpPr>
        <p:spPr>
          <a:xfrm>
            <a:off x="2560320" y="1984248"/>
            <a:ext cx="1005840" cy="182880"/>
          </a:xfrm>
          <a:prstGeom prst="rect">
            <a:avLst/>
          </a:prstGeom>
          <a:noFill/>
          <a:ln/>
        </p:spPr>
        <p:txBody>
          <a:bodyPr wrap="square" lIns="0" tIns="0" rIns="0" bIns="0" rtlCol="0" anchor="ctr"/>
          <a:lstStyle/>
          <a:p>
            <a:pPr algn="ctr" indent="0" marL="0">
              <a:buNone/>
            </a:pPr>
            <a:r>
              <a:rPr lang="en-US" sz="700" dirty="0">
                <a:solidFill>
                  <a:srgbClr val="9CA3AF"/>
                </a:solidFill>
                <a:latin typeface="Calibri" pitchFamily="34" charset="0"/>
                <a:ea typeface="Calibri" pitchFamily="34" charset="-122"/>
                <a:cs typeface="Calibri" pitchFamily="34" charset="-120"/>
              </a:rPr>
              <a:t>FROM_SUPPLIER_LOT</a:t>
            </a:r>
            <a:endParaRPr lang="en-US" sz="700" dirty="0"/>
          </a:p>
        </p:txBody>
      </p:sp>
      <p:sp>
        <p:nvSpPr>
          <p:cNvPr id="16" name="Shape 14"/>
          <p:cNvSpPr/>
          <p:nvPr/>
        </p:nvSpPr>
        <p:spPr>
          <a:xfrm>
            <a:off x="3063240" y="2560320"/>
            <a:ext cx="320040" cy="0"/>
          </a:xfrm>
          <a:prstGeom prst="line">
            <a:avLst/>
          </a:prstGeom>
          <a:noFill/>
          <a:ln w="12700">
            <a:solidFill>
              <a:srgbClr val="9CA3AF"/>
            </a:solidFill>
            <a:prstDash val="solid"/>
            <a:tailEnd type="triangle"/>
          </a:ln>
        </p:spPr>
      </p:sp>
      <p:sp>
        <p:nvSpPr>
          <p:cNvPr id="17" name="Text 15"/>
          <p:cNvSpPr txBox="1"/>
          <p:nvPr/>
        </p:nvSpPr>
        <p:spPr>
          <a:xfrm>
            <a:off x="2971800" y="2743200"/>
            <a:ext cx="640080" cy="182880"/>
          </a:xfrm>
          <a:prstGeom prst="rect">
            <a:avLst/>
          </a:prstGeom>
          <a:noFill/>
          <a:ln/>
        </p:spPr>
        <p:txBody>
          <a:bodyPr wrap="square" lIns="0" tIns="0" rIns="0" bIns="0" rtlCol="0" anchor="ctr"/>
          <a:lstStyle/>
          <a:p>
            <a:pPr algn="ctr" indent="0" marL="0">
              <a:buNone/>
            </a:pPr>
            <a:r>
              <a:rPr lang="en-US" sz="700" dirty="0">
                <a:solidFill>
                  <a:srgbClr val="9CA3AF"/>
                </a:solidFill>
                <a:latin typeface="Calibri" pitchFamily="34" charset="0"/>
                <a:ea typeface="Calibri" pitchFamily="34" charset="-122"/>
                <a:cs typeface="Calibri" pitchFamily="34" charset="-120"/>
              </a:rPr>
              <a:t>PRODUCED_IN</a:t>
            </a:r>
            <a:endParaRPr lang="en-US" sz="700" dirty="0"/>
          </a:p>
        </p:txBody>
      </p:sp>
      <p:sp>
        <p:nvSpPr>
          <p:cNvPr id="18" name="Shape 16"/>
          <p:cNvSpPr/>
          <p:nvPr/>
        </p:nvSpPr>
        <p:spPr>
          <a:xfrm>
            <a:off x="3383280" y="2377440"/>
            <a:ext cx="1051560" cy="365760"/>
          </a:xfrm>
          <a:prstGeom prst="roundRect">
            <a:avLst>
              <a:gd name="adj" fmla="val 20000"/>
            </a:avLst>
          </a:prstGeom>
          <a:solidFill>
            <a:srgbClr val="4B5563"/>
          </a:solidFill>
          <a:ln w="12700">
            <a:solidFill>
              <a:srgbClr val="4B5563"/>
            </a:solidFill>
            <a:prstDash val="solid"/>
          </a:ln>
        </p:spPr>
      </p:sp>
      <p:sp>
        <p:nvSpPr>
          <p:cNvPr id="19" name="Text 17"/>
          <p:cNvSpPr txBox="1"/>
          <p:nvPr/>
        </p:nvSpPr>
        <p:spPr>
          <a:xfrm>
            <a:off x="3383280" y="2377440"/>
            <a:ext cx="1051560" cy="3657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Team</a:t>
            </a:r>
            <a:endParaRPr lang="en-US" sz="900" dirty="0"/>
          </a:p>
        </p:txBody>
      </p:sp>
      <p:sp>
        <p:nvSpPr>
          <p:cNvPr id="20" name="Shape 18"/>
          <p:cNvSpPr/>
          <p:nvPr/>
        </p:nvSpPr>
        <p:spPr>
          <a:xfrm>
            <a:off x="3904488" y="1920240"/>
            <a:ext cx="0" cy="457200"/>
          </a:xfrm>
          <a:prstGeom prst="line">
            <a:avLst/>
          </a:prstGeom>
          <a:noFill/>
          <a:ln w="12700">
            <a:solidFill>
              <a:srgbClr val="9CA3AF"/>
            </a:solidFill>
            <a:prstDash val="solid"/>
            <a:tailEnd type="triangle"/>
          </a:ln>
        </p:spPr>
      </p:sp>
      <p:sp>
        <p:nvSpPr>
          <p:cNvPr id="21" name="Text 19"/>
          <p:cNvSpPr txBox="1"/>
          <p:nvPr/>
        </p:nvSpPr>
        <p:spPr>
          <a:xfrm>
            <a:off x="3931920" y="1984248"/>
            <a:ext cx="548640" cy="182880"/>
          </a:xfrm>
          <a:prstGeom prst="rect">
            <a:avLst/>
          </a:prstGeom>
          <a:noFill/>
          <a:ln/>
        </p:spPr>
        <p:txBody>
          <a:bodyPr wrap="square" lIns="0" tIns="0" rIns="0" bIns="0" rtlCol="0" anchor="ctr"/>
          <a:lstStyle/>
          <a:p>
            <a:pPr algn="ctr" indent="0" marL="0">
              <a:buNone/>
            </a:pPr>
            <a:r>
              <a:rPr lang="en-US" sz="700" dirty="0">
                <a:solidFill>
                  <a:srgbClr val="9CA3AF"/>
                </a:solidFill>
                <a:latin typeface="Calibri" pitchFamily="34" charset="0"/>
                <a:ea typeface="Calibri" pitchFamily="34" charset="-122"/>
                <a:cs typeface="Calibri" pitchFamily="34" charset="-120"/>
              </a:rPr>
              <a:t>MADE_BY</a:t>
            </a:r>
            <a:endParaRPr lang="en-US" sz="700" dirty="0"/>
          </a:p>
        </p:txBody>
      </p:sp>
      <p:sp>
        <p:nvSpPr>
          <p:cNvPr id="22" name="Shape 20"/>
          <p:cNvSpPr/>
          <p:nvPr/>
        </p:nvSpPr>
        <p:spPr>
          <a:xfrm>
            <a:off x="640080" y="2377440"/>
            <a:ext cx="1051560" cy="365760"/>
          </a:xfrm>
          <a:prstGeom prst="roundRect">
            <a:avLst>
              <a:gd name="adj" fmla="val 20000"/>
            </a:avLst>
          </a:prstGeom>
          <a:solidFill>
            <a:srgbClr val="374151"/>
          </a:solidFill>
          <a:ln w="12700">
            <a:solidFill>
              <a:srgbClr val="374151"/>
            </a:solidFill>
            <a:prstDash val="solid"/>
          </a:ln>
        </p:spPr>
      </p:sp>
      <p:sp>
        <p:nvSpPr>
          <p:cNvPr id="23" name="Text 21"/>
          <p:cNvSpPr txBox="1"/>
          <p:nvPr/>
        </p:nvSpPr>
        <p:spPr>
          <a:xfrm>
            <a:off x="640080" y="2377440"/>
            <a:ext cx="1051560" cy="3657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Entity (part)</a:t>
            </a:r>
            <a:endParaRPr lang="en-US" sz="900" dirty="0"/>
          </a:p>
        </p:txBody>
      </p:sp>
      <p:sp>
        <p:nvSpPr>
          <p:cNvPr id="24" name="Shape 22"/>
          <p:cNvSpPr/>
          <p:nvPr/>
        </p:nvSpPr>
        <p:spPr>
          <a:xfrm>
            <a:off x="1691640" y="2560320"/>
            <a:ext cx="320040" cy="0"/>
          </a:xfrm>
          <a:prstGeom prst="line">
            <a:avLst/>
          </a:prstGeom>
          <a:noFill/>
          <a:ln w="12700">
            <a:solidFill>
              <a:srgbClr val="9CA3AF"/>
            </a:solidFill>
            <a:prstDash val="solid"/>
            <a:tailEnd type="triangle"/>
          </a:ln>
        </p:spPr>
      </p:sp>
      <p:sp>
        <p:nvSpPr>
          <p:cNvPr id="25" name="Text 23"/>
          <p:cNvSpPr txBox="1"/>
          <p:nvPr/>
        </p:nvSpPr>
        <p:spPr>
          <a:xfrm>
            <a:off x="1554480" y="2761488"/>
            <a:ext cx="594360" cy="182880"/>
          </a:xfrm>
          <a:prstGeom prst="rect">
            <a:avLst/>
          </a:prstGeom>
          <a:noFill/>
          <a:ln/>
        </p:spPr>
        <p:txBody>
          <a:bodyPr wrap="square" lIns="0" tIns="0" rIns="0" bIns="0" rtlCol="0" anchor="ctr"/>
          <a:lstStyle/>
          <a:p>
            <a:pPr algn="ctr" indent="0" marL="0">
              <a:buNone/>
            </a:pPr>
            <a:r>
              <a:rPr lang="en-US" sz="700" dirty="0">
                <a:solidFill>
                  <a:srgbClr val="9CA3AF"/>
                </a:solidFill>
                <a:latin typeface="Calibri" pitchFamily="34" charset="0"/>
                <a:ea typeface="Calibri" pitchFamily="34" charset="-122"/>
                <a:cs typeface="Calibri" pitchFamily="34" charset="-120"/>
              </a:rPr>
              <a:t>HAS_ORIGIN</a:t>
            </a:r>
            <a:endParaRPr lang="en-US" sz="700" dirty="0"/>
          </a:p>
        </p:txBody>
      </p:sp>
      <p:sp>
        <p:nvSpPr>
          <p:cNvPr id="26" name="Shape 24"/>
          <p:cNvSpPr/>
          <p:nvPr/>
        </p:nvSpPr>
        <p:spPr>
          <a:xfrm>
            <a:off x="640080" y="3200400"/>
            <a:ext cx="1051560" cy="365760"/>
          </a:xfrm>
          <a:prstGeom prst="roundRect">
            <a:avLst>
              <a:gd name="adj" fmla="val 20000"/>
            </a:avLst>
          </a:prstGeom>
          <a:solidFill>
            <a:srgbClr val="374151"/>
          </a:solidFill>
          <a:ln w="12700">
            <a:solidFill>
              <a:srgbClr val="374151"/>
            </a:solidFill>
            <a:prstDash val="solid"/>
          </a:ln>
        </p:spPr>
      </p:sp>
      <p:sp>
        <p:nvSpPr>
          <p:cNvPr id="27" name="Text 25"/>
          <p:cNvSpPr txBox="1"/>
          <p:nvPr/>
        </p:nvSpPr>
        <p:spPr>
          <a:xfrm>
            <a:off x="640080" y="3200400"/>
            <a:ext cx="1051560" cy="3657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Entity (vehicle)</a:t>
            </a:r>
            <a:endParaRPr lang="en-US" sz="900" dirty="0"/>
          </a:p>
        </p:txBody>
      </p:sp>
      <p:sp>
        <p:nvSpPr>
          <p:cNvPr id="28" name="Shape 26"/>
          <p:cNvSpPr/>
          <p:nvPr/>
        </p:nvSpPr>
        <p:spPr>
          <a:xfrm>
            <a:off x="1161288" y="2743200"/>
            <a:ext cx="0" cy="457200"/>
          </a:xfrm>
          <a:prstGeom prst="line">
            <a:avLst/>
          </a:prstGeom>
          <a:noFill/>
          <a:ln w="12700">
            <a:solidFill>
              <a:srgbClr val="9CA3AF"/>
            </a:solidFill>
            <a:prstDash val="solid"/>
            <a:tailEnd type="triangle"/>
          </a:ln>
        </p:spPr>
      </p:sp>
      <p:sp>
        <p:nvSpPr>
          <p:cNvPr id="29" name="Text 27"/>
          <p:cNvSpPr txBox="1"/>
          <p:nvPr/>
        </p:nvSpPr>
        <p:spPr>
          <a:xfrm>
            <a:off x="475488" y="2880360"/>
            <a:ext cx="640080" cy="182880"/>
          </a:xfrm>
          <a:prstGeom prst="rect">
            <a:avLst/>
          </a:prstGeom>
          <a:noFill/>
          <a:ln/>
        </p:spPr>
        <p:txBody>
          <a:bodyPr wrap="square" lIns="0" tIns="0" rIns="0" bIns="0" rtlCol="0" anchor="ctr"/>
          <a:lstStyle/>
          <a:p>
            <a:pPr algn="r" indent="0" marL="0">
              <a:buNone/>
            </a:pPr>
            <a:r>
              <a:rPr lang="en-US" sz="700" dirty="0">
                <a:solidFill>
                  <a:srgbClr val="9CA3AF"/>
                </a:solidFill>
                <a:latin typeface="Calibri" pitchFamily="34" charset="0"/>
                <a:ea typeface="Calibri" pitchFamily="34" charset="-122"/>
                <a:cs typeface="Calibri" pitchFamily="34" charset="-120"/>
              </a:rPr>
              <a:t>INSTALLED_IN</a:t>
            </a:r>
            <a:endParaRPr lang="en-US" sz="700" dirty="0"/>
          </a:p>
        </p:txBody>
      </p:sp>
      <p:sp>
        <p:nvSpPr>
          <p:cNvPr id="30" name="Shape 28"/>
          <p:cNvSpPr/>
          <p:nvPr/>
        </p:nvSpPr>
        <p:spPr>
          <a:xfrm>
            <a:off x="2011680" y="3200400"/>
            <a:ext cx="1051560" cy="365760"/>
          </a:xfrm>
          <a:prstGeom prst="roundRect">
            <a:avLst>
              <a:gd name="adj" fmla="val 20000"/>
            </a:avLst>
          </a:prstGeom>
          <a:solidFill>
            <a:srgbClr val="D9752B"/>
          </a:solidFill>
          <a:ln w="12700">
            <a:solidFill>
              <a:srgbClr val="D9752B"/>
            </a:solidFill>
            <a:prstDash val="solid"/>
          </a:ln>
        </p:spPr>
      </p:sp>
      <p:sp>
        <p:nvSpPr>
          <p:cNvPr id="31" name="Text 29"/>
          <p:cNvSpPr txBox="1"/>
          <p:nvPr/>
        </p:nvSpPr>
        <p:spPr>
          <a:xfrm>
            <a:off x="2011680" y="3200400"/>
            <a:ext cx="1051560" cy="3657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Issue</a:t>
            </a:r>
            <a:endParaRPr lang="en-US" sz="900" dirty="0"/>
          </a:p>
        </p:txBody>
      </p:sp>
      <p:sp>
        <p:nvSpPr>
          <p:cNvPr id="32" name="Shape 30"/>
          <p:cNvSpPr/>
          <p:nvPr/>
        </p:nvSpPr>
        <p:spPr>
          <a:xfrm flipH="1">
            <a:off x="1691640" y="3383280"/>
            <a:ext cx="320040" cy="0"/>
          </a:xfrm>
          <a:prstGeom prst="line">
            <a:avLst/>
          </a:prstGeom>
          <a:noFill/>
          <a:ln w="12700">
            <a:solidFill>
              <a:srgbClr val="9CA3AF"/>
            </a:solidFill>
            <a:prstDash val="solid"/>
            <a:tailEnd type="triangle"/>
          </a:ln>
        </p:spPr>
      </p:sp>
      <p:sp>
        <p:nvSpPr>
          <p:cNvPr id="33" name="Text 31"/>
          <p:cNvSpPr txBox="1"/>
          <p:nvPr/>
        </p:nvSpPr>
        <p:spPr>
          <a:xfrm>
            <a:off x="1600200" y="3584448"/>
            <a:ext cx="502920" cy="182880"/>
          </a:xfrm>
          <a:prstGeom prst="rect">
            <a:avLst/>
          </a:prstGeom>
          <a:noFill/>
          <a:ln/>
        </p:spPr>
        <p:txBody>
          <a:bodyPr wrap="square" lIns="0" tIns="0" rIns="0" bIns="0" rtlCol="0" anchor="ctr"/>
          <a:lstStyle/>
          <a:p>
            <a:pPr algn="ctr" indent="0" marL="0">
              <a:buNone/>
            </a:pPr>
            <a:r>
              <a:rPr lang="en-US" sz="700" dirty="0">
                <a:solidFill>
                  <a:srgbClr val="9CA3AF"/>
                </a:solidFill>
                <a:latin typeface="Calibri" pitchFamily="34" charset="0"/>
                <a:ea typeface="Calibri" pitchFamily="34" charset="-122"/>
                <a:cs typeface="Calibri" pitchFamily="34" charset="-120"/>
              </a:rPr>
              <a:t>AFFECTS</a:t>
            </a:r>
            <a:endParaRPr lang="en-US" sz="700" dirty="0"/>
          </a:p>
        </p:txBody>
      </p:sp>
      <p:sp>
        <p:nvSpPr>
          <p:cNvPr id="34" name="Shape 32"/>
          <p:cNvSpPr/>
          <p:nvPr/>
        </p:nvSpPr>
        <p:spPr>
          <a:xfrm>
            <a:off x="3383280" y="3200400"/>
            <a:ext cx="1051560" cy="365760"/>
          </a:xfrm>
          <a:prstGeom prst="roundRect">
            <a:avLst>
              <a:gd name="adj" fmla="val 20000"/>
            </a:avLst>
          </a:prstGeom>
          <a:solidFill>
            <a:srgbClr val="374151"/>
          </a:solidFill>
          <a:ln w="12700">
            <a:solidFill>
              <a:srgbClr val="374151"/>
            </a:solidFill>
            <a:prstDash val="solid"/>
          </a:ln>
        </p:spPr>
      </p:sp>
      <p:sp>
        <p:nvSpPr>
          <p:cNvPr id="35" name="Text 33"/>
          <p:cNvSpPr txBox="1"/>
          <p:nvPr/>
        </p:nvSpPr>
        <p:spPr>
          <a:xfrm>
            <a:off x="3383280" y="3200400"/>
            <a:ext cx="1051560" cy="3657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Cause</a:t>
            </a:r>
            <a:endParaRPr lang="en-US" sz="900" dirty="0"/>
          </a:p>
        </p:txBody>
      </p:sp>
      <p:sp>
        <p:nvSpPr>
          <p:cNvPr id="36" name="Shape 34"/>
          <p:cNvSpPr/>
          <p:nvPr/>
        </p:nvSpPr>
        <p:spPr>
          <a:xfrm flipH="1">
            <a:off x="3063240" y="3383280"/>
            <a:ext cx="320040" cy="0"/>
          </a:xfrm>
          <a:prstGeom prst="line">
            <a:avLst/>
          </a:prstGeom>
          <a:noFill/>
          <a:ln w="12700">
            <a:solidFill>
              <a:srgbClr val="9CA3AF"/>
            </a:solidFill>
            <a:prstDash val="solid"/>
            <a:tailEnd type="triangle"/>
          </a:ln>
        </p:spPr>
      </p:sp>
      <p:sp>
        <p:nvSpPr>
          <p:cNvPr id="37" name="Text 35"/>
          <p:cNvSpPr txBox="1"/>
          <p:nvPr/>
        </p:nvSpPr>
        <p:spPr>
          <a:xfrm>
            <a:off x="2971800" y="3584448"/>
            <a:ext cx="548640" cy="182880"/>
          </a:xfrm>
          <a:prstGeom prst="rect">
            <a:avLst/>
          </a:prstGeom>
          <a:noFill/>
          <a:ln/>
        </p:spPr>
        <p:txBody>
          <a:bodyPr wrap="square" lIns="0" tIns="0" rIns="0" bIns="0" rtlCol="0" anchor="ctr"/>
          <a:lstStyle/>
          <a:p>
            <a:pPr algn="ctr" indent="0" marL="0">
              <a:buNone/>
            </a:pPr>
            <a:r>
              <a:rPr lang="en-US" sz="700" dirty="0">
                <a:solidFill>
                  <a:srgbClr val="9CA3AF"/>
                </a:solidFill>
                <a:latin typeface="Calibri" pitchFamily="34" charset="0"/>
                <a:ea typeface="Calibri" pitchFamily="34" charset="-122"/>
                <a:cs typeface="Calibri" pitchFamily="34" charset="-120"/>
              </a:rPr>
              <a:t>ASSESSES</a:t>
            </a:r>
            <a:endParaRPr lang="en-US" sz="700" dirty="0"/>
          </a:p>
        </p:txBody>
      </p:sp>
      <p:sp>
        <p:nvSpPr>
          <p:cNvPr id="38" name="Shape 36"/>
          <p:cNvSpPr/>
          <p:nvPr/>
        </p:nvSpPr>
        <p:spPr>
          <a:xfrm>
            <a:off x="2011680" y="3931920"/>
            <a:ext cx="1051560" cy="365760"/>
          </a:xfrm>
          <a:prstGeom prst="roundRect">
            <a:avLst>
              <a:gd name="adj" fmla="val 20000"/>
            </a:avLst>
          </a:prstGeom>
          <a:solidFill>
            <a:srgbClr val="374151"/>
          </a:solidFill>
          <a:ln w="12700">
            <a:solidFill>
              <a:srgbClr val="374151"/>
            </a:solidFill>
            <a:prstDash val="solid"/>
          </a:ln>
        </p:spPr>
      </p:sp>
      <p:sp>
        <p:nvSpPr>
          <p:cNvPr id="39" name="Text 37"/>
          <p:cNvSpPr txBox="1"/>
          <p:nvPr/>
        </p:nvSpPr>
        <p:spPr>
          <a:xfrm>
            <a:off x="2011680" y="3931920"/>
            <a:ext cx="1051560" cy="3657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Fix</a:t>
            </a:r>
            <a:endParaRPr lang="en-US" sz="900" dirty="0"/>
          </a:p>
        </p:txBody>
      </p:sp>
      <p:sp>
        <p:nvSpPr>
          <p:cNvPr id="40" name="Shape 38"/>
          <p:cNvSpPr/>
          <p:nvPr/>
        </p:nvSpPr>
        <p:spPr>
          <a:xfrm>
            <a:off x="2532888" y="3566160"/>
            <a:ext cx="0" cy="365760"/>
          </a:xfrm>
          <a:prstGeom prst="line">
            <a:avLst/>
          </a:prstGeom>
          <a:noFill/>
          <a:ln w="12700">
            <a:solidFill>
              <a:srgbClr val="9CA3AF"/>
            </a:solidFill>
            <a:prstDash val="solid"/>
            <a:tailEnd type="triangle"/>
          </a:ln>
        </p:spPr>
      </p:sp>
      <p:sp>
        <p:nvSpPr>
          <p:cNvPr id="41" name="Text 39"/>
          <p:cNvSpPr txBox="1"/>
          <p:nvPr/>
        </p:nvSpPr>
        <p:spPr>
          <a:xfrm>
            <a:off x="2587752" y="3657600"/>
            <a:ext cx="457200" cy="182880"/>
          </a:xfrm>
          <a:prstGeom prst="rect">
            <a:avLst/>
          </a:prstGeom>
          <a:noFill/>
          <a:ln/>
        </p:spPr>
        <p:txBody>
          <a:bodyPr wrap="square" lIns="0" tIns="0" rIns="0" bIns="0" rtlCol="0" anchor="ctr"/>
          <a:lstStyle/>
          <a:p>
            <a:pPr algn="l" indent="0" marL="0">
              <a:buNone/>
            </a:pPr>
            <a:r>
              <a:rPr lang="en-US" sz="700" dirty="0">
                <a:solidFill>
                  <a:srgbClr val="9CA3AF"/>
                </a:solidFill>
                <a:latin typeface="Calibri" pitchFamily="34" charset="0"/>
                <a:ea typeface="Calibri" pitchFamily="34" charset="-122"/>
                <a:cs typeface="Calibri" pitchFamily="34" charset="-120"/>
              </a:rPr>
              <a:t>FIXES</a:t>
            </a:r>
            <a:endParaRPr lang="en-US" sz="700" dirty="0"/>
          </a:p>
        </p:txBody>
      </p:sp>
      <p:sp>
        <p:nvSpPr>
          <p:cNvPr id="42" name="Shape 40"/>
          <p:cNvSpPr/>
          <p:nvPr/>
        </p:nvSpPr>
        <p:spPr>
          <a:xfrm>
            <a:off x="3383280" y="3931920"/>
            <a:ext cx="1051560" cy="365760"/>
          </a:xfrm>
          <a:prstGeom prst="roundRect">
            <a:avLst>
              <a:gd name="adj" fmla="val 20000"/>
            </a:avLst>
          </a:prstGeom>
          <a:solidFill>
            <a:srgbClr val="3E8E6E"/>
          </a:solidFill>
          <a:ln w="12700">
            <a:solidFill>
              <a:srgbClr val="3E8E6E"/>
            </a:solidFill>
            <a:prstDash val="solid"/>
          </a:ln>
        </p:spPr>
      </p:sp>
      <p:sp>
        <p:nvSpPr>
          <p:cNvPr id="43" name="Text 41"/>
          <p:cNvSpPr txBox="1"/>
          <p:nvPr/>
        </p:nvSpPr>
        <p:spPr>
          <a:xfrm>
            <a:off x="3383280" y="3931920"/>
            <a:ext cx="1051560" cy="3657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Verification</a:t>
            </a:r>
            <a:endParaRPr lang="en-US" sz="900" dirty="0"/>
          </a:p>
        </p:txBody>
      </p:sp>
      <p:sp>
        <p:nvSpPr>
          <p:cNvPr id="44" name="Shape 42"/>
          <p:cNvSpPr/>
          <p:nvPr/>
        </p:nvSpPr>
        <p:spPr>
          <a:xfrm flipH="1">
            <a:off x="3063240" y="4114800"/>
            <a:ext cx="320040" cy="0"/>
          </a:xfrm>
          <a:prstGeom prst="line">
            <a:avLst/>
          </a:prstGeom>
          <a:noFill/>
          <a:ln w="12700">
            <a:solidFill>
              <a:srgbClr val="9CA3AF"/>
            </a:solidFill>
            <a:prstDash val="solid"/>
            <a:tailEnd type="triangle"/>
          </a:ln>
        </p:spPr>
      </p:sp>
      <p:sp>
        <p:nvSpPr>
          <p:cNvPr id="45" name="Text 43"/>
          <p:cNvSpPr txBox="1"/>
          <p:nvPr/>
        </p:nvSpPr>
        <p:spPr>
          <a:xfrm>
            <a:off x="2971800" y="3767328"/>
            <a:ext cx="548640" cy="182880"/>
          </a:xfrm>
          <a:prstGeom prst="rect">
            <a:avLst/>
          </a:prstGeom>
          <a:noFill/>
          <a:ln/>
        </p:spPr>
        <p:txBody>
          <a:bodyPr wrap="square" lIns="0" tIns="0" rIns="0" bIns="0" rtlCol="0" anchor="ctr"/>
          <a:lstStyle/>
          <a:p>
            <a:pPr algn="ctr" indent="0" marL="0">
              <a:buNone/>
            </a:pPr>
            <a:r>
              <a:rPr lang="en-US" sz="700" dirty="0">
                <a:solidFill>
                  <a:srgbClr val="9CA3AF"/>
                </a:solidFill>
                <a:latin typeface="Calibri" pitchFamily="34" charset="0"/>
                <a:ea typeface="Calibri" pitchFamily="34" charset="-122"/>
                <a:cs typeface="Calibri" pitchFamily="34" charset="-120"/>
              </a:rPr>
              <a:t>VERIFIES</a:t>
            </a:r>
            <a:endParaRPr lang="en-US" sz="700" dirty="0"/>
          </a:p>
        </p:txBody>
      </p:sp>
      <p:sp>
        <p:nvSpPr>
          <p:cNvPr id="46" name="Text 44"/>
          <p:cNvSpPr txBox="1"/>
          <p:nvPr/>
        </p:nvSpPr>
        <p:spPr>
          <a:xfrm>
            <a:off x="594360" y="4325112"/>
            <a:ext cx="3931920" cy="228600"/>
          </a:xfrm>
          <a:prstGeom prst="rect">
            <a:avLst/>
          </a:prstGeom>
          <a:noFill/>
          <a:ln/>
        </p:spPr>
        <p:txBody>
          <a:bodyPr wrap="square" lIns="0" tIns="0" rIns="0" bIns="0" rtlCol="0" anchor="ctr"/>
          <a:lstStyle/>
          <a:p>
            <a:pPr indent="0" marL="0">
              <a:buNone/>
            </a:pPr>
            <a:r>
              <a:rPr lang="en-US" sz="750" i="1" dirty="0">
                <a:solidFill>
                  <a:srgbClr val="9CA3AF"/>
                </a:solidFill>
                <a:latin typeface="Calibri" pitchFamily="34" charset="0"/>
                <a:ea typeface="Calibri" pitchFamily="34" charset="-122"/>
                <a:cs typeface="Calibri" pitchFamily="34" charset="-120"/>
              </a:rPr>
              <a:t>Fix -[:DERIVED_FROM]-&gt; Fix keeps reuse lineage; Cause -[:RESPONSIBLE_TEAM]-&gt; Team keeps attribution separate from reporter and assignee.</a:t>
            </a:r>
            <a:endParaRPr lang="en-US" sz="750" dirty="0"/>
          </a:p>
        </p:txBody>
      </p:sp>
      <p:sp>
        <p:nvSpPr>
          <p:cNvPr id="47" name="Shape 45"/>
          <p:cNvSpPr/>
          <p:nvPr/>
        </p:nvSpPr>
        <p:spPr>
          <a:xfrm>
            <a:off x="4892040" y="1344168"/>
            <a:ext cx="310896" cy="310896"/>
          </a:xfrm>
          <a:prstGeom prst="ellipse">
            <a:avLst/>
          </a:prstGeom>
          <a:solidFill>
            <a:srgbClr val="D9752B"/>
          </a:solidFill>
          <a:ln w="12700">
            <a:solidFill>
              <a:srgbClr val="D9752B"/>
            </a:solidFill>
            <a:prstDash val="solid"/>
          </a:ln>
        </p:spPr>
      </p:sp>
      <p:sp>
        <p:nvSpPr>
          <p:cNvPr id="48" name="Text 46"/>
          <p:cNvSpPr txBox="1"/>
          <p:nvPr/>
        </p:nvSpPr>
        <p:spPr>
          <a:xfrm>
            <a:off x="4892040" y="134416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49" name="Text 47"/>
          <p:cNvSpPr txBox="1"/>
          <p:nvPr/>
        </p:nvSpPr>
        <p:spPr>
          <a:xfrm>
            <a:off x="5303520" y="1325880"/>
            <a:ext cx="3383280" cy="320040"/>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Which vehicles hold parts from this lot?</a:t>
            </a:r>
            <a:endParaRPr lang="en-US" sz="1250" dirty="0"/>
          </a:p>
        </p:txBody>
      </p:sp>
      <p:sp>
        <p:nvSpPr>
          <p:cNvPr id="50" name="Text 48"/>
          <p:cNvSpPr txBox="1"/>
          <p:nvPr/>
        </p:nvSpPr>
        <p:spPr>
          <a:xfrm>
            <a:off x="5303520" y="1673352"/>
            <a:ext cx="3383280" cy="685800"/>
          </a:xfrm>
          <a:prstGeom prst="rect">
            <a:avLst/>
          </a:prstGeom>
          <a:noFill/>
          <a:ln/>
        </p:spPr>
        <p:txBody>
          <a:bodyPr wrap="square" lIns="0" tIns="0" rIns="0" bIns="0" rtlCol="0" anchor="t"/>
          <a:lstStyle/>
          <a:p>
            <a:pPr indent="0" marL="0">
              <a:buNone/>
            </a:pPr>
            <a:r>
              <a:rPr lang="en-US" sz="950" dirty="0">
                <a:solidFill>
                  <a:srgbClr val="D1D5DB"/>
                </a:solidFill>
                <a:latin typeface="Calibri" pitchFamily="34" charset="0"/>
                <a:ea typeface="Calibri" pitchFamily="34" charset="-122"/>
                <a:cs typeface="Calibri" pitchFamily="34" charset="-120"/>
              </a:rPr>
              <a:t>Trace from a supplier lot or manufacturing lot through Origin and INSTALLED_IN intervals. DEMO-EV-003 holds two parts from one lot and is counted once.</a:t>
            </a:r>
            <a:endParaRPr lang="en-US" sz="950" dirty="0"/>
          </a:p>
        </p:txBody>
      </p:sp>
      <p:sp>
        <p:nvSpPr>
          <p:cNvPr id="51" name="Shape 49"/>
          <p:cNvSpPr/>
          <p:nvPr/>
        </p:nvSpPr>
        <p:spPr>
          <a:xfrm>
            <a:off x="4892040" y="2441448"/>
            <a:ext cx="310896" cy="310896"/>
          </a:xfrm>
          <a:prstGeom prst="ellipse">
            <a:avLst/>
          </a:prstGeom>
          <a:solidFill>
            <a:srgbClr val="D9752B"/>
          </a:solidFill>
          <a:ln w="12700">
            <a:solidFill>
              <a:srgbClr val="D9752B"/>
            </a:solidFill>
            <a:prstDash val="solid"/>
          </a:ln>
        </p:spPr>
      </p:sp>
      <p:sp>
        <p:nvSpPr>
          <p:cNvPr id="52" name="Text 50"/>
          <p:cNvSpPr txBox="1"/>
          <p:nvPr/>
        </p:nvSpPr>
        <p:spPr>
          <a:xfrm>
            <a:off x="4892040" y="244144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53" name="Text 51"/>
          <p:cNvSpPr txBox="1"/>
          <p:nvPr/>
        </p:nvSpPr>
        <p:spPr>
          <a:xfrm>
            <a:off x="5303520" y="2423160"/>
            <a:ext cx="3383280" cy="320040"/>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Which verified fix connects to this defect?</a:t>
            </a:r>
            <a:endParaRPr lang="en-US" sz="1250" dirty="0"/>
          </a:p>
        </p:txBody>
      </p:sp>
      <p:sp>
        <p:nvSpPr>
          <p:cNvPr id="54" name="Text 52"/>
          <p:cNvSpPr txBox="1"/>
          <p:nvPr/>
        </p:nvSpPr>
        <p:spPr>
          <a:xfrm>
            <a:off x="5303520" y="2770632"/>
            <a:ext cx="3383280" cy="685800"/>
          </a:xfrm>
          <a:prstGeom prst="rect">
            <a:avLst/>
          </a:prstGeom>
          <a:noFill/>
          <a:ln/>
        </p:spPr>
        <p:txBody>
          <a:bodyPr wrap="square" lIns="0" tIns="0" rIns="0" bIns="0" rtlCol="0" anchor="t"/>
          <a:lstStyle/>
          <a:p>
            <a:pPr indent="0" marL="0">
              <a:buNone/>
            </a:pPr>
            <a:r>
              <a:rPr lang="en-US" sz="950" dirty="0">
                <a:solidFill>
                  <a:srgbClr val="D1D5DB"/>
                </a:solidFill>
                <a:latin typeface="Calibri" pitchFamily="34" charset="0"/>
                <a:ea typeface="Calibri" pitchFamily="34" charset="-122"/>
                <a:cs typeface="Calibri" pitchFamily="34" charset="-120"/>
              </a:rPr>
              <a:t>Walk Issue, Fix, Verification and DERIVED_FROM. Deterministic score: defect code +3, part family +2, cause type +1, process step +1. Supplier and team are never a reason.</a:t>
            </a:r>
            <a:endParaRPr lang="en-US" sz="950" dirty="0"/>
          </a:p>
        </p:txBody>
      </p:sp>
      <p:sp>
        <p:nvSpPr>
          <p:cNvPr id="55" name="Shape 53"/>
          <p:cNvSpPr/>
          <p:nvPr/>
        </p:nvSpPr>
        <p:spPr>
          <a:xfrm>
            <a:off x="4892040" y="3538728"/>
            <a:ext cx="310896" cy="310896"/>
          </a:xfrm>
          <a:prstGeom prst="ellipse">
            <a:avLst/>
          </a:prstGeom>
          <a:solidFill>
            <a:srgbClr val="D9752B"/>
          </a:solidFill>
          <a:ln w="12700">
            <a:solidFill>
              <a:srgbClr val="D9752B"/>
            </a:solidFill>
            <a:prstDash val="solid"/>
          </a:ln>
        </p:spPr>
      </p:sp>
      <p:sp>
        <p:nvSpPr>
          <p:cNvPr id="56" name="Text 54"/>
          <p:cNvSpPr txBox="1"/>
          <p:nvPr/>
        </p:nvSpPr>
        <p:spPr>
          <a:xfrm>
            <a:off x="4892040" y="353872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57" name="Text 55"/>
          <p:cNvSpPr txBox="1"/>
          <p:nvPr/>
        </p:nvSpPr>
        <p:spPr>
          <a:xfrm>
            <a:off x="5303520" y="3520440"/>
            <a:ext cx="3383280" cy="320040"/>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Who is confirmed causal, not just reporting?</a:t>
            </a:r>
            <a:endParaRPr lang="en-US" sz="1250" dirty="0"/>
          </a:p>
        </p:txBody>
      </p:sp>
      <p:sp>
        <p:nvSpPr>
          <p:cNvPr id="58" name="Text 56"/>
          <p:cNvSpPr txBox="1"/>
          <p:nvPr/>
        </p:nvSpPr>
        <p:spPr>
          <a:xfrm>
            <a:off x="5303520" y="3867912"/>
            <a:ext cx="3383280" cy="685800"/>
          </a:xfrm>
          <a:prstGeom prst="rect">
            <a:avLst/>
          </a:prstGeom>
          <a:noFill/>
          <a:ln/>
        </p:spPr>
        <p:txBody>
          <a:bodyPr wrap="square" lIns="0" tIns="0" rIns="0" bIns="0" rtlCol="0" anchor="t"/>
          <a:lstStyle/>
          <a:p>
            <a:pPr indent="0" marL="0">
              <a:buNone/>
            </a:pPr>
            <a:r>
              <a:rPr lang="en-US" sz="950" dirty="0">
                <a:solidFill>
                  <a:srgbClr val="D1D5DB"/>
                </a:solidFill>
                <a:latin typeface="Calibri" pitchFamily="34" charset="0"/>
                <a:ea typeface="Calibri" pitchFamily="34" charset="-122"/>
                <a:cs typeface="Calibri" pitchFamily="34" charset="-120"/>
              </a:rPr>
              <a:t>Team counts split into reported, assigned-open and confirmed-cause. Supplier linked versus confirmed. Rate is null without a complete inspection cohort.</a:t>
            </a:r>
            <a:endParaRPr lang="en-US" sz="950" dirty="0"/>
          </a:p>
        </p:txBody>
      </p:sp>
      <p:sp>
        <p:nvSpPr>
          <p:cNvPr id="59" name="Text 57"/>
          <p:cNvSpPr txBox="1"/>
          <p:nvPr/>
        </p:nvSpPr>
        <p:spPr>
          <a:xfrm>
            <a:off x="457200" y="4754880"/>
            <a:ext cx="82296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Neo4j Aura (5.x), driver 6.2, per-workspace uniqueness constraints on (ws, id). Model in src/server/graph/schema.ts and index.ts.</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822960"/>
          </a:xfrm>
          <a:prstGeom prst="rect">
            <a:avLst/>
          </a:prstGeom>
          <a:noFill/>
          <a:ln/>
        </p:spPr>
        <p:txBody>
          <a:bodyPr wrap="square" lIns="0" tIns="0" rIns="0" bIns="0" rtlCol="0" anchor="t">
            <a:normAutofit/>
          </a:bodyPr>
          <a:lstStyle/>
          <a:p>
            <a:pPr indent="0" marL="0">
              <a:buNone/>
            </a:pPr>
            <a:r>
              <a:rPr lang="en-US" sz="2800" b="1" dirty="0">
                <a:solidFill>
                  <a:srgbClr val="14181F"/>
                </a:solidFill>
                <a:latin typeface="Cambria" pitchFamily="34" charset="0"/>
                <a:ea typeface="Cambria" pitchFamily="34" charset="-122"/>
                <a:cs typeface="Cambria" pitchFamily="34" charset="-120"/>
              </a:rPr>
              <a:t>What is real: verified against the live Aura instance today</a:t>
            </a:r>
            <a:endParaRPr lang="en-US" sz="2800" dirty="0"/>
          </a:p>
        </p:txBody>
      </p:sp>
      <p:sp>
        <p:nvSpPr>
          <p:cNvPr id="3" name="Shape 1"/>
          <p:cNvSpPr/>
          <p:nvPr/>
        </p:nvSpPr>
        <p:spPr>
          <a:xfrm>
            <a:off x="457200" y="1325880"/>
            <a:ext cx="1965960" cy="1783080"/>
          </a:xfrm>
          <a:prstGeom prst="roundRect">
            <a:avLst>
              <a:gd name="adj" fmla="val 4103"/>
            </a:avLst>
          </a:prstGeom>
          <a:solidFill>
            <a:srgbClr val="14181F"/>
          </a:solidFill>
          <a:ln w="9525">
            <a:solidFill>
              <a:srgbClr val="14181F"/>
            </a:solidFill>
            <a:prstDash val="solid"/>
          </a:ln>
        </p:spPr>
      </p:sp>
      <p:sp>
        <p:nvSpPr>
          <p:cNvPr id="4" name="Text 2"/>
          <p:cNvSpPr txBox="1"/>
          <p:nvPr/>
        </p:nvSpPr>
        <p:spPr>
          <a:xfrm>
            <a:off x="594360" y="1435608"/>
            <a:ext cx="1691640" cy="685800"/>
          </a:xfrm>
          <a:prstGeom prst="rect">
            <a:avLst/>
          </a:prstGeom>
          <a:noFill/>
          <a:ln/>
        </p:spPr>
        <p:txBody>
          <a:bodyPr wrap="square" lIns="0" tIns="0" rIns="0" bIns="0" rtlCol="0" anchor="ctr"/>
          <a:lstStyle/>
          <a:p>
            <a:pPr indent="0" marL="0">
              <a:buNone/>
            </a:pPr>
            <a:r>
              <a:rPr lang="en-US" sz="3000" b="1" dirty="0">
                <a:solidFill>
                  <a:srgbClr val="D9752B"/>
                </a:solidFill>
                <a:latin typeface="Cambria" pitchFamily="34" charset="0"/>
                <a:ea typeface="Cambria" pitchFamily="34" charset="-122"/>
                <a:cs typeface="Cambria" pitchFamily="34" charset="-120"/>
              </a:rPr>
              <a:t>22 / 22</a:t>
            </a:r>
            <a:endParaRPr lang="en-US" sz="3000" dirty="0"/>
          </a:p>
        </p:txBody>
      </p:sp>
      <p:sp>
        <p:nvSpPr>
          <p:cNvPr id="5" name="Text 3"/>
          <p:cNvSpPr txBox="1"/>
          <p:nvPr/>
        </p:nvSpPr>
        <p:spPr>
          <a:xfrm>
            <a:off x="594360" y="2148840"/>
            <a:ext cx="1691640" cy="548640"/>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HTTP acceptance steps passed against real graph services</a:t>
            </a:r>
            <a:endParaRPr lang="en-US" sz="1050" dirty="0"/>
          </a:p>
        </p:txBody>
      </p:sp>
      <p:sp>
        <p:nvSpPr>
          <p:cNvPr id="6" name="Text 4"/>
          <p:cNvSpPr txBox="1"/>
          <p:nvPr/>
        </p:nvSpPr>
        <p:spPr>
          <a:xfrm>
            <a:off x="594360" y="2697480"/>
            <a:ext cx="1691640" cy="365760"/>
          </a:xfrm>
          <a:prstGeom prst="rect">
            <a:avLst/>
          </a:prstGeom>
          <a:noFill/>
          <a:ln/>
        </p:spPr>
        <p:txBody>
          <a:bodyPr wrap="square" lIns="0" tIns="0" rIns="0" bIns="0" rtlCol="0" anchor="t"/>
          <a:lstStyle/>
          <a:p>
            <a:pPr indent="0" marL="0">
              <a:buNone/>
            </a:pPr>
            <a:r>
              <a:rPr lang="en-US" sz="850" dirty="0">
                <a:solidFill>
                  <a:srgbClr val="9CA3AF"/>
                </a:solidFill>
                <a:latin typeface="Calibri" pitchFamily="34" charset="0"/>
                <a:ea typeface="Calibri" pitchFamily="34" charset="-122"/>
                <a:cs typeface="Calibri" pitchFamily="34" charset="-120"/>
              </a:rPr>
              <a:t>runner refuses to run against the in-memory double</a:t>
            </a:r>
            <a:endParaRPr lang="en-US" sz="850" dirty="0"/>
          </a:p>
        </p:txBody>
      </p:sp>
      <p:sp>
        <p:nvSpPr>
          <p:cNvPr id="7" name="Shape 5"/>
          <p:cNvSpPr/>
          <p:nvPr/>
        </p:nvSpPr>
        <p:spPr>
          <a:xfrm>
            <a:off x="2542032" y="1325880"/>
            <a:ext cx="1965960" cy="1783080"/>
          </a:xfrm>
          <a:prstGeom prst="roundRect">
            <a:avLst>
              <a:gd name="adj" fmla="val 4103"/>
            </a:avLst>
          </a:prstGeom>
          <a:solidFill>
            <a:srgbClr val="F3F4F6"/>
          </a:solidFill>
          <a:ln w="9525">
            <a:solidFill>
              <a:srgbClr val="F3F4F6"/>
            </a:solidFill>
            <a:prstDash val="solid"/>
          </a:ln>
        </p:spPr>
      </p:sp>
      <p:sp>
        <p:nvSpPr>
          <p:cNvPr id="8" name="Text 6"/>
          <p:cNvSpPr txBox="1"/>
          <p:nvPr/>
        </p:nvSpPr>
        <p:spPr>
          <a:xfrm>
            <a:off x="2679192" y="1435608"/>
            <a:ext cx="1691640" cy="685800"/>
          </a:xfrm>
          <a:prstGeom prst="rect">
            <a:avLst/>
          </a:prstGeom>
          <a:noFill/>
          <a:ln/>
        </p:spPr>
        <p:txBody>
          <a:bodyPr wrap="square" lIns="0" tIns="0" rIns="0" bIns="0" rtlCol="0" anchor="ctr"/>
          <a:lstStyle/>
          <a:p>
            <a:pPr indent="0" marL="0">
              <a:buNone/>
            </a:pPr>
            <a:r>
              <a:rPr lang="en-US" sz="3000" b="1" dirty="0">
                <a:solidFill>
                  <a:srgbClr val="14181F"/>
                </a:solidFill>
                <a:latin typeface="Cambria" pitchFamily="34" charset="0"/>
                <a:ea typeface="Cambria" pitchFamily="34" charset="-122"/>
                <a:cs typeface="Cambria" pitchFamily="34" charset="-120"/>
              </a:rPr>
              <a:t>23 / 23</a:t>
            </a:r>
            <a:endParaRPr lang="en-US" sz="3000" dirty="0"/>
          </a:p>
        </p:txBody>
      </p:sp>
      <p:sp>
        <p:nvSpPr>
          <p:cNvPr id="9" name="Text 7"/>
          <p:cNvSpPr txBox="1"/>
          <p:nvPr/>
        </p:nvSpPr>
        <p:spPr>
          <a:xfrm>
            <a:off x="2679192" y="2148840"/>
            <a:ext cx="1691640" cy="548640"/>
          </a:xfrm>
          <a:prstGeom prst="rect">
            <a:avLst/>
          </a:prstGeom>
          <a:noFill/>
          <a:ln/>
        </p:spPr>
        <p:txBody>
          <a:bodyPr wrap="square" lIns="0" tIns="0" rIns="0" bIns="0" rtlCol="0" anchor="t"/>
          <a:lstStyle/>
          <a:p>
            <a:pPr indent="0" marL="0">
              <a:buNone/>
            </a:pPr>
            <a:r>
              <a:rPr lang="en-US" sz="1050" b="1" dirty="0">
                <a:solidFill>
                  <a:srgbClr val="14181F"/>
                </a:solidFill>
                <a:latin typeface="Calibri" pitchFamily="34" charset="0"/>
                <a:ea typeface="Calibri" pitchFamily="34" charset="-122"/>
                <a:cs typeface="Calibri" pitchFamily="34" charset="-120"/>
              </a:rPr>
              <a:t>steps after a documented server restart</a:t>
            </a:r>
            <a:endParaRPr lang="en-US" sz="1050" dirty="0"/>
          </a:p>
        </p:txBody>
      </p:sp>
      <p:sp>
        <p:nvSpPr>
          <p:cNvPr id="10" name="Text 8"/>
          <p:cNvSpPr txBox="1"/>
          <p:nvPr/>
        </p:nvSpPr>
        <p:spPr>
          <a:xfrm>
            <a:off x="2679192" y="2697480"/>
            <a:ext cx="1691640" cy="365760"/>
          </a:xfrm>
          <a:prstGeom prst="rect">
            <a:avLst/>
          </a:prstGeom>
          <a:noFill/>
          <a:ln/>
        </p:spPr>
        <p:txBody>
          <a:bodyPr wrap="square" lIns="0" tIns="0" rIns="0" bIns="0" rtlCol="0" anchor="t"/>
          <a:lstStyle/>
          <a:p>
            <a:pPr indent="0" marL="0">
              <a:buNone/>
            </a:pPr>
            <a:r>
              <a:rPr lang="en-US" sz="850" dirty="0">
                <a:solidFill>
                  <a:srgbClr val="6B7280"/>
                </a:solidFill>
                <a:latin typeface="Calibri" pitchFamily="34" charset="0"/>
                <a:ea typeface="Calibri" pitchFamily="34" charset="-122"/>
                <a:cs typeface="Calibri" pitchFamily="34" charset="-120"/>
              </a:rPr>
              <a:t>same issue, identical history, persistence step added</a:t>
            </a:r>
            <a:endParaRPr lang="en-US" sz="850" dirty="0"/>
          </a:p>
        </p:txBody>
      </p:sp>
      <p:sp>
        <p:nvSpPr>
          <p:cNvPr id="11" name="Shape 9"/>
          <p:cNvSpPr/>
          <p:nvPr/>
        </p:nvSpPr>
        <p:spPr>
          <a:xfrm>
            <a:off x="4626864" y="1325880"/>
            <a:ext cx="1965960" cy="1783080"/>
          </a:xfrm>
          <a:prstGeom prst="roundRect">
            <a:avLst>
              <a:gd name="adj" fmla="val 4103"/>
            </a:avLst>
          </a:prstGeom>
          <a:solidFill>
            <a:srgbClr val="F3F4F6"/>
          </a:solidFill>
          <a:ln w="9525">
            <a:solidFill>
              <a:srgbClr val="F3F4F6"/>
            </a:solidFill>
            <a:prstDash val="solid"/>
          </a:ln>
        </p:spPr>
      </p:sp>
      <p:sp>
        <p:nvSpPr>
          <p:cNvPr id="12" name="Text 10"/>
          <p:cNvSpPr txBox="1"/>
          <p:nvPr/>
        </p:nvSpPr>
        <p:spPr>
          <a:xfrm>
            <a:off x="4764024" y="1435608"/>
            <a:ext cx="1691640" cy="685800"/>
          </a:xfrm>
          <a:prstGeom prst="rect">
            <a:avLst/>
          </a:prstGeom>
          <a:noFill/>
          <a:ln/>
        </p:spPr>
        <p:txBody>
          <a:bodyPr wrap="square" lIns="0" tIns="0" rIns="0" bIns="0" rtlCol="0" anchor="ctr"/>
          <a:lstStyle/>
          <a:p>
            <a:pPr indent="0" marL="0">
              <a:buNone/>
            </a:pPr>
            <a:r>
              <a:rPr lang="en-US" sz="3000" b="1" dirty="0">
                <a:solidFill>
                  <a:srgbClr val="14181F"/>
                </a:solidFill>
                <a:latin typeface="Cambria" pitchFamily="34" charset="0"/>
                <a:ea typeface="Cambria" pitchFamily="34" charset="-122"/>
                <a:cs typeface="Cambria" pitchFamily="34" charset="-120"/>
              </a:rPr>
              <a:t>114</a:t>
            </a:r>
            <a:endParaRPr lang="en-US" sz="3000" dirty="0"/>
          </a:p>
        </p:txBody>
      </p:sp>
      <p:sp>
        <p:nvSpPr>
          <p:cNvPr id="13" name="Text 11"/>
          <p:cNvSpPr txBox="1"/>
          <p:nvPr/>
        </p:nvSpPr>
        <p:spPr>
          <a:xfrm>
            <a:off x="4764024" y="2148840"/>
            <a:ext cx="1691640" cy="548640"/>
          </a:xfrm>
          <a:prstGeom prst="rect">
            <a:avLst/>
          </a:prstGeom>
          <a:noFill/>
          <a:ln/>
        </p:spPr>
        <p:txBody>
          <a:bodyPr wrap="square" lIns="0" tIns="0" rIns="0" bIns="0" rtlCol="0" anchor="t"/>
          <a:lstStyle/>
          <a:p>
            <a:pPr indent="0" marL="0">
              <a:buNone/>
            </a:pPr>
            <a:r>
              <a:rPr lang="en-US" sz="1050" b="1" dirty="0">
                <a:solidFill>
                  <a:srgbClr val="14181F"/>
                </a:solidFill>
                <a:latin typeface="Calibri" pitchFamily="34" charset="0"/>
                <a:ea typeface="Calibri" pitchFamily="34" charset="-122"/>
                <a:cs typeface="Calibri" pitchFamily="34" charset="-120"/>
              </a:rPr>
              <a:t>Vitest tests passed, 8 skipped with a stated reason</a:t>
            </a:r>
            <a:endParaRPr lang="en-US" sz="1050" dirty="0"/>
          </a:p>
        </p:txBody>
      </p:sp>
      <p:sp>
        <p:nvSpPr>
          <p:cNvPr id="14" name="Text 12"/>
          <p:cNvSpPr txBox="1"/>
          <p:nvPr/>
        </p:nvSpPr>
        <p:spPr>
          <a:xfrm>
            <a:off x="4764024" y="2697480"/>
            <a:ext cx="1691640" cy="365760"/>
          </a:xfrm>
          <a:prstGeom prst="rect">
            <a:avLst/>
          </a:prstGeom>
          <a:noFill/>
          <a:ln/>
        </p:spPr>
        <p:txBody>
          <a:bodyPr wrap="square" lIns="0" tIns="0" rIns="0" bIns="0" rtlCol="0" anchor="t"/>
          <a:lstStyle/>
          <a:p>
            <a:pPr indent="0" marL="0">
              <a:buNone/>
            </a:pPr>
            <a:r>
              <a:rPr lang="en-US" sz="850" dirty="0">
                <a:solidFill>
                  <a:srgbClr val="6B7280"/>
                </a:solidFill>
                <a:latin typeface="Calibri" pitchFamily="34" charset="0"/>
                <a:ea typeface="Calibri" pitchFamily="34" charset="-122"/>
                <a:cs typeface="Calibri" pitchFamily="34" charset="-120"/>
              </a:rPr>
              <a:t>typecheck and next build pass at dc32792</a:t>
            </a:r>
            <a:endParaRPr lang="en-US" sz="850" dirty="0"/>
          </a:p>
        </p:txBody>
      </p:sp>
      <p:sp>
        <p:nvSpPr>
          <p:cNvPr id="15" name="Shape 13"/>
          <p:cNvSpPr/>
          <p:nvPr/>
        </p:nvSpPr>
        <p:spPr>
          <a:xfrm>
            <a:off x="6711696" y="1325880"/>
            <a:ext cx="1965960" cy="1783080"/>
          </a:xfrm>
          <a:prstGeom prst="roundRect">
            <a:avLst>
              <a:gd name="adj" fmla="val 4103"/>
            </a:avLst>
          </a:prstGeom>
          <a:solidFill>
            <a:srgbClr val="F3F4F6"/>
          </a:solidFill>
          <a:ln w="9525">
            <a:solidFill>
              <a:srgbClr val="F3F4F6"/>
            </a:solidFill>
            <a:prstDash val="solid"/>
          </a:ln>
        </p:spPr>
      </p:sp>
      <p:sp>
        <p:nvSpPr>
          <p:cNvPr id="16" name="Text 14"/>
          <p:cNvSpPr txBox="1"/>
          <p:nvPr/>
        </p:nvSpPr>
        <p:spPr>
          <a:xfrm>
            <a:off x="6848856" y="1435608"/>
            <a:ext cx="1691640" cy="685800"/>
          </a:xfrm>
          <a:prstGeom prst="rect">
            <a:avLst/>
          </a:prstGeom>
          <a:noFill/>
          <a:ln/>
        </p:spPr>
        <p:txBody>
          <a:bodyPr wrap="square" lIns="0" tIns="0" rIns="0" bIns="0" rtlCol="0" anchor="ctr"/>
          <a:lstStyle/>
          <a:p>
            <a:pPr indent="0" marL="0">
              <a:buNone/>
            </a:pPr>
            <a:r>
              <a:rPr lang="en-US" sz="3000" b="1" dirty="0">
                <a:solidFill>
                  <a:srgbClr val="14181F"/>
                </a:solidFill>
                <a:latin typeface="Cambria" pitchFamily="34" charset="0"/>
                <a:ea typeface="Cambria" pitchFamily="34" charset="-122"/>
                <a:cs typeface="Cambria" pitchFamily="34" charset="-120"/>
              </a:rPr>
              <a:t>2 / 1</a:t>
            </a:r>
            <a:endParaRPr lang="en-US" sz="3000" dirty="0"/>
          </a:p>
        </p:txBody>
      </p:sp>
      <p:sp>
        <p:nvSpPr>
          <p:cNvPr id="17" name="Text 15"/>
          <p:cNvSpPr txBox="1"/>
          <p:nvPr/>
        </p:nvSpPr>
        <p:spPr>
          <a:xfrm>
            <a:off x="6848856" y="2148840"/>
            <a:ext cx="1691640" cy="548640"/>
          </a:xfrm>
          <a:prstGeom prst="rect">
            <a:avLst/>
          </a:prstGeom>
          <a:noFill/>
          <a:ln/>
        </p:spPr>
        <p:txBody>
          <a:bodyPr wrap="square" lIns="0" tIns="0" rIns="0" bIns="0" rtlCol="0" anchor="t"/>
          <a:lstStyle/>
          <a:p>
            <a:pPr indent="0" marL="0">
              <a:buNone/>
            </a:pPr>
            <a:r>
              <a:rPr lang="en-US" sz="1050" b="1" dirty="0">
                <a:solidFill>
                  <a:srgbClr val="14181F"/>
                </a:solidFill>
                <a:latin typeface="Calibri" pitchFamily="34" charset="0"/>
                <a:ea typeface="Calibri" pitchFamily="34" charset="-122"/>
                <a:cs typeface="Calibri" pitchFamily="34" charset="-120"/>
              </a:rPr>
              <a:t>seeded issues / open, on a clean demo database</a:t>
            </a:r>
            <a:endParaRPr lang="en-US" sz="1050" dirty="0"/>
          </a:p>
        </p:txBody>
      </p:sp>
      <p:sp>
        <p:nvSpPr>
          <p:cNvPr id="18" name="Text 16"/>
          <p:cNvSpPr txBox="1"/>
          <p:nvPr/>
        </p:nvSpPr>
        <p:spPr>
          <a:xfrm>
            <a:off x="6848856" y="2697480"/>
            <a:ext cx="1691640" cy="365760"/>
          </a:xfrm>
          <a:prstGeom prst="rect">
            <a:avLst/>
          </a:prstGeom>
          <a:noFill/>
          <a:ln/>
        </p:spPr>
        <p:txBody>
          <a:bodyPr wrap="square" lIns="0" tIns="0" rIns="0" bIns="0" rtlCol="0" anchor="t"/>
          <a:lstStyle/>
          <a:p>
            <a:pPr indent="0" marL="0">
              <a:buNone/>
            </a:pPr>
            <a:r>
              <a:rPr lang="en-US" sz="850" dirty="0">
                <a:solidFill>
                  <a:srgbClr val="6B7280"/>
                </a:solidFill>
                <a:latin typeface="Calibri" pitchFamily="34" charset="0"/>
                <a:ea typeface="Calibri" pitchFamily="34" charset="-122"/>
                <a:cs typeface="Calibri" pitchFamily="34" charset="-120"/>
              </a:rPr>
              <a:t>acceptance-run issues removed before the demo</a:t>
            </a:r>
            <a:endParaRPr lang="en-US" sz="850" dirty="0"/>
          </a:p>
        </p:txBody>
      </p:sp>
      <p:sp>
        <p:nvSpPr>
          <p:cNvPr id="19" name="Shape 17"/>
          <p:cNvSpPr/>
          <p:nvPr/>
        </p:nvSpPr>
        <p:spPr>
          <a:xfrm>
            <a:off x="457200" y="3291840"/>
            <a:ext cx="8229600" cy="1325880"/>
          </a:xfrm>
          <a:prstGeom prst="roundRect">
            <a:avLst>
              <a:gd name="adj" fmla="val 5517"/>
            </a:avLst>
          </a:prstGeom>
          <a:solidFill>
            <a:srgbClr val="F3F4F6"/>
          </a:solidFill>
          <a:ln w="9525">
            <a:solidFill>
              <a:srgbClr val="F3F4F6"/>
            </a:solidFill>
            <a:prstDash val="solid"/>
          </a:ln>
        </p:spPr>
      </p:sp>
      <p:sp>
        <p:nvSpPr>
          <p:cNvPr id="20" name="Text 18"/>
          <p:cNvSpPr txBox="1"/>
          <p:nvPr/>
        </p:nvSpPr>
        <p:spPr>
          <a:xfrm>
            <a:off x="640080" y="3383280"/>
            <a:ext cx="3657600" cy="274320"/>
          </a:xfrm>
          <a:prstGeom prst="rect">
            <a:avLst/>
          </a:prstGeom>
          <a:noFill/>
          <a:ln/>
        </p:spPr>
        <p:txBody>
          <a:bodyPr wrap="square" lIns="0" tIns="0" rIns="0" bIns="0" rtlCol="0" anchor="ctr"/>
          <a:lstStyle/>
          <a:p>
            <a:pPr indent="0" marL="0">
              <a:buNone/>
            </a:pPr>
            <a:r>
              <a:rPr lang="en-US" sz="1250" b="1" dirty="0">
                <a:solidFill>
                  <a:srgbClr val="14181F"/>
                </a:solidFill>
                <a:latin typeface="Cambria" pitchFamily="34" charset="0"/>
                <a:ea typeface="Cambria" pitchFamily="34" charset="-122"/>
                <a:cs typeface="Cambria" pitchFamily="34" charset="-120"/>
              </a:rPr>
              <a:t>Team &amp; supplier insights, live</a:t>
            </a:r>
            <a:endParaRPr lang="en-US" sz="1250" dirty="0"/>
          </a:p>
        </p:txBody>
      </p:sp>
      <p:sp>
        <p:nvSpPr>
          <p:cNvPr id="21" name="Text 19"/>
          <p:cNvSpPr txBox="1"/>
          <p:nvPr/>
        </p:nvSpPr>
        <p:spPr>
          <a:xfrm>
            <a:off x="640080" y="3703320"/>
            <a:ext cx="2194560" cy="256032"/>
          </a:xfrm>
          <a:prstGeom prst="rect">
            <a:avLst/>
          </a:prstGeom>
          <a:noFill/>
          <a:ln/>
        </p:spPr>
        <p:txBody>
          <a:bodyPr wrap="square" lIns="0" tIns="0" rIns="0" bIns="0" rtlCol="0" anchor="ctr"/>
          <a:lstStyle/>
          <a:p>
            <a:pPr indent="0" marL="0">
              <a:buNone/>
            </a:pPr>
            <a:r>
              <a:rPr lang="en-US" sz="1050" b="1" dirty="0">
                <a:solidFill>
                  <a:srgbClr val="14181F"/>
                </a:solidFill>
                <a:latin typeface="Calibri" pitchFamily="34" charset="0"/>
                <a:ea typeface="Calibri" pitchFamily="34" charset="-122"/>
                <a:cs typeface="Calibri" pitchFamily="34" charset="-120"/>
              </a:rPr>
              <a:t>Final Inspection</a:t>
            </a:r>
            <a:endParaRPr lang="en-US" sz="1050" dirty="0"/>
          </a:p>
        </p:txBody>
      </p:sp>
      <p:sp>
        <p:nvSpPr>
          <p:cNvPr id="22" name="Text 20"/>
          <p:cNvSpPr txBox="1"/>
          <p:nvPr/>
        </p:nvSpPr>
        <p:spPr>
          <a:xfrm>
            <a:off x="2926080" y="3703320"/>
            <a:ext cx="2103120" cy="256032"/>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reported 1</a:t>
            </a:r>
            <a:endParaRPr lang="en-US" sz="1050" dirty="0"/>
          </a:p>
        </p:txBody>
      </p:sp>
      <p:sp>
        <p:nvSpPr>
          <p:cNvPr id="23" name="Text 21"/>
          <p:cNvSpPr txBox="1"/>
          <p:nvPr/>
        </p:nvSpPr>
        <p:spPr>
          <a:xfrm>
            <a:off x="5120640" y="3703320"/>
            <a:ext cx="3383280" cy="256032"/>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confirmed cause 0</a:t>
            </a:r>
            <a:endParaRPr lang="en-US" sz="1050" dirty="0"/>
          </a:p>
        </p:txBody>
      </p:sp>
      <p:sp>
        <p:nvSpPr>
          <p:cNvPr id="24" name="Text 22"/>
          <p:cNvSpPr txBox="1"/>
          <p:nvPr/>
        </p:nvSpPr>
        <p:spPr>
          <a:xfrm>
            <a:off x="640080" y="3977640"/>
            <a:ext cx="2194560" cy="256032"/>
          </a:xfrm>
          <a:prstGeom prst="rect">
            <a:avLst/>
          </a:prstGeom>
          <a:noFill/>
          <a:ln/>
        </p:spPr>
        <p:txBody>
          <a:bodyPr wrap="square" lIns="0" tIns="0" rIns="0" bIns="0" rtlCol="0" anchor="ctr"/>
          <a:lstStyle/>
          <a:p>
            <a:pPr indent="0" marL="0">
              <a:buNone/>
            </a:pPr>
            <a:r>
              <a:rPr lang="en-US" sz="1050" b="1" dirty="0">
                <a:solidFill>
                  <a:srgbClr val="14181F"/>
                </a:solidFill>
                <a:latin typeface="Calibri" pitchFamily="34" charset="0"/>
                <a:ea typeface="Calibri" pitchFamily="34" charset="-122"/>
                <a:cs typeface="Calibri" pitchFamily="34" charset="-120"/>
              </a:rPr>
              <a:t>In-house Manufacturing</a:t>
            </a:r>
            <a:endParaRPr lang="en-US" sz="1050" dirty="0"/>
          </a:p>
        </p:txBody>
      </p:sp>
      <p:sp>
        <p:nvSpPr>
          <p:cNvPr id="25" name="Text 23"/>
          <p:cNvSpPr txBox="1"/>
          <p:nvPr/>
        </p:nvSpPr>
        <p:spPr>
          <a:xfrm>
            <a:off x="2926080" y="3977640"/>
            <a:ext cx="2103120" cy="256032"/>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reported 0</a:t>
            </a:r>
            <a:endParaRPr lang="en-US" sz="1050" dirty="0"/>
          </a:p>
        </p:txBody>
      </p:sp>
      <p:sp>
        <p:nvSpPr>
          <p:cNvPr id="26" name="Text 24"/>
          <p:cNvSpPr txBox="1"/>
          <p:nvPr/>
        </p:nvSpPr>
        <p:spPr>
          <a:xfrm>
            <a:off x="5120640" y="3977640"/>
            <a:ext cx="3383280" cy="256032"/>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confirmed cause 1</a:t>
            </a:r>
            <a:endParaRPr lang="en-US" sz="1050" dirty="0"/>
          </a:p>
        </p:txBody>
      </p:sp>
      <p:sp>
        <p:nvSpPr>
          <p:cNvPr id="27" name="Text 25"/>
          <p:cNvSpPr txBox="1"/>
          <p:nvPr/>
        </p:nvSpPr>
        <p:spPr>
          <a:xfrm>
            <a:off x="640080" y="4251960"/>
            <a:ext cx="2194560" cy="256032"/>
          </a:xfrm>
          <a:prstGeom prst="rect">
            <a:avLst/>
          </a:prstGeom>
          <a:noFill/>
          <a:ln/>
        </p:spPr>
        <p:txBody>
          <a:bodyPr wrap="square" lIns="0" tIns="0" rIns="0" bIns="0" rtlCol="0" anchor="ctr"/>
          <a:lstStyle/>
          <a:p>
            <a:pPr indent="0" marL="0">
              <a:buNone/>
            </a:pPr>
            <a:r>
              <a:rPr lang="en-US" sz="1050" b="1" dirty="0">
                <a:solidFill>
                  <a:srgbClr val="14181F"/>
                </a:solidFill>
                <a:latin typeface="Calibri" pitchFamily="34" charset="0"/>
                <a:ea typeface="Calibri" pitchFamily="34" charset="-122"/>
                <a:cs typeface="Calibri" pitchFamily="34" charset="-120"/>
              </a:rPr>
              <a:t>Demo Connector Supplier</a:t>
            </a:r>
            <a:endParaRPr lang="en-US" sz="1050" dirty="0"/>
          </a:p>
        </p:txBody>
      </p:sp>
      <p:sp>
        <p:nvSpPr>
          <p:cNvPr id="28" name="Text 26"/>
          <p:cNvSpPr txBox="1"/>
          <p:nvPr/>
        </p:nvSpPr>
        <p:spPr>
          <a:xfrm>
            <a:off x="2926080" y="4251960"/>
            <a:ext cx="2103120" cy="256032"/>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linked 1 · confirmed 1</a:t>
            </a:r>
            <a:endParaRPr lang="en-US" sz="1050" dirty="0"/>
          </a:p>
        </p:txBody>
      </p:sp>
      <p:sp>
        <p:nvSpPr>
          <p:cNvPr id="29" name="Text 27"/>
          <p:cNvSpPr txBox="1"/>
          <p:nvPr/>
        </p:nvSpPr>
        <p:spPr>
          <a:xfrm>
            <a:off x="5120640" y="4251960"/>
            <a:ext cx="3383280" cy="256032"/>
          </a:xfrm>
          <a:prstGeom prst="rect">
            <a:avLst/>
          </a:prstGeom>
          <a:noFill/>
          <a:ln/>
        </p:spPr>
        <p:txBody>
          <a:bodyPr wrap="square" lIns="0" tIns="0" rIns="0" bIns="0" rtlCol="0" anchor="ctr"/>
          <a:lstStyle/>
          <a:p>
            <a:pPr indent="0" marL="0">
              <a:buNone/>
            </a:pPr>
            <a:r>
              <a:rPr lang="en-US" sz="1050" b="1" dirty="0">
                <a:solidFill>
                  <a:srgbClr val="B85E1C"/>
                </a:solidFill>
                <a:latin typeface="Calibri" pitchFamily="34" charset="0"/>
                <a:ea typeface="Calibri" pitchFamily="34" charset="-122"/>
                <a:cs typeface="Calibri" pitchFamily="34" charset="-120"/>
              </a:rPr>
              <a:t>rate N/A, no complete cohort</a:t>
            </a:r>
            <a:endParaRPr lang="en-US" sz="1050" dirty="0"/>
          </a:p>
        </p:txBody>
      </p:sp>
      <p:sp>
        <p:nvSpPr>
          <p:cNvPr id="30" name="Text 28"/>
          <p:cNvSpPr txBox="1"/>
          <p:nvPr/>
        </p:nvSpPr>
        <p:spPr>
          <a:xfrm>
            <a:off x="457200" y="4754880"/>
            <a:ext cx="82296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Evidence: docs/evidence/acceptance-graph-7bd3cbcf-before.json and -after.json, acceptance-graph-final-dc32792.json, GET /api/insights on 2026-09-12. We show N/A, not zero.</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1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822960"/>
          </a:xfrm>
          <a:prstGeom prst="rect">
            <a:avLst/>
          </a:prstGeom>
          <a:noFill/>
          <a:ln/>
        </p:spPr>
        <p:txBody>
          <a:bodyPr wrap="square" lIns="0" tIns="0" rIns="0" bIns="0" rtlCol="0" anchor="t">
            <a:normAutofit/>
          </a:bodyPr>
          <a:lstStyle/>
          <a:p>
            <a:pPr indent="0" marL="0">
              <a:buNone/>
            </a:pPr>
            <a:r>
              <a:rPr lang="en-US" sz="2800" b="1" dirty="0">
                <a:solidFill>
                  <a:srgbClr val="FFFFFF"/>
                </a:solidFill>
                <a:latin typeface="Cambria" pitchFamily="34" charset="0"/>
                <a:ea typeface="Cambria" pitchFamily="34" charset="-122"/>
                <a:cs typeface="Cambria" pitchFamily="34" charset="-120"/>
              </a:rPr>
              <a:t>What is not built, and the next proof</a:t>
            </a:r>
            <a:endParaRPr lang="en-US" sz="2800" dirty="0"/>
          </a:p>
        </p:txBody>
      </p:sp>
      <p:sp>
        <p:nvSpPr>
          <p:cNvPr id="3" name="Shape 1"/>
          <p:cNvSpPr/>
          <p:nvPr/>
        </p:nvSpPr>
        <p:spPr>
          <a:xfrm>
            <a:off x="457200" y="1325880"/>
            <a:ext cx="4023360" cy="3246120"/>
          </a:xfrm>
          <a:prstGeom prst="roundRect">
            <a:avLst>
              <a:gd name="adj" fmla="val 2254"/>
            </a:avLst>
          </a:prstGeom>
          <a:solidFill>
            <a:srgbClr val="1E242E"/>
          </a:solidFill>
          <a:ln w="9525">
            <a:solidFill>
              <a:srgbClr val="2C3440"/>
            </a:solidFill>
            <a:prstDash val="solid"/>
          </a:ln>
        </p:spPr>
      </p:sp>
      <p:sp>
        <p:nvSpPr>
          <p:cNvPr id="4" name="Text 2"/>
          <p:cNvSpPr txBox="1"/>
          <p:nvPr/>
        </p:nvSpPr>
        <p:spPr>
          <a:xfrm>
            <a:off x="640080" y="1435608"/>
            <a:ext cx="3657600" cy="320040"/>
          </a:xfrm>
          <a:prstGeom prst="rect">
            <a:avLst/>
          </a:prstGeom>
          <a:noFill/>
          <a:ln/>
        </p:spPr>
        <p:txBody>
          <a:bodyPr wrap="square" lIns="0" tIns="0" rIns="0" bIns="0" rtlCol="0" anchor="ctr"/>
          <a:lstStyle/>
          <a:p>
            <a:pPr indent="0" marL="0">
              <a:buNone/>
            </a:pPr>
            <a:r>
              <a:rPr lang="en-US" sz="1400" b="1" dirty="0">
                <a:solidFill>
                  <a:srgbClr val="D9752B"/>
                </a:solidFill>
                <a:latin typeface="Cambria" pitchFamily="34" charset="0"/>
                <a:ea typeface="Cambria" pitchFamily="34" charset="-122"/>
                <a:cs typeface="Cambria" pitchFamily="34" charset="-120"/>
              </a:rPr>
              <a:t>Not built or not verified</a:t>
            </a:r>
            <a:endParaRPr lang="en-US" sz="1400" dirty="0"/>
          </a:p>
        </p:txBody>
      </p:sp>
      <p:sp>
        <p:nvSpPr>
          <p:cNvPr id="5" name="Text 3"/>
          <p:cNvSpPr txBox="1"/>
          <p:nvPr/>
        </p:nvSpPr>
        <p:spPr>
          <a:xfrm>
            <a:off x="640080" y="1828800"/>
            <a:ext cx="3657600" cy="265176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E5E7EB"/>
                </a:solidFill>
                <a:latin typeface="Calibri" pitchFamily="34" charset="0"/>
                <a:ea typeface="Calibri" pitchFamily="34" charset="-122"/>
                <a:cs typeface="Calibri" pitchFamily="34" charset="-120"/>
              </a:rPr>
              <a:t>CSV import in graph mode records a revision marker only; late-evidence correction is not wired.</a:t>
            </a:r>
            <a:endParaRPr lang="en-US" sz="1050" dirty="0"/>
          </a:p>
          <a:p>
            <a:pPr marL="342900" indent="-342900">
              <a:spcAft>
                <a:spcPts val="500"/>
              </a:spcAft>
              <a:buSzPct val="100000"/>
              <a:buChar char="•"/>
            </a:pPr>
            <a:r>
              <a:rPr lang="en-US" sz="1050" dirty="0">
                <a:solidFill>
                  <a:srgbClr val="E5E7EB"/>
                </a:solidFill>
                <a:latin typeface="Calibri" pitchFamily="34" charset="0"/>
                <a:ea typeface="Calibri" pitchFamily="34" charset="-122"/>
                <a:cs typeface="Calibri" pitchFamily="34" charset="-120"/>
              </a:rPr>
              <a:t>Supplier rates need an inspection cohort we have not seeded, so they show N/A.</a:t>
            </a:r>
            <a:endParaRPr lang="en-US" sz="1050" dirty="0"/>
          </a:p>
          <a:p>
            <a:pPr marL="342900" indent="-342900">
              <a:spcAft>
                <a:spcPts val="500"/>
              </a:spcAft>
              <a:buSzPct val="100000"/>
              <a:buChar char="•"/>
            </a:pPr>
            <a:r>
              <a:rPr lang="en-US" sz="1050" dirty="0">
                <a:solidFill>
                  <a:srgbClr val="E5E7EB"/>
                </a:solidFill>
                <a:latin typeface="Calibri" pitchFamily="34" charset="0"/>
                <a:ea typeface="Calibri" pitchFamily="34" charset="-122"/>
                <a:cs typeface="Calibri" pitchFamily="34" charset="-120"/>
              </a:rPr>
              <a:t>AI is optional and off by default. The assistant ran a labelled deterministic planner; a live model was not called in the recorded demo.</a:t>
            </a:r>
            <a:endParaRPr lang="en-US" sz="1050" dirty="0"/>
          </a:p>
          <a:p>
            <a:pPr marL="342900" indent="-342900">
              <a:spcAft>
                <a:spcPts val="500"/>
              </a:spcAft>
              <a:buSzPct val="100000"/>
              <a:buChar char="•"/>
            </a:pPr>
            <a:r>
              <a:rPr lang="en-US" sz="1050" dirty="0">
                <a:solidFill>
                  <a:srgbClr val="E5E7EB"/>
                </a:solidFill>
                <a:latin typeface="Calibri" pitchFamily="34" charset="0"/>
                <a:ea typeface="Calibri" pitchFamily="34" charset="-122"/>
                <a:cs typeface="Calibri" pitchFamily="34" charset="-120"/>
              </a:rPr>
              <a:t>Qoder-assisted development is not evidenced from the backend lane; the frontend adapter is untested. We do not claim it.</a:t>
            </a:r>
            <a:endParaRPr lang="en-US" sz="1050" dirty="0"/>
          </a:p>
          <a:p>
            <a:pPr marL="342900" indent="-342900">
              <a:buSzPct val="100000"/>
              <a:buChar char="•"/>
            </a:pPr>
            <a:r>
              <a:rPr lang="en-US" sz="1050" dirty="0">
                <a:solidFill>
                  <a:srgbClr val="E5E7EB"/>
                </a:solidFill>
                <a:latin typeface="Calibri" pitchFamily="34" charset="0"/>
                <a:ea typeface="Calibri" pitchFamily="34" charset="-122"/>
                <a:cs typeface="Calibri" pitchFamily="34" charset="-120"/>
              </a:rPr>
              <a:t>Robotics regression fixture is not loaded into Neo4j; those tests skip with a stated reason.</a:t>
            </a:r>
            <a:endParaRPr lang="en-US" sz="1050" dirty="0"/>
          </a:p>
        </p:txBody>
      </p:sp>
      <p:sp>
        <p:nvSpPr>
          <p:cNvPr id="6" name="Shape 4"/>
          <p:cNvSpPr/>
          <p:nvPr/>
        </p:nvSpPr>
        <p:spPr>
          <a:xfrm>
            <a:off x="4754880" y="1325880"/>
            <a:ext cx="3931920" cy="3246120"/>
          </a:xfrm>
          <a:prstGeom prst="roundRect">
            <a:avLst>
              <a:gd name="adj" fmla="val 2254"/>
            </a:avLst>
          </a:prstGeom>
          <a:solidFill>
            <a:srgbClr val="B85E1C"/>
          </a:solidFill>
          <a:ln w="9525">
            <a:solidFill>
              <a:srgbClr val="B85E1C"/>
            </a:solidFill>
            <a:prstDash val="solid"/>
          </a:ln>
        </p:spPr>
      </p:sp>
      <p:sp>
        <p:nvSpPr>
          <p:cNvPr id="7" name="Text 5"/>
          <p:cNvSpPr txBox="1"/>
          <p:nvPr/>
        </p:nvSpPr>
        <p:spPr>
          <a:xfrm>
            <a:off x="4937760" y="1435608"/>
            <a:ext cx="3566160" cy="32004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The ask: one bounded pilot</a:t>
            </a:r>
            <a:endParaRPr lang="en-US" sz="1400" dirty="0"/>
          </a:p>
        </p:txBody>
      </p:sp>
      <p:sp>
        <p:nvSpPr>
          <p:cNvPr id="8" name="Text 6"/>
          <p:cNvSpPr txBox="1"/>
          <p:nvPr/>
        </p:nvSpPr>
        <p:spPr>
          <a:xfrm>
            <a:off x="4937760" y="182880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FFFFFF"/>
                </a:solidFill>
                <a:latin typeface="Calibri" pitchFamily="34" charset="0"/>
                <a:ea typeface="Calibri" pitchFamily="34" charset="-122"/>
                <a:cs typeface="Calibri" pitchFamily="34" charset="-120"/>
              </a:rPr>
              <a:t>One site, one process or part family, one named quality reviewer.</a:t>
            </a:r>
            <a:endParaRPr lang="en-US" sz="1100" dirty="0"/>
          </a:p>
          <a:p>
            <a:pPr marL="342900" indent="-342900">
              <a:spcAft>
                <a:spcPts val="600"/>
              </a:spcAft>
              <a:buSzPct val="100000"/>
              <a:buChar char="•"/>
            </a:pPr>
            <a:r>
              <a:rPr lang="en-US" sz="1100" dirty="0">
                <a:solidFill>
                  <a:srgbClr val="FFFFFF"/>
                </a:solidFill>
                <a:latin typeface="Calibri" pitchFamily="34" charset="0"/>
                <a:ea typeface="Calibri" pitchFamily="34" charset="-122"/>
                <a:cs typeface="Calibri" pitchFamily="34" charset="-120"/>
              </a:rPr>
              <a:t>Three measured numbers: investigation time per issue, repeated issue families, verified fix reuse.</a:t>
            </a:r>
            <a:endParaRPr lang="en-US" sz="1100" dirty="0"/>
          </a:p>
          <a:p>
            <a:pPr marL="342900" indent="-342900">
              <a:spcAft>
                <a:spcPts val="600"/>
              </a:spcAft>
              <a:buSzPct val="100000"/>
              <a:buChar char="•"/>
            </a:pPr>
            <a:r>
              <a:rPr lang="en-US" sz="1100" dirty="0">
                <a:solidFill>
                  <a:srgbClr val="FFFFFF"/>
                </a:solidFill>
                <a:latin typeface="Calibri" pitchFamily="34" charset="0"/>
                <a:ea typeface="Calibri" pitchFamily="34" charset="-122"/>
                <a:cs typeface="Calibri" pitchFamily="34" charset="-120"/>
              </a:rPr>
              <a:t>Pricing follows those numbers, not the other way round.</a:t>
            </a:r>
            <a:endParaRPr lang="en-US" sz="1100" dirty="0"/>
          </a:p>
          <a:p>
            <a:pPr marL="342900" indent="-342900">
              <a:buSzPct val="100000"/>
              <a:buChar char="•"/>
            </a:pPr>
            <a:r>
              <a:rPr lang="en-US" sz="1100" dirty="0">
                <a:solidFill>
                  <a:srgbClr val="FFFFFF"/>
                </a:solidFill>
                <a:latin typeface="Calibri" pitchFamily="34" charset="0"/>
                <a:ea typeface="Calibri" pitchFamily="34" charset="-122"/>
                <a:cs typeface="Calibri" pitchFamily="34" charset="-120"/>
              </a:rPr>
              <a:t>Repo: github.com/zubair480/belle-hackathon, branch codex/final-integration.</a:t>
            </a:r>
            <a:endParaRPr lang="en-US" sz="1100" dirty="0"/>
          </a:p>
        </p:txBody>
      </p:sp>
      <p:sp>
        <p:nvSpPr>
          <p:cNvPr id="9" name="Text 7"/>
          <p:cNvSpPr txBox="1"/>
          <p:nvPr/>
        </p:nvSpPr>
        <p:spPr>
          <a:xfrm>
            <a:off x="457200" y="4754880"/>
            <a:ext cx="82296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Track A Builder plus the Neo4j bonus. EV assembly is our chosen domain. Nothing in the demo is a real factory record.</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RecallRadius judge deck</dc:title>
  <dc:subject>PptxGenJS Presentation</dc:subject>
  <dc:creator>RecallRadius team</dc:creator>
  <cp:lastModifiedBy>RecallRadius team</cp:lastModifiedBy>
  <cp:revision>1</cp:revision>
  <dcterms:created xsi:type="dcterms:W3CDTF">2026-09-12T23:18:48Z</dcterms:created>
  <dcterms:modified xsi:type="dcterms:W3CDTF">2026-09-12T23:18:48Z</dcterms:modified>
</cp:coreProperties>
</file>