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synthetic-data line once. Final Inspection finds the charge-port connector sitting proud on DEMO-EV-005. The connector was bought; the bracket under it was made in-house. Today those records, the last fix and its verification live in different systems, and the team that found the defect usually gets the blame. Then go straight to slide 2, then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Forty global carmakers paid fifty-eight billion in warranty claims in 2024 and the claims rate is rising. Every dollar started as an issue someone found on a line. We work on the step between finding the defect and proving the fix, on three cost lines a pilot can measure. Now switch to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demo. Left: the real model. A bought part and a made part share one Origin shape, so one query answers both. Right: what we verified today against the live Aura instance, with a restart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If asked about AI: it drafts and explains with citations verified against source spans; it never confirms a cause or closes an issue. If asked about Qoder: say what was and was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457200" y="502920"/>
            <a:ext cx="5486400" cy="457200"/>
          </a:xfrm>
          <a:prstGeom prst="rect">
            <a:avLst/>
          </a:prstGeom>
          <a:noFill/>
          <a:ln/>
        </p:spPr>
        <p:txBody>
          <a:bodyPr wrap="square" lIns="0" tIns="0" rIns="0" bIns="0" rtlCol="0" anchor="ctr"/>
          <a:lstStyle/>
          <a:p>
            <a:pPr indent="0" marL="0">
              <a:buNone/>
            </a:pPr>
            <a:r>
              <a:rPr lang="en-US" sz="1400" b="1" spc="400" kern="0" dirty="0">
                <a:solidFill>
                  <a:srgbClr val="D9752B"/>
                </a:solidFill>
                <a:latin typeface="Calibri" pitchFamily="34" charset="0"/>
                <a:ea typeface="Calibri" pitchFamily="34" charset="-122"/>
                <a:cs typeface="Calibri" pitchFamily="34" charset="-120"/>
              </a:rPr>
              <a:t>RecallRadius</a:t>
            </a:r>
            <a:endParaRPr lang="en-US" sz="1400" dirty="0"/>
          </a:p>
        </p:txBody>
      </p:sp>
      <p:sp>
        <p:nvSpPr>
          <p:cNvPr id="3" name="Text 1"/>
          <p:cNvSpPr txBox="1"/>
          <p:nvPr/>
        </p:nvSpPr>
        <p:spPr>
          <a:xfrm>
            <a:off x="457200" y="960120"/>
            <a:ext cx="5577840" cy="1828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EV fails final inspection. Where did the part come from, and has anyone fixed this before?</a:t>
            </a:r>
            <a:endParaRPr lang="en-US" sz="3000" dirty="0"/>
          </a:p>
        </p:txBody>
      </p:sp>
      <p:sp>
        <p:nvSpPr>
          <p:cNvPr id="4" name="Text 2"/>
          <p:cNvSpPr txBox="1"/>
          <p:nvPr/>
        </p:nvSpPr>
        <p:spPr>
          <a:xfrm>
            <a:off x="457200" y="2926080"/>
            <a:ext cx="5486400" cy="822960"/>
          </a:xfrm>
          <a:prstGeom prst="rect">
            <a:avLst/>
          </a:prstGeom>
          <a:noFill/>
          <a:ln/>
        </p:spPr>
        <p:txBody>
          <a:bodyPr wrap="square" lIns="0" tIns="0" rIns="0" bIns="0" rtlCol="0" anchor="t"/>
          <a:lstStyle/>
          <a:p>
            <a:pPr indent="0" marL="0">
              <a:buNone/>
            </a:pPr>
            <a:r>
              <a:rPr lang="en-US" sz="1400" dirty="0">
                <a:solidFill>
                  <a:srgbClr val="D1D5DB"/>
                </a:solidFill>
                <a:latin typeface="Calibri" pitchFamily="34" charset="0"/>
                <a:ea typeface="Calibri" pitchFamily="34" charset="-122"/>
                <a:cs typeface="Calibri" pitchFamily="34" charset="-120"/>
              </a:rPr>
              <a:t>An issue-to-verified-fix workspace for EV vehicle assemblers. Every issue, part, lot, team, cause, fix and verification is one connected record in Neo4j.</a:t>
            </a:r>
            <a:endParaRPr lang="en-US" sz="1400" dirty="0"/>
          </a:p>
        </p:txBody>
      </p:sp>
      <p:sp>
        <p:nvSpPr>
          <p:cNvPr id="5" name="Text 3"/>
          <p:cNvSpPr txBox="1"/>
          <p:nvPr/>
        </p:nvSpPr>
        <p:spPr>
          <a:xfrm>
            <a:off x="457200" y="3931920"/>
            <a:ext cx="5669280" cy="548640"/>
          </a:xfrm>
          <a:prstGeom prst="rect">
            <a:avLst/>
          </a:prstGeom>
          <a:noFill/>
          <a:ln/>
        </p:spPr>
        <p:txBody>
          <a:bodyPr wrap="square" lIns="0" tIns="0" rIns="0" bIns="0" rtlCol="0" anchor="t"/>
          <a:lstStyle/>
          <a:p>
            <a:pPr indent="0" marL="0">
              <a:buNone/>
            </a:pPr>
            <a:r>
              <a:rPr lang="en-US" sz="1050" dirty="0">
                <a:solidFill>
                  <a:srgbClr val="9CA3AF"/>
                </a:solidFill>
                <a:latin typeface="Calibri" pitchFamily="34" charset="0"/>
                <a:ea typeface="Calibri" pitchFamily="34" charset="-122"/>
                <a:cs typeface="Calibri" pitchFamily="34" charset="-120"/>
              </a:rPr>
              <a:t>B.E.L.L.E hackathon, San Francisco, 12 September 2026  ·  Zubair (backend, contract, Neo4j, integration), Ali (frontend, pitch), Codey (data, trace fixtures)</a:t>
            </a:r>
            <a:endParaRPr lang="en-US" sz="1050" dirty="0"/>
          </a:p>
        </p:txBody>
      </p:sp>
      <p:sp>
        <p:nvSpPr>
          <p:cNvPr id="6" name="Shape 4"/>
          <p:cNvSpPr/>
          <p:nvPr/>
        </p:nvSpPr>
        <p:spPr>
          <a:xfrm>
            <a:off x="6400800" y="914400"/>
            <a:ext cx="2286000" cy="3566160"/>
          </a:xfrm>
          <a:prstGeom prst="roundRect">
            <a:avLst>
              <a:gd name="adj" fmla="val 3200"/>
            </a:avLst>
          </a:prstGeom>
          <a:solidFill>
            <a:srgbClr val="1E242E"/>
          </a:solidFill>
          <a:ln w="9525">
            <a:solidFill>
              <a:srgbClr val="2C3440"/>
            </a:solidFill>
            <a:prstDash val="solid"/>
          </a:ln>
        </p:spPr>
      </p:sp>
      <p:sp>
        <p:nvSpPr>
          <p:cNvPr id="7" name="Text 5"/>
          <p:cNvSpPr txBox="1"/>
          <p:nvPr/>
        </p:nvSpPr>
        <p:spPr>
          <a:xfrm>
            <a:off x="6400800" y="1051560"/>
            <a:ext cx="22860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DEMO-EV-005</a:t>
            </a:r>
            <a:endParaRPr lang="en-US" sz="1100" dirty="0"/>
          </a:p>
        </p:txBody>
      </p:sp>
      <p:sp>
        <p:nvSpPr>
          <p:cNvPr id="8" name="Text 6"/>
          <p:cNvSpPr txBox="1"/>
          <p:nvPr/>
        </p:nvSpPr>
        <p:spPr>
          <a:xfrm>
            <a:off x="6400800" y="1298448"/>
            <a:ext cx="2286000" cy="228600"/>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sedan build, VIN not assigned</a:t>
            </a:r>
            <a:endParaRPr lang="en-US" sz="900" dirty="0"/>
          </a:p>
        </p:txBody>
      </p:sp>
      <p:sp>
        <p:nvSpPr>
          <p:cNvPr id="9" name="Shape 7"/>
          <p:cNvSpPr/>
          <p:nvPr/>
        </p:nvSpPr>
        <p:spPr>
          <a:xfrm>
            <a:off x="7543800" y="1572768"/>
            <a:ext cx="0" cy="210312"/>
          </a:xfrm>
          <a:prstGeom prst="line">
            <a:avLst/>
          </a:prstGeom>
          <a:noFill/>
          <a:ln w="15875">
            <a:solidFill>
              <a:srgbClr val="6B7280"/>
            </a:solidFill>
            <a:prstDash val="solid"/>
          </a:ln>
        </p:spPr>
      </p:sp>
      <p:sp>
        <p:nvSpPr>
          <p:cNvPr id="10" name="Shape 8"/>
          <p:cNvSpPr/>
          <p:nvPr/>
        </p:nvSpPr>
        <p:spPr>
          <a:xfrm flipH="1">
            <a:off x="6949440" y="2423160"/>
            <a:ext cx="594360" cy="457200"/>
          </a:xfrm>
          <a:prstGeom prst="line">
            <a:avLst/>
          </a:prstGeom>
          <a:noFill/>
          <a:ln w="15875">
            <a:solidFill>
              <a:srgbClr val="6B7280"/>
            </a:solidFill>
            <a:prstDash val="solid"/>
          </a:ln>
        </p:spPr>
      </p:sp>
      <p:sp>
        <p:nvSpPr>
          <p:cNvPr id="11" name="Shape 9"/>
          <p:cNvSpPr/>
          <p:nvPr/>
        </p:nvSpPr>
        <p:spPr>
          <a:xfrm>
            <a:off x="7543800" y="2423160"/>
            <a:ext cx="594360" cy="457200"/>
          </a:xfrm>
          <a:prstGeom prst="line">
            <a:avLst/>
          </a:prstGeom>
          <a:noFill/>
          <a:ln w="15875">
            <a:solidFill>
              <a:srgbClr val="6B7280"/>
            </a:solidFill>
            <a:prstDash val="solid"/>
          </a:ln>
        </p:spPr>
      </p:sp>
      <p:sp>
        <p:nvSpPr>
          <p:cNvPr id="12" name="Shape 10"/>
          <p:cNvSpPr/>
          <p:nvPr/>
        </p:nvSpPr>
        <p:spPr>
          <a:xfrm>
            <a:off x="7086600" y="1783080"/>
            <a:ext cx="914400" cy="640080"/>
          </a:xfrm>
          <a:prstGeom prst="roundRect">
            <a:avLst>
              <a:gd name="adj" fmla="val 14286"/>
            </a:avLst>
          </a:prstGeom>
          <a:solidFill>
            <a:srgbClr val="2C3440"/>
          </a:solidFill>
          <a:ln w="12700">
            <a:solidFill>
              <a:srgbClr val="2C3440"/>
            </a:solidFill>
            <a:prstDash val="solid"/>
          </a:ln>
        </p:spPr>
      </p:sp>
      <p:sp>
        <p:nvSpPr>
          <p:cNvPr id="13" name="Text 11"/>
          <p:cNvSpPr txBox="1"/>
          <p:nvPr/>
        </p:nvSpPr>
        <p:spPr>
          <a:xfrm>
            <a:off x="7086600" y="1783080"/>
            <a:ext cx="914400" cy="640080"/>
          </a:xfrm>
          <a:prstGeom prst="rect">
            <a:avLst/>
          </a:prstGeom>
          <a:noFill/>
          <a:ln/>
        </p:spPr>
        <p:txBody>
          <a:bodyPr wrap="square" lIns="381" tIns="381" rIns="381" bIns="381"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CPM-0005</a:t>
            </a:r>
            <a:endParaRPr lang="en-US" sz="950" dirty="0"/>
          </a:p>
          <a:p>
            <a:pPr algn="ctr" indent="0" marL="0">
              <a:buNone/>
            </a:pPr>
            <a:r>
              <a:rPr lang="en-US" sz="700" dirty="0">
                <a:solidFill>
                  <a:srgbClr val="E5E7EB"/>
                </a:solidFill>
                <a:latin typeface="Calibri" pitchFamily="34" charset="0"/>
                <a:ea typeface="Calibri" pitchFamily="34" charset="-122"/>
                <a:cs typeface="Calibri" pitchFamily="34" charset="-120"/>
              </a:rPr>
              <a:t>charge-port module</a:t>
            </a:r>
            <a:endParaRPr lang="en-US" sz="950" dirty="0"/>
          </a:p>
        </p:txBody>
      </p:sp>
      <p:sp>
        <p:nvSpPr>
          <p:cNvPr id="14" name="Shape 12"/>
          <p:cNvSpPr/>
          <p:nvPr/>
        </p:nvSpPr>
        <p:spPr>
          <a:xfrm>
            <a:off x="6492240" y="2880360"/>
            <a:ext cx="914400" cy="640080"/>
          </a:xfrm>
          <a:prstGeom prst="roundRect">
            <a:avLst>
              <a:gd name="adj" fmla="val 14286"/>
            </a:avLst>
          </a:prstGeom>
          <a:solidFill>
            <a:srgbClr val="B85E1C"/>
          </a:solidFill>
          <a:ln w="12700">
            <a:solidFill>
              <a:srgbClr val="B85E1C"/>
            </a:solidFill>
            <a:prstDash val="solid"/>
          </a:ln>
        </p:spPr>
      </p:sp>
      <p:sp>
        <p:nvSpPr>
          <p:cNvPr id="15" name="Text 13"/>
          <p:cNvSpPr txBox="1"/>
          <p:nvPr/>
        </p:nvSpPr>
        <p:spPr>
          <a:xfrm>
            <a:off x="6492240" y="2880360"/>
            <a:ext cx="914400" cy="640080"/>
          </a:xfrm>
          <a:prstGeom prst="rect">
            <a:avLst/>
          </a:prstGeom>
          <a:noFill/>
          <a:ln/>
        </p:spPr>
        <p:txBody>
          <a:bodyPr wrap="square" lIns="381" tIns="381" rIns="381" bIns="381"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CONN-0005</a:t>
            </a:r>
            <a:endParaRPr lang="en-US" sz="950" dirty="0"/>
          </a:p>
          <a:p>
            <a:pPr algn="ctr" indent="0" marL="0">
              <a:buNone/>
            </a:pPr>
            <a:r>
              <a:rPr lang="en-US" sz="700" dirty="0">
                <a:solidFill>
                  <a:srgbClr val="E5E7EB"/>
                </a:solidFill>
                <a:latin typeface="Calibri" pitchFamily="34" charset="0"/>
                <a:ea typeface="Calibri" pitchFamily="34" charset="-122"/>
                <a:cs typeface="Calibri" pitchFamily="34" charset="-120"/>
              </a:rPr>
              <a:t>bought · DEMO-SUP-LOT-01</a:t>
            </a:r>
            <a:endParaRPr lang="en-US" sz="950" dirty="0"/>
          </a:p>
        </p:txBody>
      </p:sp>
      <p:sp>
        <p:nvSpPr>
          <p:cNvPr id="16" name="Shape 14"/>
          <p:cNvSpPr/>
          <p:nvPr/>
        </p:nvSpPr>
        <p:spPr>
          <a:xfrm>
            <a:off x="7680960" y="2880360"/>
            <a:ext cx="914400" cy="640080"/>
          </a:xfrm>
          <a:prstGeom prst="roundRect">
            <a:avLst>
              <a:gd name="adj" fmla="val 14286"/>
            </a:avLst>
          </a:prstGeom>
          <a:solidFill>
            <a:srgbClr val="3E8E6E"/>
          </a:solidFill>
          <a:ln w="12700">
            <a:solidFill>
              <a:srgbClr val="3E8E6E"/>
            </a:solidFill>
            <a:prstDash val="solid"/>
          </a:ln>
        </p:spPr>
      </p:sp>
      <p:sp>
        <p:nvSpPr>
          <p:cNvPr id="17" name="Text 15"/>
          <p:cNvSpPr txBox="1"/>
          <p:nvPr/>
        </p:nvSpPr>
        <p:spPr>
          <a:xfrm>
            <a:off x="7680960" y="2880360"/>
            <a:ext cx="914400" cy="640080"/>
          </a:xfrm>
          <a:prstGeom prst="rect">
            <a:avLst/>
          </a:prstGeom>
          <a:noFill/>
          <a:ln/>
        </p:spPr>
        <p:txBody>
          <a:bodyPr wrap="square" lIns="381" tIns="381" rIns="381" bIns="381"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BRKT-0005</a:t>
            </a:r>
            <a:endParaRPr lang="en-US" sz="950" dirty="0"/>
          </a:p>
          <a:p>
            <a:pPr algn="ctr" indent="0" marL="0">
              <a:buNone/>
            </a:pPr>
            <a:r>
              <a:rPr lang="en-US" sz="700" dirty="0">
                <a:solidFill>
                  <a:srgbClr val="E5E7EB"/>
                </a:solidFill>
                <a:latin typeface="Calibri" pitchFamily="34" charset="0"/>
                <a:ea typeface="Calibri" pitchFamily="34" charset="-122"/>
                <a:cs typeface="Calibri" pitchFamily="34" charset="-120"/>
              </a:rPr>
              <a:t>made · DEMO-MFG-LOT-01</a:t>
            </a:r>
            <a:endParaRPr lang="en-US" sz="950" dirty="0"/>
          </a:p>
        </p:txBody>
      </p:sp>
      <p:sp>
        <p:nvSpPr>
          <p:cNvPr id="18" name="Text 16"/>
          <p:cNvSpPr txBox="1"/>
          <p:nvPr/>
        </p:nvSpPr>
        <p:spPr>
          <a:xfrm>
            <a:off x="6400800" y="3703320"/>
            <a:ext cx="2286000" cy="548640"/>
          </a:xfrm>
          <a:prstGeom prst="rect">
            <a:avLst/>
          </a:prstGeom>
          <a:noFill/>
          <a:ln/>
        </p:spPr>
        <p:txBody>
          <a:bodyPr wrap="square" lIns="635" tIns="635" rIns="635" bIns="635" rtlCol="0" anchor="t"/>
          <a:lstStyle/>
          <a:p>
            <a:pPr algn="ctr" indent="0" marL="0">
              <a:buNone/>
            </a:pPr>
            <a:r>
              <a:rPr lang="en-US" sz="850" i="1" dirty="0">
                <a:solidFill>
                  <a:srgbClr val="9CA3AF"/>
                </a:solidFill>
                <a:latin typeface="Calibri" pitchFamily="34" charset="0"/>
                <a:ea typeface="Calibri" pitchFamily="34" charset="-122"/>
                <a:cs typeface="Calibri" pitchFamily="34" charset="-120"/>
              </a:rPr>
              <a:t>purchased connector and in-house bracket, one module, one build</a:t>
            </a:r>
            <a:endParaRPr lang="en-US" sz="850" dirty="0"/>
          </a:p>
        </p:txBody>
      </p:sp>
      <p:sp>
        <p:nvSpPr>
          <p:cNvPr id="19" name="Text 1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850" dirty="0">
                <a:solidFill>
                  <a:srgbClr val="9CA3AF"/>
                </a:solidFill>
                <a:latin typeface="Calibri" pitchFamily="34" charset="0"/>
                <a:ea typeface="Calibri" pitchFamily="34" charset="-122"/>
                <a:cs typeface="Calibri" pitchFamily="34" charset="-120"/>
              </a:rPr>
              <a:t>All factory records are synthetic. The plant, suppliers, vehicles and teams are fictional.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822960"/>
          </a:xfrm>
          <a:prstGeom prst="rect">
            <a:avLst/>
          </a:prstGeom>
          <a:noFill/>
          <a:ln/>
        </p:spPr>
        <p:txBody>
          <a:bodyPr wrap="square" lIns="0" tIns="0" rIns="0" bIns="0" rtlCol="0" anchor="t">
            <a:normAutofit/>
          </a:bodyPr>
          <a:lstStyle/>
          <a:p>
            <a:pPr indent="0" marL="0">
              <a:buNone/>
            </a:pPr>
            <a:r>
              <a:rPr lang="en-US" sz="2800" b="1" dirty="0">
                <a:solidFill>
                  <a:srgbClr val="14181F"/>
                </a:solidFill>
                <a:latin typeface="Cambria" pitchFamily="34" charset="0"/>
                <a:ea typeface="Cambria" pitchFamily="34" charset="-122"/>
                <a:cs typeface="Cambria" pitchFamily="34" charset="-120"/>
              </a:rPr>
              <a:t>The problem is measured in tens of billions a year</a:t>
            </a:r>
            <a:endParaRPr lang="en-US" sz="2800" dirty="0"/>
          </a:p>
        </p:txBody>
      </p:sp>
      <p:sp>
        <p:nvSpPr>
          <p:cNvPr id="3" name="Shape 1"/>
          <p:cNvSpPr/>
          <p:nvPr/>
        </p:nvSpPr>
        <p:spPr>
          <a:xfrm>
            <a:off x="457200" y="1325880"/>
            <a:ext cx="1965960" cy="1600200"/>
          </a:xfrm>
          <a:prstGeom prst="roundRect">
            <a:avLst>
              <a:gd name="adj" fmla="val 4571"/>
            </a:avLst>
          </a:prstGeom>
          <a:solidFill>
            <a:srgbClr val="F3F4F6"/>
          </a:solidFill>
          <a:ln w="9525">
            <a:solidFill>
              <a:srgbClr val="F3F4F6"/>
            </a:solidFill>
            <a:prstDash val="solid"/>
          </a:ln>
        </p:spPr>
      </p:sp>
      <p:sp>
        <p:nvSpPr>
          <p:cNvPr id="4" name="Text 2"/>
          <p:cNvSpPr txBox="1"/>
          <p:nvPr/>
        </p:nvSpPr>
        <p:spPr>
          <a:xfrm>
            <a:off x="594360" y="1399032"/>
            <a:ext cx="1691640" cy="548640"/>
          </a:xfrm>
          <a:prstGeom prst="rect">
            <a:avLst/>
          </a:prstGeom>
          <a:noFill/>
          <a:ln/>
        </p:spPr>
        <p:txBody>
          <a:bodyPr wrap="square" lIns="0" tIns="0" rIns="0" bIns="0" rtlCol="0" anchor="ctr">
            <a:normAutofit/>
          </a:bodyPr>
          <a:lstStyle/>
          <a:p>
            <a:pPr indent="0" marL="0">
              <a:buNone/>
            </a:pPr>
            <a:r>
              <a:rPr lang="en-US" sz="2800" b="1" dirty="0">
                <a:solidFill>
                  <a:srgbClr val="14181F"/>
                </a:solidFill>
                <a:latin typeface="Cambria" pitchFamily="34" charset="0"/>
                <a:ea typeface="Cambria" pitchFamily="34" charset="-122"/>
                <a:cs typeface="Cambria" pitchFamily="34" charset="-120"/>
              </a:rPr>
              <a:t>$57.9B</a:t>
            </a:r>
            <a:endParaRPr lang="en-US" sz="2800" dirty="0"/>
          </a:p>
        </p:txBody>
      </p:sp>
      <p:sp>
        <p:nvSpPr>
          <p:cNvPr id="5" name="Text 3"/>
          <p:cNvSpPr txBox="1"/>
          <p:nvPr/>
        </p:nvSpPr>
        <p:spPr>
          <a:xfrm>
            <a:off x="594360" y="1984248"/>
            <a:ext cx="1691640" cy="64008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warranty claims paid by 40 global carmakers in 2024</a:t>
            </a:r>
            <a:endParaRPr lang="en-US" sz="1050" dirty="0"/>
          </a:p>
        </p:txBody>
      </p:sp>
      <p:sp>
        <p:nvSpPr>
          <p:cNvPr id="6" name="Text 4"/>
          <p:cNvSpPr txBox="1"/>
          <p:nvPr/>
        </p:nvSpPr>
        <p:spPr>
          <a:xfrm>
            <a:off x="594360" y="2624328"/>
            <a:ext cx="1691640" cy="25603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Warranty Week, Oct 2025</a:t>
            </a:r>
            <a:endParaRPr lang="en-US" sz="850" dirty="0"/>
          </a:p>
        </p:txBody>
      </p:sp>
      <p:sp>
        <p:nvSpPr>
          <p:cNvPr id="7" name="Shape 5"/>
          <p:cNvSpPr/>
          <p:nvPr/>
        </p:nvSpPr>
        <p:spPr>
          <a:xfrm>
            <a:off x="2542032" y="1325880"/>
            <a:ext cx="1965960" cy="1600200"/>
          </a:xfrm>
          <a:prstGeom prst="roundRect">
            <a:avLst>
              <a:gd name="adj" fmla="val 4571"/>
            </a:avLst>
          </a:prstGeom>
          <a:solidFill>
            <a:srgbClr val="14181F"/>
          </a:solidFill>
          <a:ln w="9525">
            <a:solidFill>
              <a:srgbClr val="14181F"/>
            </a:solidFill>
            <a:prstDash val="solid"/>
          </a:ln>
        </p:spPr>
      </p:sp>
      <p:sp>
        <p:nvSpPr>
          <p:cNvPr id="8" name="Text 6"/>
          <p:cNvSpPr txBox="1"/>
          <p:nvPr/>
        </p:nvSpPr>
        <p:spPr>
          <a:xfrm>
            <a:off x="2679192" y="1399032"/>
            <a:ext cx="1691640" cy="548640"/>
          </a:xfrm>
          <a:prstGeom prst="rect">
            <a:avLst/>
          </a:prstGeom>
          <a:noFill/>
          <a:ln/>
        </p:spPr>
        <p:txBody>
          <a:bodyPr wrap="square" lIns="0" tIns="0" rIns="0" bIns="0" rtlCol="0" anchor="ctr">
            <a:normAutofit/>
          </a:bodyPr>
          <a:lstStyle/>
          <a:p>
            <a:pPr indent="0" marL="0">
              <a:buNone/>
            </a:pPr>
            <a:r>
              <a:rPr lang="en-US" sz="2800" b="1" dirty="0">
                <a:solidFill>
                  <a:srgbClr val="D9752B"/>
                </a:solidFill>
                <a:latin typeface="Cambria" pitchFamily="34" charset="0"/>
                <a:ea typeface="Cambria" pitchFamily="34" charset="-122"/>
                <a:cs typeface="Cambria" pitchFamily="34" charset="-120"/>
              </a:rPr>
              <a:t>2.2%</a:t>
            </a:r>
            <a:endParaRPr lang="en-US" sz="2800" dirty="0"/>
          </a:p>
        </p:txBody>
      </p:sp>
      <p:sp>
        <p:nvSpPr>
          <p:cNvPr id="9" name="Text 7"/>
          <p:cNvSpPr txBox="1"/>
          <p:nvPr/>
        </p:nvSpPr>
        <p:spPr>
          <a:xfrm>
            <a:off x="2679192" y="1984248"/>
            <a:ext cx="1691640" cy="640080"/>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warranty claims rate in 2024, up from 1.9%: one-sixth worse in a year</a:t>
            </a:r>
            <a:endParaRPr lang="en-US" sz="1050" dirty="0"/>
          </a:p>
        </p:txBody>
      </p:sp>
      <p:sp>
        <p:nvSpPr>
          <p:cNvPr id="10" name="Text 8"/>
          <p:cNvSpPr txBox="1"/>
          <p:nvPr/>
        </p:nvSpPr>
        <p:spPr>
          <a:xfrm>
            <a:off x="2679192" y="2624328"/>
            <a:ext cx="1691640" cy="256032"/>
          </a:xfrm>
          <a:prstGeom prst="rect">
            <a:avLst/>
          </a:prstGeom>
          <a:noFill/>
          <a:ln/>
        </p:spPr>
        <p:txBody>
          <a:bodyPr wrap="square" lIns="0" tIns="0" rIns="0" bIns="0" rtlCol="0" anchor="t"/>
          <a:lstStyle/>
          <a:p>
            <a:pPr indent="0" marL="0">
              <a:buNone/>
            </a:pPr>
            <a:r>
              <a:rPr lang="en-US" sz="850" dirty="0">
                <a:solidFill>
                  <a:srgbClr val="9CA3AF"/>
                </a:solidFill>
                <a:latin typeface="Calibri" pitchFamily="34" charset="0"/>
                <a:ea typeface="Calibri" pitchFamily="34" charset="-122"/>
                <a:cs typeface="Calibri" pitchFamily="34" charset="-120"/>
              </a:rPr>
              <a:t>Warranty Week, Oct 2025</a:t>
            </a:r>
            <a:endParaRPr lang="en-US" sz="850" dirty="0"/>
          </a:p>
        </p:txBody>
      </p:sp>
      <p:sp>
        <p:nvSpPr>
          <p:cNvPr id="11" name="Shape 9"/>
          <p:cNvSpPr/>
          <p:nvPr/>
        </p:nvSpPr>
        <p:spPr>
          <a:xfrm>
            <a:off x="4626864" y="1325880"/>
            <a:ext cx="1965960" cy="1600200"/>
          </a:xfrm>
          <a:prstGeom prst="roundRect">
            <a:avLst>
              <a:gd name="adj" fmla="val 4571"/>
            </a:avLst>
          </a:prstGeom>
          <a:solidFill>
            <a:srgbClr val="F3F4F6"/>
          </a:solidFill>
          <a:ln w="9525">
            <a:solidFill>
              <a:srgbClr val="F3F4F6"/>
            </a:solidFill>
            <a:prstDash val="solid"/>
          </a:ln>
        </p:spPr>
      </p:sp>
      <p:sp>
        <p:nvSpPr>
          <p:cNvPr id="12" name="Text 10"/>
          <p:cNvSpPr txBox="1"/>
          <p:nvPr/>
        </p:nvSpPr>
        <p:spPr>
          <a:xfrm>
            <a:off x="4764024" y="1399032"/>
            <a:ext cx="1691640" cy="548640"/>
          </a:xfrm>
          <a:prstGeom prst="rect">
            <a:avLst/>
          </a:prstGeom>
          <a:noFill/>
          <a:ln/>
        </p:spPr>
        <p:txBody>
          <a:bodyPr wrap="square" lIns="0" tIns="0" rIns="0" bIns="0" rtlCol="0" anchor="ctr">
            <a:normAutofit/>
          </a:bodyPr>
          <a:lstStyle/>
          <a:p>
            <a:pPr indent="0" marL="0">
              <a:buNone/>
            </a:pPr>
            <a:r>
              <a:rPr lang="en-US" sz="2800" b="1" dirty="0">
                <a:solidFill>
                  <a:srgbClr val="14181F"/>
                </a:solidFill>
                <a:latin typeface="Cambria" pitchFamily="34" charset="0"/>
                <a:ea typeface="Cambria" pitchFamily="34" charset="-122"/>
                <a:cs typeface="Cambria" pitchFamily="34" charset="-120"/>
              </a:rPr>
              <a:t>3 to 4%</a:t>
            </a:r>
            <a:endParaRPr lang="en-US" sz="2800" dirty="0"/>
          </a:p>
        </p:txBody>
      </p:sp>
      <p:sp>
        <p:nvSpPr>
          <p:cNvPr id="13" name="Text 11"/>
          <p:cNvSpPr txBox="1"/>
          <p:nvPr/>
        </p:nvSpPr>
        <p:spPr>
          <a:xfrm>
            <a:off x="4764024" y="1984248"/>
            <a:ext cx="1691640" cy="64008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of OEM revenue now goes to warranty claims</a:t>
            </a:r>
            <a:endParaRPr lang="en-US" sz="1050" dirty="0"/>
          </a:p>
        </p:txBody>
      </p:sp>
      <p:sp>
        <p:nvSpPr>
          <p:cNvPr id="14" name="Text 12"/>
          <p:cNvSpPr txBox="1"/>
          <p:nvPr/>
        </p:nvSpPr>
        <p:spPr>
          <a:xfrm>
            <a:off x="4764024" y="2624328"/>
            <a:ext cx="1691640" cy="25603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WardsAuto, Apr 2026</a:t>
            </a:r>
            <a:endParaRPr lang="en-US" sz="850" dirty="0"/>
          </a:p>
        </p:txBody>
      </p:sp>
      <p:sp>
        <p:nvSpPr>
          <p:cNvPr id="15" name="Shape 13"/>
          <p:cNvSpPr/>
          <p:nvPr/>
        </p:nvSpPr>
        <p:spPr>
          <a:xfrm>
            <a:off x="6711696" y="1325880"/>
            <a:ext cx="1965960" cy="1600200"/>
          </a:xfrm>
          <a:prstGeom prst="roundRect">
            <a:avLst>
              <a:gd name="adj" fmla="val 4571"/>
            </a:avLst>
          </a:prstGeom>
          <a:solidFill>
            <a:srgbClr val="F3F4F6"/>
          </a:solidFill>
          <a:ln w="9525">
            <a:solidFill>
              <a:srgbClr val="F3F4F6"/>
            </a:solidFill>
            <a:prstDash val="solid"/>
          </a:ln>
        </p:spPr>
      </p:sp>
      <p:sp>
        <p:nvSpPr>
          <p:cNvPr id="16" name="Text 14"/>
          <p:cNvSpPr txBox="1"/>
          <p:nvPr/>
        </p:nvSpPr>
        <p:spPr>
          <a:xfrm>
            <a:off x="6848856" y="1399032"/>
            <a:ext cx="1691640" cy="548640"/>
          </a:xfrm>
          <a:prstGeom prst="rect">
            <a:avLst/>
          </a:prstGeom>
          <a:noFill/>
          <a:ln/>
        </p:spPr>
        <p:txBody>
          <a:bodyPr wrap="square" lIns="0" tIns="0" rIns="0" bIns="0" rtlCol="0" anchor="ctr">
            <a:normAutofit/>
          </a:bodyPr>
          <a:lstStyle/>
          <a:p>
            <a:pPr indent="0" marL="0">
              <a:buNone/>
            </a:pPr>
            <a:r>
              <a:rPr lang="en-US" sz="2800" b="1" dirty="0">
                <a:solidFill>
                  <a:srgbClr val="14181F"/>
                </a:solidFill>
                <a:latin typeface="Cambria" pitchFamily="34" charset="0"/>
                <a:ea typeface="Cambria" pitchFamily="34" charset="-122"/>
                <a:cs typeface="Cambria" pitchFamily="34" charset="-120"/>
              </a:rPr>
              <a:t>27.7M</a:t>
            </a:r>
            <a:endParaRPr lang="en-US" sz="2800" dirty="0"/>
          </a:p>
        </p:txBody>
      </p:sp>
      <p:sp>
        <p:nvSpPr>
          <p:cNvPr id="17" name="Text 15"/>
          <p:cNvSpPr txBox="1"/>
          <p:nvPr/>
        </p:nvSpPr>
        <p:spPr>
          <a:xfrm>
            <a:off x="6848856" y="1984248"/>
            <a:ext cx="1691640" cy="64008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US vehicles recalled in 2024; electrical systems the top component</a:t>
            </a:r>
            <a:endParaRPr lang="en-US" sz="1050" dirty="0"/>
          </a:p>
        </p:txBody>
      </p:sp>
      <p:sp>
        <p:nvSpPr>
          <p:cNvPr id="18" name="Text 16"/>
          <p:cNvSpPr txBox="1"/>
          <p:nvPr/>
        </p:nvSpPr>
        <p:spPr>
          <a:xfrm>
            <a:off x="6848856" y="2624328"/>
            <a:ext cx="1691640" cy="25603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NHTSA 2024 report</a:t>
            </a:r>
            <a:endParaRPr lang="en-US" sz="850" dirty="0"/>
          </a:p>
        </p:txBody>
      </p:sp>
      <p:sp>
        <p:nvSpPr>
          <p:cNvPr id="19" name="Shape 17"/>
          <p:cNvSpPr/>
          <p:nvPr/>
        </p:nvSpPr>
        <p:spPr>
          <a:xfrm>
            <a:off x="457200" y="3291840"/>
            <a:ext cx="2377440" cy="1325880"/>
          </a:xfrm>
          <a:prstGeom prst="roundRect">
            <a:avLst>
              <a:gd name="adj" fmla="val 5517"/>
            </a:avLst>
          </a:prstGeom>
          <a:solidFill>
            <a:srgbClr val="14181F"/>
          </a:solidFill>
          <a:ln w="9525">
            <a:solidFill>
              <a:srgbClr val="14181F"/>
            </a:solidFill>
            <a:prstDash val="solid"/>
          </a:ln>
        </p:spPr>
      </p:sp>
      <p:sp>
        <p:nvSpPr>
          <p:cNvPr id="20" name="Text 18"/>
          <p:cNvSpPr txBox="1"/>
          <p:nvPr/>
        </p:nvSpPr>
        <p:spPr>
          <a:xfrm>
            <a:off x="594360" y="3383280"/>
            <a:ext cx="2103120" cy="502920"/>
          </a:xfrm>
          <a:prstGeom prst="rect">
            <a:avLst/>
          </a:prstGeom>
          <a:noFill/>
          <a:ln/>
        </p:spPr>
        <p:txBody>
          <a:bodyPr wrap="square" lIns="0" tIns="0" rIns="0" bIns="0" rtlCol="0" anchor="ctr"/>
          <a:lstStyle/>
          <a:p>
            <a:pPr indent="0" marL="0">
              <a:buNone/>
            </a:pPr>
            <a:r>
              <a:rPr lang="en-US" sz="2400" b="1" dirty="0">
                <a:solidFill>
                  <a:srgbClr val="D9752B"/>
                </a:solidFill>
                <a:latin typeface="Cambria" pitchFamily="34" charset="0"/>
                <a:ea typeface="Cambria" pitchFamily="34" charset="-122"/>
                <a:cs typeface="Cambria" pitchFamily="34" charset="-120"/>
              </a:rPr>
              <a:t>5 to 30%</a:t>
            </a:r>
            <a:endParaRPr lang="en-US" sz="2400" dirty="0"/>
          </a:p>
        </p:txBody>
      </p:sp>
      <p:sp>
        <p:nvSpPr>
          <p:cNvPr id="21" name="Text 19"/>
          <p:cNvSpPr txBox="1"/>
          <p:nvPr/>
        </p:nvSpPr>
        <p:spPr>
          <a:xfrm>
            <a:off x="594360" y="3886200"/>
            <a:ext cx="2103120" cy="685800"/>
          </a:xfrm>
          <a:prstGeom prst="rect">
            <a:avLst/>
          </a:prstGeom>
          <a:noFill/>
          <a:ln/>
        </p:spPr>
        <p:txBody>
          <a:bodyPr wrap="square" lIns="0" tIns="0" rIns="0" bIns="0" rtlCol="0" anchor="t"/>
          <a:lstStyle/>
          <a:p>
            <a:pPr indent="0" marL="0">
              <a:buNone/>
            </a:pPr>
            <a:r>
              <a:rPr lang="en-US" sz="900" dirty="0">
                <a:solidFill>
                  <a:srgbClr val="D1D5DB"/>
                </a:solidFill>
                <a:latin typeface="Calibri" pitchFamily="34" charset="0"/>
                <a:ea typeface="Calibri" pitchFamily="34" charset="-122"/>
                <a:cs typeface="Calibri" pitchFamily="34" charset="-120"/>
              </a:rPr>
              <a:t>of revenue is the industry range for the cost of poor quality: scrap, rework, warranty, returns.</a:t>
            </a:r>
            <a:endParaRPr lang="en-US" sz="900" dirty="0"/>
          </a:p>
        </p:txBody>
      </p:sp>
      <p:sp>
        <p:nvSpPr>
          <p:cNvPr id="22" name="Text 20"/>
          <p:cNvSpPr txBox="1"/>
          <p:nvPr/>
        </p:nvSpPr>
        <p:spPr>
          <a:xfrm>
            <a:off x="2971800" y="3017520"/>
            <a:ext cx="5669280" cy="256032"/>
          </a:xfrm>
          <a:prstGeom prst="rect">
            <a:avLst/>
          </a:prstGeom>
          <a:noFill/>
          <a:ln/>
        </p:spPr>
        <p:txBody>
          <a:bodyPr wrap="square" lIns="0" tIns="0" rIns="0" bIns="0" rtlCol="0" anchor="ctr"/>
          <a:lstStyle/>
          <a:p>
            <a:pPr indent="0" marL="0">
              <a:buNone/>
            </a:pPr>
            <a:r>
              <a:rPr lang="en-US" sz="1000" b="1" dirty="0">
                <a:solidFill>
                  <a:srgbClr val="14181F"/>
                </a:solidFill>
                <a:latin typeface="Calibri" pitchFamily="34" charset="0"/>
                <a:ea typeface="Calibri" pitchFamily="34" charset="-122"/>
                <a:cs typeface="Calibri" pitchFamily="34" charset="-120"/>
              </a:rPr>
              <a:t>Where RecallRadius takes cost out, and what a pilot measures</a:t>
            </a:r>
            <a:endParaRPr lang="en-US" sz="1000" dirty="0"/>
          </a:p>
        </p:txBody>
      </p:sp>
      <p:sp>
        <p:nvSpPr>
          <p:cNvPr id="23" name="Shape 21"/>
          <p:cNvSpPr/>
          <p:nvPr/>
        </p:nvSpPr>
        <p:spPr>
          <a:xfrm>
            <a:off x="2971800" y="3291840"/>
            <a:ext cx="1844040" cy="1325880"/>
          </a:xfrm>
          <a:prstGeom prst="roundRect">
            <a:avLst>
              <a:gd name="adj" fmla="val 5517"/>
            </a:avLst>
          </a:prstGeom>
          <a:solidFill>
            <a:srgbClr val="F3F4F6"/>
          </a:solidFill>
          <a:ln w="9525">
            <a:solidFill>
              <a:srgbClr val="F3F4F6"/>
            </a:solidFill>
            <a:prstDash val="solid"/>
          </a:ln>
        </p:spPr>
      </p:sp>
      <p:sp>
        <p:nvSpPr>
          <p:cNvPr id="24" name="Shape 22"/>
          <p:cNvSpPr/>
          <p:nvPr/>
        </p:nvSpPr>
        <p:spPr>
          <a:xfrm>
            <a:off x="3081528" y="3401568"/>
            <a:ext cx="310896" cy="310896"/>
          </a:xfrm>
          <a:prstGeom prst="ellipse">
            <a:avLst/>
          </a:prstGeom>
          <a:solidFill>
            <a:srgbClr val="D9752B"/>
          </a:solidFill>
          <a:ln w="12700">
            <a:solidFill>
              <a:srgbClr val="D9752B"/>
            </a:solidFill>
            <a:prstDash val="solid"/>
          </a:ln>
        </p:spPr>
      </p:sp>
      <p:sp>
        <p:nvSpPr>
          <p:cNvPr id="25" name="Text 23"/>
          <p:cNvSpPr txBox="1"/>
          <p:nvPr/>
        </p:nvSpPr>
        <p:spPr>
          <a:xfrm>
            <a:off x="3081528"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4"/>
          <p:cNvSpPr txBox="1"/>
          <p:nvPr/>
        </p:nvSpPr>
        <p:spPr>
          <a:xfrm>
            <a:off x="3447288" y="3383280"/>
            <a:ext cx="1295400" cy="347472"/>
          </a:xfrm>
          <a:prstGeom prst="rect">
            <a:avLst/>
          </a:prstGeom>
          <a:noFill/>
          <a:ln/>
        </p:spPr>
        <p:txBody>
          <a:bodyPr wrap="square" lIns="0" tIns="0" rIns="0" bIns="0" rtlCol="0" anchor="ctr"/>
          <a:lstStyle/>
          <a:p>
            <a:pPr indent="0" marL="0">
              <a:buNone/>
            </a:pPr>
            <a:r>
              <a:rPr lang="en-US" sz="1100" b="1" dirty="0">
                <a:solidFill>
                  <a:srgbClr val="14181F"/>
                </a:solidFill>
                <a:latin typeface="Cambria" pitchFamily="34" charset="0"/>
                <a:ea typeface="Cambria" pitchFamily="34" charset="-122"/>
                <a:cs typeface="Cambria" pitchFamily="34" charset="-120"/>
              </a:rPr>
              <a:t>Investigation time</a:t>
            </a:r>
            <a:endParaRPr lang="en-US" sz="1100" dirty="0"/>
          </a:p>
        </p:txBody>
      </p:sp>
      <p:sp>
        <p:nvSpPr>
          <p:cNvPr id="27" name="Text 25"/>
          <p:cNvSpPr txBox="1"/>
          <p:nvPr/>
        </p:nvSpPr>
        <p:spPr>
          <a:xfrm>
            <a:off x="3081528" y="3794760"/>
            <a:ext cx="1624584"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both origins, the prior fix and its verification in one record</a:t>
            </a:r>
            <a:endParaRPr lang="en-US" sz="900" dirty="0"/>
          </a:p>
        </p:txBody>
      </p:sp>
      <p:sp>
        <p:nvSpPr>
          <p:cNvPr id="28" name="Shape 26"/>
          <p:cNvSpPr/>
          <p:nvPr/>
        </p:nvSpPr>
        <p:spPr>
          <a:xfrm>
            <a:off x="4907280" y="3291840"/>
            <a:ext cx="1844040" cy="1325880"/>
          </a:xfrm>
          <a:prstGeom prst="roundRect">
            <a:avLst>
              <a:gd name="adj" fmla="val 5517"/>
            </a:avLst>
          </a:prstGeom>
          <a:solidFill>
            <a:srgbClr val="F3F4F6"/>
          </a:solidFill>
          <a:ln w="9525">
            <a:solidFill>
              <a:srgbClr val="F3F4F6"/>
            </a:solidFill>
            <a:prstDash val="solid"/>
          </a:ln>
        </p:spPr>
      </p:sp>
      <p:sp>
        <p:nvSpPr>
          <p:cNvPr id="29" name="Shape 27"/>
          <p:cNvSpPr/>
          <p:nvPr/>
        </p:nvSpPr>
        <p:spPr>
          <a:xfrm>
            <a:off x="5017008" y="3401568"/>
            <a:ext cx="310896" cy="310896"/>
          </a:xfrm>
          <a:prstGeom prst="ellipse">
            <a:avLst/>
          </a:prstGeom>
          <a:solidFill>
            <a:srgbClr val="D9752B"/>
          </a:solidFill>
          <a:ln w="12700">
            <a:solidFill>
              <a:srgbClr val="D9752B"/>
            </a:solidFill>
            <a:prstDash val="solid"/>
          </a:ln>
        </p:spPr>
      </p:sp>
      <p:sp>
        <p:nvSpPr>
          <p:cNvPr id="30" name="Text 28"/>
          <p:cNvSpPr txBox="1"/>
          <p:nvPr/>
        </p:nvSpPr>
        <p:spPr>
          <a:xfrm>
            <a:off x="5017008"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9"/>
          <p:cNvSpPr txBox="1"/>
          <p:nvPr/>
        </p:nvSpPr>
        <p:spPr>
          <a:xfrm>
            <a:off x="5382768" y="3383280"/>
            <a:ext cx="1295400" cy="347472"/>
          </a:xfrm>
          <a:prstGeom prst="rect">
            <a:avLst/>
          </a:prstGeom>
          <a:noFill/>
          <a:ln/>
        </p:spPr>
        <p:txBody>
          <a:bodyPr wrap="square" lIns="0" tIns="0" rIns="0" bIns="0" rtlCol="0" anchor="ctr"/>
          <a:lstStyle/>
          <a:p>
            <a:pPr indent="0" marL="0">
              <a:buNone/>
            </a:pPr>
            <a:r>
              <a:rPr lang="en-US" sz="1100" b="1" dirty="0">
                <a:solidFill>
                  <a:srgbClr val="14181F"/>
                </a:solidFill>
                <a:latin typeface="Cambria" pitchFamily="34" charset="0"/>
                <a:ea typeface="Cambria" pitchFamily="34" charset="-122"/>
                <a:cs typeface="Cambria" pitchFamily="34" charset="-120"/>
              </a:rPr>
              <a:t>Repeated issue families</a:t>
            </a:r>
            <a:endParaRPr lang="en-US" sz="1100" dirty="0"/>
          </a:p>
        </p:txBody>
      </p:sp>
      <p:sp>
        <p:nvSpPr>
          <p:cNvPr id="32" name="Text 30"/>
          <p:cNvSpPr txBox="1"/>
          <p:nvPr/>
        </p:nvSpPr>
        <p:spPr>
          <a:xfrm>
            <a:off x="5017008" y="3794760"/>
            <a:ext cx="1624584"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the verified fix for the same defect, part family and step is retrieved</a:t>
            </a:r>
            <a:endParaRPr lang="en-US" sz="900" dirty="0"/>
          </a:p>
        </p:txBody>
      </p:sp>
      <p:sp>
        <p:nvSpPr>
          <p:cNvPr id="33" name="Shape 31"/>
          <p:cNvSpPr/>
          <p:nvPr/>
        </p:nvSpPr>
        <p:spPr>
          <a:xfrm>
            <a:off x="6842760" y="3291840"/>
            <a:ext cx="1844040" cy="1325880"/>
          </a:xfrm>
          <a:prstGeom prst="roundRect">
            <a:avLst>
              <a:gd name="adj" fmla="val 5517"/>
            </a:avLst>
          </a:prstGeom>
          <a:solidFill>
            <a:srgbClr val="F3F4F6"/>
          </a:solidFill>
          <a:ln w="9525">
            <a:solidFill>
              <a:srgbClr val="F3F4F6"/>
            </a:solidFill>
            <a:prstDash val="solid"/>
          </a:ln>
        </p:spPr>
      </p:sp>
      <p:sp>
        <p:nvSpPr>
          <p:cNvPr id="34" name="Shape 32"/>
          <p:cNvSpPr/>
          <p:nvPr/>
        </p:nvSpPr>
        <p:spPr>
          <a:xfrm>
            <a:off x="6952488" y="3401568"/>
            <a:ext cx="310896" cy="310896"/>
          </a:xfrm>
          <a:prstGeom prst="ellipse">
            <a:avLst/>
          </a:prstGeom>
          <a:solidFill>
            <a:srgbClr val="D9752B"/>
          </a:solidFill>
          <a:ln w="12700">
            <a:solidFill>
              <a:srgbClr val="D9752B"/>
            </a:solidFill>
            <a:prstDash val="solid"/>
          </a:ln>
        </p:spPr>
      </p:sp>
      <p:sp>
        <p:nvSpPr>
          <p:cNvPr id="35" name="Text 33"/>
          <p:cNvSpPr txBox="1"/>
          <p:nvPr/>
        </p:nvSpPr>
        <p:spPr>
          <a:xfrm>
            <a:off x="6952488"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Text 34"/>
          <p:cNvSpPr txBox="1"/>
          <p:nvPr/>
        </p:nvSpPr>
        <p:spPr>
          <a:xfrm>
            <a:off x="7318248" y="3383280"/>
            <a:ext cx="1295400" cy="347472"/>
          </a:xfrm>
          <a:prstGeom prst="rect">
            <a:avLst/>
          </a:prstGeom>
          <a:noFill/>
          <a:ln/>
        </p:spPr>
        <p:txBody>
          <a:bodyPr wrap="square" lIns="0" tIns="0" rIns="0" bIns="0" rtlCol="0" anchor="ctr"/>
          <a:lstStyle/>
          <a:p>
            <a:pPr indent="0" marL="0">
              <a:buNone/>
            </a:pPr>
            <a:r>
              <a:rPr lang="en-US" sz="1100" b="1" dirty="0">
                <a:solidFill>
                  <a:srgbClr val="14181F"/>
                </a:solidFill>
                <a:latin typeface="Cambria" pitchFamily="34" charset="0"/>
                <a:ea typeface="Cambria" pitchFamily="34" charset="-122"/>
                <a:cs typeface="Cambria" pitchFamily="34" charset="-120"/>
              </a:rPr>
              <a:t>Verified fix reuse</a:t>
            </a:r>
            <a:endParaRPr lang="en-US" sz="1100" dirty="0"/>
          </a:p>
        </p:txBody>
      </p:sp>
      <p:sp>
        <p:nvSpPr>
          <p:cNvPr id="37" name="Text 35"/>
          <p:cNvSpPr txBox="1"/>
          <p:nvPr/>
        </p:nvSpPr>
        <p:spPr>
          <a:xfrm>
            <a:off x="6952488" y="3794760"/>
            <a:ext cx="1624584" cy="777240"/>
          </a:xfrm>
          <a:prstGeom prst="rect">
            <a:avLst/>
          </a:prstGeom>
          <a:noFill/>
          <a:ln/>
        </p:spPr>
        <p:txBody>
          <a:bodyPr wrap="square" lIns="0" tIns="0" rIns="0" bIns="0" rtlCol="0" anchor="t"/>
          <a:lstStyle/>
          <a:p>
            <a:pPr indent="0" marL="0">
              <a:buNone/>
            </a:pPr>
            <a:r>
              <a:rPr lang="en-US" sz="900" dirty="0">
                <a:solidFill>
                  <a:srgbClr val="374151"/>
                </a:solidFill>
                <a:latin typeface="Calibri" pitchFamily="34" charset="0"/>
                <a:ea typeface="Calibri" pitchFamily="34" charset="-122"/>
                <a:cs typeface="Calibri" pitchFamily="34" charset="-120"/>
              </a:rPr>
              <a:t>a reused fix is a proposal until this vehicle passes its own check</a:t>
            </a:r>
            <a:endParaRPr lang="en-US" sz="900" dirty="0"/>
          </a:p>
        </p:txBody>
      </p:sp>
      <p:sp>
        <p:nvSpPr>
          <p:cNvPr id="38" name="Text 3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Public industry figures, not our measurements; the cost-of-poor-quality range is as cited by industry sources. We claim no savings, customers or market share.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822960"/>
          </a:xfrm>
          <a:prstGeom prst="rect">
            <a:avLst/>
          </a:prstGeom>
          <a:noFill/>
          <a:ln/>
        </p:spPr>
        <p:txBody>
          <a:bodyPr wrap="square" lIns="0" tIns="0" rIns="0" bIns="0" rtlCol="0" anchor="t">
            <a:normAutofit/>
          </a:bodyPr>
          <a:lstStyle/>
          <a:p>
            <a:pPr indent="0" marL="0">
              <a:buNone/>
            </a:pPr>
            <a:r>
              <a:rPr lang="en-US" sz="2800" b="1" dirty="0">
                <a:solidFill>
                  <a:srgbClr val="FFFFFF"/>
                </a:solidFill>
                <a:latin typeface="Cambria" pitchFamily="34" charset="0"/>
                <a:ea typeface="Cambria" pitchFamily="34" charset="-122"/>
                <a:cs typeface="Cambria" pitchFamily="34" charset="-120"/>
              </a:rPr>
              <a:t>Why Neo4j, and what is real today</a:t>
            </a:r>
            <a:endParaRPr lang="en-US" sz="2800" dirty="0"/>
          </a:p>
        </p:txBody>
      </p:sp>
      <p:sp>
        <p:nvSpPr>
          <p:cNvPr id="3" name="Shape 1"/>
          <p:cNvSpPr/>
          <p:nvPr/>
        </p:nvSpPr>
        <p:spPr>
          <a:xfrm>
            <a:off x="457200" y="1325880"/>
            <a:ext cx="4206240" cy="3246120"/>
          </a:xfrm>
          <a:prstGeom prst="roundRect">
            <a:avLst>
              <a:gd name="adj" fmla="val 2254"/>
            </a:avLst>
          </a:prstGeom>
          <a:solidFill>
            <a:srgbClr val="1E242E"/>
          </a:solidFill>
          <a:ln w="9525">
            <a:solidFill>
              <a:srgbClr val="2C3440"/>
            </a:solidFill>
            <a:prstDash val="solid"/>
          </a:ln>
        </p:spPr>
      </p:sp>
      <p:sp>
        <p:nvSpPr>
          <p:cNvPr id="4" name="Shape 2"/>
          <p:cNvSpPr/>
          <p:nvPr/>
        </p:nvSpPr>
        <p:spPr>
          <a:xfrm>
            <a:off x="640080" y="1554480"/>
            <a:ext cx="1051560" cy="365760"/>
          </a:xfrm>
          <a:prstGeom prst="roundRect">
            <a:avLst>
              <a:gd name="adj" fmla="val 20000"/>
            </a:avLst>
          </a:prstGeom>
          <a:solidFill>
            <a:srgbClr val="4B5563"/>
          </a:solidFill>
          <a:ln w="12700">
            <a:solidFill>
              <a:srgbClr val="4B5563"/>
            </a:solidFill>
            <a:prstDash val="solid"/>
          </a:ln>
        </p:spPr>
      </p:sp>
      <p:sp>
        <p:nvSpPr>
          <p:cNvPr id="5" name="Text 3"/>
          <p:cNvSpPr txBox="1"/>
          <p:nvPr/>
        </p:nvSpPr>
        <p:spPr>
          <a:xfrm>
            <a:off x="640080" y="155448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Supplier</a:t>
            </a:r>
            <a:endParaRPr lang="en-US" sz="900" dirty="0"/>
          </a:p>
        </p:txBody>
      </p:sp>
      <p:sp>
        <p:nvSpPr>
          <p:cNvPr id="6" name="Shape 4"/>
          <p:cNvSpPr/>
          <p:nvPr/>
        </p:nvSpPr>
        <p:spPr>
          <a:xfrm>
            <a:off x="2011680" y="1554480"/>
            <a:ext cx="1051560" cy="365760"/>
          </a:xfrm>
          <a:prstGeom prst="roundRect">
            <a:avLst>
              <a:gd name="adj" fmla="val 20000"/>
            </a:avLst>
          </a:prstGeom>
          <a:solidFill>
            <a:srgbClr val="B85E1C"/>
          </a:solidFill>
          <a:ln w="12700">
            <a:solidFill>
              <a:srgbClr val="B85E1C"/>
            </a:solidFill>
            <a:prstDash val="solid"/>
          </a:ln>
        </p:spPr>
      </p:sp>
      <p:sp>
        <p:nvSpPr>
          <p:cNvPr id="7" name="Text 5"/>
          <p:cNvSpPr txBox="1"/>
          <p:nvPr/>
        </p:nvSpPr>
        <p:spPr>
          <a:xfrm>
            <a:off x="2011680" y="155448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SupplierLot</a:t>
            </a:r>
            <a:endParaRPr lang="en-US" sz="900" dirty="0"/>
          </a:p>
        </p:txBody>
      </p:sp>
      <p:sp>
        <p:nvSpPr>
          <p:cNvPr id="8" name="Shape 6"/>
          <p:cNvSpPr/>
          <p:nvPr/>
        </p:nvSpPr>
        <p:spPr>
          <a:xfrm>
            <a:off x="3383280" y="1554480"/>
            <a:ext cx="1051560" cy="365760"/>
          </a:xfrm>
          <a:prstGeom prst="roundRect">
            <a:avLst>
              <a:gd name="adj" fmla="val 20000"/>
            </a:avLst>
          </a:prstGeom>
          <a:solidFill>
            <a:srgbClr val="3E8E6E"/>
          </a:solidFill>
          <a:ln w="12700">
            <a:solidFill>
              <a:srgbClr val="3E8E6E"/>
            </a:solidFill>
            <a:prstDash val="solid"/>
          </a:ln>
        </p:spPr>
      </p:sp>
      <p:sp>
        <p:nvSpPr>
          <p:cNvPr id="9" name="Text 7"/>
          <p:cNvSpPr txBox="1"/>
          <p:nvPr/>
        </p:nvSpPr>
        <p:spPr>
          <a:xfrm>
            <a:off x="3383280" y="155448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MfgLot</a:t>
            </a:r>
            <a:endParaRPr lang="en-US" sz="900" dirty="0"/>
          </a:p>
        </p:txBody>
      </p:sp>
      <p:sp>
        <p:nvSpPr>
          <p:cNvPr id="10" name="Shape 8"/>
          <p:cNvSpPr/>
          <p:nvPr/>
        </p:nvSpPr>
        <p:spPr>
          <a:xfrm>
            <a:off x="1691640" y="1737360"/>
            <a:ext cx="320040" cy="0"/>
          </a:xfrm>
          <a:prstGeom prst="line">
            <a:avLst/>
          </a:prstGeom>
          <a:noFill/>
          <a:ln w="12700">
            <a:solidFill>
              <a:srgbClr val="9CA3AF"/>
            </a:solidFill>
            <a:prstDash val="solid"/>
            <a:tailEnd type="triangle"/>
          </a:ln>
        </p:spPr>
      </p:sp>
      <p:sp>
        <p:nvSpPr>
          <p:cNvPr id="11" name="Text 9"/>
          <p:cNvSpPr txBox="1"/>
          <p:nvPr/>
        </p:nvSpPr>
        <p:spPr>
          <a:xfrm>
            <a:off x="1417320" y="1371600"/>
            <a:ext cx="86868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SUPPLIED_BY</a:t>
            </a:r>
            <a:endParaRPr lang="en-US" sz="700" dirty="0"/>
          </a:p>
        </p:txBody>
      </p:sp>
      <p:sp>
        <p:nvSpPr>
          <p:cNvPr id="12" name="Shape 10"/>
          <p:cNvSpPr/>
          <p:nvPr/>
        </p:nvSpPr>
        <p:spPr>
          <a:xfrm>
            <a:off x="2011680" y="2377440"/>
            <a:ext cx="1051560" cy="365760"/>
          </a:xfrm>
          <a:prstGeom prst="roundRect">
            <a:avLst>
              <a:gd name="adj" fmla="val 20000"/>
            </a:avLst>
          </a:prstGeom>
          <a:solidFill>
            <a:srgbClr val="374151"/>
          </a:solidFill>
          <a:ln w="12700">
            <a:solidFill>
              <a:srgbClr val="374151"/>
            </a:solidFill>
            <a:prstDash val="solid"/>
          </a:ln>
        </p:spPr>
      </p:sp>
      <p:sp>
        <p:nvSpPr>
          <p:cNvPr id="13" name="Text 11"/>
          <p:cNvSpPr txBox="1"/>
          <p:nvPr/>
        </p:nvSpPr>
        <p:spPr>
          <a:xfrm>
            <a:off x="2011680" y="237744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Origin</a:t>
            </a:r>
            <a:endParaRPr lang="en-US" sz="900" dirty="0"/>
          </a:p>
        </p:txBody>
      </p:sp>
      <p:sp>
        <p:nvSpPr>
          <p:cNvPr id="14" name="Shape 12"/>
          <p:cNvSpPr/>
          <p:nvPr/>
        </p:nvSpPr>
        <p:spPr>
          <a:xfrm>
            <a:off x="2532888" y="1920240"/>
            <a:ext cx="0" cy="457200"/>
          </a:xfrm>
          <a:prstGeom prst="line">
            <a:avLst/>
          </a:prstGeom>
          <a:noFill/>
          <a:ln w="12700">
            <a:solidFill>
              <a:srgbClr val="9CA3AF"/>
            </a:solidFill>
            <a:prstDash val="solid"/>
            <a:tailEnd type="triangle"/>
          </a:ln>
        </p:spPr>
      </p:sp>
      <p:sp>
        <p:nvSpPr>
          <p:cNvPr id="15" name="Text 13"/>
          <p:cNvSpPr txBox="1"/>
          <p:nvPr/>
        </p:nvSpPr>
        <p:spPr>
          <a:xfrm>
            <a:off x="2560320" y="1984248"/>
            <a:ext cx="100584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FROM_SUPPLIER_LOT</a:t>
            </a:r>
            <a:endParaRPr lang="en-US" sz="700" dirty="0"/>
          </a:p>
        </p:txBody>
      </p:sp>
      <p:sp>
        <p:nvSpPr>
          <p:cNvPr id="16" name="Shape 14"/>
          <p:cNvSpPr/>
          <p:nvPr/>
        </p:nvSpPr>
        <p:spPr>
          <a:xfrm>
            <a:off x="3063240" y="2560320"/>
            <a:ext cx="320040" cy="0"/>
          </a:xfrm>
          <a:prstGeom prst="line">
            <a:avLst/>
          </a:prstGeom>
          <a:noFill/>
          <a:ln w="12700">
            <a:solidFill>
              <a:srgbClr val="9CA3AF"/>
            </a:solidFill>
            <a:prstDash val="solid"/>
            <a:tailEnd type="triangle"/>
          </a:ln>
        </p:spPr>
      </p:sp>
      <p:sp>
        <p:nvSpPr>
          <p:cNvPr id="17" name="Text 15"/>
          <p:cNvSpPr txBox="1"/>
          <p:nvPr/>
        </p:nvSpPr>
        <p:spPr>
          <a:xfrm>
            <a:off x="2971800" y="2743200"/>
            <a:ext cx="64008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PRODUCED_IN</a:t>
            </a:r>
            <a:endParaRPr lang="en-US" sz="700" dirty="0"/>
          </a:p>
        </p:txBody>
      </p:sp>
      <p:sp>
        <p:nvSpPr>
          <p:cNvPr id="18" name="Shape 16"/>
          <p:cNvSpPr/>
          <p:nvPr/>
        </p:nvSpPr>
        <p:spPr>
          <a:xfrm>
            <a:off x="3383280" y="2377440"/>
            <a:ext cx="1051560" cy="365760"/>
          </a:xfrm>
          <a:prstGeom prst="roundRect">
            <a:avLst>
              <a:gd name="adj" fmla="val 20000"/>
            </a:avLst>
          </a:prstGeom>
          <a:solidFill>
            <a:srgbClr val="4B5563"/>
          </a:solidFill>
          <a:ln w="12700">
            <a:solidFill>
              <a:srgbClr val="4B5563"/>
            </a:solidFill>
            <a:prstDash val="solid"/>
          </a:ln>
        </p:spPr>
      </p:sp>
      <p:sp>
        <p:nvSpPr>
          <p:cNvPr id="19" name="Text 17"/>
          <p:cNvSpPr txBox="1"/>
          <p:nvPr/>
        </p:nvSpPr>
        <p:spPr>
          <a:xfrm>
            <a:off x="3383280" y="237744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Team</a:t>
            </a:r>
            <a:endParaRPr lang="en-US" sz="900" dirty="0"/>
          </a:p>
        </p:txBody>
      </p:sp>
      <p:sp>
        <p:nvSpPr>
          <p:cNvPr id="20" name="Shape 18"/>
          <p:cNvSpPr/>
          <p:nvPr/>
        </p:nvSpPr>
        <p:spPr>
          <a:xfrm>
            <a:off x="3904488" y="1920240"/>
            <a:ext cx="0" cy="457200"/>
          </a:xfrm>
          <a:prstGeom prst="line">
            <a:avLst/>
          </a:prstGeom>
          <a:noFill/>
          <a:ln w="12700">
            <a:solidFill>
              <a:srgbClr val="9CA3AF"/>
            </a:solidFill>
            <a:prstDash val="solid"/>
            <a:tailEnd type="triangle"/>
          </a:ln>
        </p:spPr>
      </p:sp>
      <p:sp>
        <p:nvSpPr>
          <p:cNvPr id="21" name="Text 19"/>
          <p:cNvSpPr txBox="1"/>
          <p:nvPr/>
        </p:nvSpPr>
        <p:spPr>
          <a:xfrm>
            <a:off x="3931920" y="1984248"/>
            <a:ext cx="54864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MADE_BY</a:t>
            </a:r>
            <a:endParaRPr lang="en-US" sz="700" dirty="0"/>
          </a:p>
        </p:txBody>
      </p:sp>
      <p:sp>
        <p:nvSpPr>
          <p:cNvPr id="22" name="Shape 20"/>
          <p:cNvSpPr/>
          <p:nvPr/>
        </p:nvSpPr>
        <p:spPr>
          <a:xfrm>
            <a:off x="640080" y="2377440"/>
            <a:ext cx="1051560" cy="365760"/>
          </a:xfrm>
          <a:prstGeom prst="roundRect">
            <a:avLst>
              <a:gd name="adj" fmla="val 20000"/>
            </a:avLst>
          </a:prstGeom>
          <a:solidFill>
            <a:srgbClr val="374151"/>
          </a:solidFill>
          <a:ln w="12700">
            <a:solidFill>
              <a:srgbClr val="374151"/>
            </a:solidFill>
            <a:prstDash val="solid"/>
          </a:ln>
        </p:spPr>
      </p:sp>
      <p:sp>
        <p:nvSpPr>
          <p:cNvPr id="23" name="Text 21"/>
          <p:cNvSpPr txBox="1"/>
          <p:nvPr/>
        </p:nvSpPr>
        <p:spPr>
          <a:xfrm>
            <a:off x="640080" y="237744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Entity (part)</a:t>
            </a:r>
            <a:endParaRPr lang="en-US" sz="900" dirty="0"/>
          </a:p>
        </p:txBody>
      </p:sp>
      <p:sp>
        <p:nvSpPr>
          <p:cNvPr id="24" name="Shape 22"/>
          <p:cNvSpPr/>
          <p:nvPr/>
        </p:nvSpPr>
        <p:spPr>
          <a:xfrm>
            <a:off x="1691640" y="2560320"/>
            <a:ext cx="320040" cy="0"/>
          </a:xfrm>
          <a:prstGeom prst="line">
            <a:avLst/>
          </a:prstGeom>
          <a:noFill/>
          <a:ln w="12700">
            <a:solidFill>
              <a:srgbClr val="9CA3AF"/>
            </a:solidFill>
            <a:prstDash val="solid"/>
            <a:tailEnd type="triangle"/>
          </a:ln>
        </p:spPr>
      </p:sp>
      <p:sp>
        <p:nvSpPr>
          <p:cNvPr id="25" name="Text 23"/>
          <p:cNvSpPr txBox="1"/>
          <p:nvPr/>
        </p:nvSpPr>
        <p:spPr>
          <a:xfrm>
            <a:off x="1554480" y="2761488"/>
            <a:ext cx="59436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HAS_ORIGIN</a:t>
            </a:r>
            <a:endParaRPr lang="en-US" sz="700" dirty="0"/>
          </a:p>
        </p:txBody>
      </p:sp>
      <p:sp>
        <p:nvSpPr>
          <p:cNvPr id="26" name="Shape 24"/>
          <p:cNvSpPr/>
          <p:nvPr/>
        </p:nvSpPr>
        <p:spPr>
          <a:xfrm>
            <a:off x="640080" y="3200400"/>
            <a:ext cx="1051560" cy="365760"/>
          </a:xfrm>
          <a:prstGeom prst="roundRect">
            <a:avLst>
              <a:gd name="adj" fmla="val 20000"/>
            </a:avLst>
          </a:prstGeom>
          <a:solidFill>
            <a:srgbClr val="374151"/>
          </a:solidFill>
          <a:ln w="12700">
            <a:solidFill>
              <a:srgbClr val="374151"/>
            </a:solidFill>
            <a:prstDash val="solid"/>
          </a:ln>
        </p:spPr>
      </p:sp>
      <p:sp>
        <p:nvSpPr>
          <p:cNvPr id="27" name="Text 25"/>
          <p:cNvSpPr txBox="1"/>
          <p:nvPr/>
        </p:nvSpPr>
        <p:spPr>
          <a:xfrm>
            <a:off x="640080" y="320040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Entity (vehicle)</a:t>
            </a:r>
            <a:endParaRPr lang="en-US" sz="900" dirty="0"/>
          </a:p>
        </p:txBody>
      </p:sp>
      <p:sp>
        <p:nvSpPr>
          <p:cNvPr id="28" name="Shape 26"/>
          <p:cNvSpPr/>
          <p:nvPr/>
        </p:nvSpPr>
        <p:spPr>
          <a:xfrm>
            <a:off x="1161288" y="2743200"/>
            <a:ext cx="0" cy="457200"/>
          </a:xfrm>
          <a:prstGeom prst="line">
            <a:avLst/>
          </a:prstGeom>
          <a:noFill/>
          <a:ln w="12700">
            <a:solidFill>
              <a:srgbClr val="9CA3AF"/>
            </a:solidFill>
            <a:prstDash val="solid"/>
            <a:tailEnd type="triangle"/>
          </a:ln>
        </p:spPr>
      </p:sp>
      <p:sp>
        <p:nvSpPr>
          <p:cNvPr id="29" name="Text 27"/>
          <p:cNvSpPr txBox="1"/>
          <p:nvPr/>
        </p:nvSpPr>
        <p:spPr>
          <a:xfrm>
            <a:off x="475488" y="2880360"/>
            <a:ext cx="640080" cy="182880"/>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INSTALLED_IN</a:t>
            </a:r>
            <a:endParaRPr lang="en-US" sz="700" dirty="0"/>
          </a:p>
        </p:txBody>
      </p:sp>
      <p:sp>
        <p:nvSpPr>
          <p:cNvPr id="30" name="Shape 28"/>
          <p:cNvSpPr/>
          <p:nvPr/>
        </p:nvSpPr>
        <p:spPr>
          <a:xfrm>
            <a:off x="2011680" y="3200400"/>
            <a:ext cx="1051560" cy="365760"/>
          </a:xfrm>
          <a:prstGeom prst="roundRect">
            <a:avLst>
              <a:gd name="adj" fmla="val 20000"/>
            </a:avLst>
          </a:prstGeom>
          <a:solidFill>
            <a:srgbClr val="D9752B"/>
          </a:solidFill>
          <a:ln w="12700">
            <a:solidFill>
              <a:srgbClr val="D9752B"/>
            </a:solidFill>
            <a:prstDash val="solid"/>
          </a:ln>
        </p:spPr>
      </p:sp>
      <p:sp>
        <p:nvSpPr>
          <p:cNvPr id="31" name="Text 29"/>
          <p:cNvSpPr txBox="1"/>
          <p:nvPr/>
        </p:nvSpPr>
        <p:spPr>
          <a:xfrm>
            <a:off x="2011680" y="320040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p>
        </p:txBody>
      </p:sp>
      <p:sp>
        <p:nvSpPr>
          <p:cNvPr id="32" name="Shape 30"/>
          <p:cNvSpPr/>
          <p:nvPr/>
        </p:nvSpPr>
        <p:spPr>
          <a:xfrm flipH="1">
            <a:off x="1691640" y="3383280"/>
            <a:ext cx="320040" cy="0"/>
          </a:xfrm>
          <a:prstGeom prst="line">
            <a:avLst/>
          </a:prstGeom>
          <a:noFill/>
          <a:ln w="12700">
            <a:solidFill>
              <a:srgbClr val="9CA3AF"/>
            </a:solidFill>
            <a:prstDash val="solid"/>
            <a:tailEnd type="triangle"/>
          </a:ln>
        </p:spPr>
      </p:sp>
      <p:sp>
        <p:nvSpPr>
          <p:cNvPr id="33" name="Text 31"/>
          <p:cNvSpPr txBox="1"/>
          <p:nvPr/>
        </p:nvSpPr>
        <p:spPr>
          <a:xfrm>
            <a:off x="1600200" y="3584448"/>
            <a:ext cx="50292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AFFECTS</a:t>
            </a:r>
            <a:endParaRPr lang="en-US" sz="700" dirty="0"/>
          </a:p>
        </p:txBody>
      </p:sp>
      <p:sp>
        <p:nvSpPr>
          <p:cNvPr id="34" name="Shape 32"/>
          <p:cNvSpPr/>
          <p:nvPr/>
        </p:nvSpPr>
        <p:spPr>
          <a:xfrm>
            <a:off x="3383280" y="3200400"/>
            <a:ext cx="1051560" cy="365760"/>
          </a:xfrm>
          <a:prstGeom prst="roundRect">
            <a:avLst>
              <a:gd name="adj" fmla="val 20000"/>
            </a:avLst>
          </a:prstGeom>
          <a:solidFill>
            <a:srgbClr val="374151"/>
          </a:solidFill>
          <a:ln w="12700">
            <a:solidFill>
              <a:srgbClr val="374151"/>
            </a:solidFill>
            <a:prstDash val="solid"/>
          </a:ln>
        </p:spPr>
      </p:sp>
      <p:sp>
        <p:nvSpPr>
          <p:cNvPr id="35" name="Text 33"/>
          <p:cNvSpPr txBox="1"/>
          <p:nvPr/>
        </p:nvSpPr>
        <p:spPr>
          <a:xfrm>
            <a:off x="3383280" y="320040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Cause</a:t>
            </a:r>
            <a:endParaRPr lang="en-US" sz="900" dirty="0"/>
          </a:p>
        </p:txBody>
      </p:sp>
      <p:sp>
        <p:nvSpPr>
          <p:cNvPr id="36" name="Shape 34"/>
          <p:cNvSpPr/>
          <p:nvPr/>
        </p:nvSpPr>
        <p:spPr>
          <a:xfrm flipH="1">
            <a:off x="3063240" y="3383280"/>
            <a:ext cx="320040" cy="0"/>
          </a:xfrm>
          <a:prstGeom prst="line">
            <a:avLst/>
          </a:prstGeom>
          <a:noFill/>
          <a:ln w="12700">
            <a:solidFill>
              <a:srgbClr val="9CA3AF"/>
            </a:solidFill>
            <a:prstDash val="solid"/>
            <a:tailEnd type="triangle"/>
          </a:ln>
        </p:spPr>
      </p:sp>
      <p:sp>
        <p:nvSpPr>
          <p:cNvPr id="37" name="Text 35"/>
          <p:cNvSpPr txBox="1"/>
          <p:nvPr/>
        </p:nvSpPr>
        <p:spPr>
          <a:xfrm>
            <a:off x="2971800" y="3584448"/>
            <a:ext cx="54864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ASSESSES</a:t>
            </a:r>
            <a:endParaRPr lang="en-US" sz="700" dirty="0"/>
          </a:p>
        </p:txBody>
      </p:sp>
      <p:sp>
        <p:nvSpPr>
          <p:cNvPr id="38" name="Shape 36"/>
          <p:cNvSpPr/>
          <p:nvPr/>
        </p:nvSpPr>
        <p:spPr>
          <a:xfrm>
            <a:off x="2011680" y="3931920"/>
            <a:ext cx="1051560" cy="365760"/>
          </a:xfrm>
          <a:prstGeom prst="roundRect">
            <a:avLst>
              <a:gd name="adj" fmla="val 20000"/>
            </a:avLst>
          </a:prstGeom>
          <a:solidFill>
            <a:srgbClr val="374151"/>
          </a:solidFill>
          <a:ln w="12700">
            <a:solidFill>
              <a:srgbClr val="374151"/>
            </a:solidFill>
            <a:prstDash val="solid"/>
          </a:ln>
        </p:spPr>
      </p:sp>
      <p:sp>
        <p:nvSpPr>
          <p:cNvPr id="39" name="Text 37"/>
          <p:cNvSpPr txBox="1"/>
          <p:nvPr/>
        </p:nvSpPr>
        <p:spPr>
          <a:xfrm>
            <a:off x="2011680" y="393192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Fix</a:t>
            </a:r>
            <a:endParaRPr lang="en-US" sz="900" dirty="0"/>
          </a:p>
        </p:txBody>
      </p:sp>
      <p:sp>
        <p:nvSpPr>
          <p:cNvPr id="40" name="Shape 38"/>
          <p:cNvSpPr/>
          <p:nvPr/>
        </p:nvSpPr>
        <p:spPr>
          <a:xfrm>
            <a:off x="2532888" y="3566160"/>
            <a:ext cx="0" cy="365760"/>
          </a:xfrm>
          <a:prstGeom prst="line">
            <a:avLst/>
          </a:prstGeom>
          <a:noFill/>
          <a:ln w="12700">
            <a:solidFill>
              <a:srgbClr val="9CA3AF"/>
            </a:solidFill>
            <a:prstDash val="solid"/>
            <a:tailEnd type="triangle"/>
          </a:ln>
        </p:spPr>
      </p:sp>
      <p:sp>
        <p:nvSpPr>
          <p:cNvPr id="41" name="Text 39"/>
          <p:cNvSpPr txBox="1"/>
          <p:nvPr/>
        </p:nvSpPr>
        <p:spPr>
          <a:xfrm>
            <a:off x="2587752" y="3657600"/>
            <a:ext cx="457200" cy="182880"/>
          </a:xfrm>
          <a:prstGeom prst="rect">
            <a:avLst/>
          </a:prstGeom>
          <a:noFill/>
          <a:ln/>
        </p:spPr>
        <p:txBody>
          <a:bodyPr wrap="square" lIns="0" tIns="0" rIns="0" bIns="0" rtlCol="0" anchor="ctr"/>
          <a:lstStyle/>
          <a:p>
            <a:pPr algn="l" indent="0" marL="0">
              <a:buNone/>
            </a:pPr>
            <a:r>
              <a:rPr lang="en-US" sz="700" dirty="0">
                <a:solidFill>
                  <a:srgbClr val="9CA3AF"/>
                </a:solidFill>
                <a:latin typeface="Calibri" pitchFamily="34" charset="0"/>
                <a:ea typeface="Calibri" pitchFamily="34" charset="-122"/>
                <a:cs typeface="Calibri" pitchFamily="34" charset="-120"/>
              </a:rPr>
              <a:t>FIXES</a:t>
            </a:r>
            <a:endParaRPr lang="en-US" sz="700" dirty="0"/>
          </a:p>
        </p:txBody>
      </p:sp>
      <p:sp>
        <p:nvSpPr>
          <p:cNvPr id="42" name="Shape 40"/>
          <p:cNvSpPr/>
          <p:nvPr/>
        </p:nvSpPr>
        <p:spPr>
          <a:xfrm>
            <a:off x="3383280" y="3931920"/>
            <a:ext cx="1051560" cy="365760"/>
          </a:xfrm>
          <a:prstGeom prst="roundRect">
            <a:avLst>
              <a:gd name="adj" fmla="val 20000"/>
            </a:avLst>
          </a:prstGeom>
          <a:solidFill>
            <a:srgbClr val="3E8E6E"/>
          </a:solidFill>
          <a:ln w="12700">
            <a:solidFill>
              <a:srgbClr val="3E8E6E"/>
            </a:solidFill>
            <a:prstDash val="solid"/>
          </a:ln>
        </p:spPr>
      </p:sp>
      <p:sp>
        <p:nvSpPr>
          <p:cNvPr id="43" name="Text 41"/>
          <p:cNvSpPr txBox="1"/>
          <p:nvPr/>
        </p:nvSpPr>
        <p:spPr>
          <a:xfrm>
            <a:off x="3383280" y="3931920"/>
            <a:ext cx="10515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Verification</a:t>
            </a:r>
            <a:endParaRPr lang="en-US" sz="900" dirty="0"/>
          </a:p>
        </p:txBody>
      </p:sp>
      <p:sp>
        <p:nvSpPr>
          <p:cNvPr id="44" name="Shape 42"/>
          <p:cNvSpPr/>
          <p:nvPr/>
        </p:nvSpPr>
        <p:spPr>
          <a:xfrm flipH="1">
            <a:off x="3063240" y="4114800"/>
            <a:ext cx="320040" cy="0"/>
          </a:xfrm>
          <a:prstGeom prst="line">
            <a:avLst/>
          </a:prstGeom>
          <a:noFill/>
          <a:ln w="12700">
            <a:solidFill>
              <a:srgbClr val="9CA3AF"/>
            </a:solidFill>
            <a:prstDash val="solid"/>
            <a:tailEnd type="triangle"/>
          </a:ln>
        </p:spPr>
      </p:sp>
      <p:sp>
        <p:nvSpPr>
          <p:cNvPr id="45" name="Text 43"/>
          <p:cNvSpPr txBox="1"/>
          <p:nvPr/>
        </p:nvSpPr>
        <p:spPr>
          <a:xfrm>
            <a:off x="2971800" y="3767328"/>
            <a:ext cx="548640" cy="182880"/>
          </a:xfrm>
          <a:prstGeom prst="rect">
            <a:avLst/>
          </a:prstGeom>
          <a:noFill/>
          <a:ln/>
        </p:spPr>
        <p:txBody>
          <a:bodyPr wrap="square" lIns="0" tIns="0" rIns="0" bIns="0" rtlCol="0" anchor="ctr"/>
          <a:lstStyle/>
          <a:p>
            <a:pPr algn="ctr" indent="0" marL="0">
              <a:buNone/>
            </a:pPr>
            <a:r>
              <a:rPr lang="en-US" sz="700" dirty="0">
                <a:solidFill>
                  <a:srgbClr val="9CA3AF"/>
                </a:solidFill>
                <a:latin typeface="Calibri" pitchFamily="34" charset="0"/>
                <a:ea typeface="Calibri" pitchFamily="34" charset="-122"/>
                <a:cs typeface="Calibri" pitchFamily="34" charset="-120"/>
              </a:rPr>
              <a:t>VERIFIES</a:t>
            </a:r>
            <a:endParaRPr lang="en-US" sz="700" dirty="0"/>
          </a:p>
        </p:txBody>
      </p:sp>
      <p:sp>
        <p:nvSpPr>
          <p:cNvPr id="46" name="Text 44"/>
          <p:cNvSpPr txBox="1"/>
          <p:nvPr/>
        </p:nvSpPr>
        <p:spPr>
          <a:xfrm>
            <a:off x="594360" y="4297680"/>
            <a:ext cx="3931920" cy="256032"/>
          </a:xfrm>
          <a:prstGeom prst="rect">
            <a:avLst/>
          </a:prstGeom>
          <a:noFill/>
          <a:ln/>
        </p:spPr>
        <p:txBody>
          <a:bodyPr wrap="square" lIns="0" tIns="0" rIns="0" bIns="0" rtlCol="0" anchor="ctr"/>
          <a:lstStyle/>
          <a:p>
            <a:pPr indent="0" marL="0">
              <a:buNone/>
            </a:pPr>
            <a:r>
              <a:rPr lang="en-US" sz="750" i="1" dirty="0">
                <a:solidFill>
                  <a:srgbClr val="9CA3AF"/>
                </a:solidFill>
                <a:latin typeface="Calibri" pitchFamily="34" charset="0"/>
                <a:ea typeface="Calibri" pitchFamily="34" charset="-122"/>
                <a:cs typeface="Calibri" pitchFamily="34" charset="-120"/>
              </a:rPr>
              <a:t>Which vehicles hold parts from this lot, which verified fix connects to this defect, who is confirmed causal versus reporting: traversals, not joins.</a:t>
            </a:r>
            <a:endParaRPr lang="en-US" sz="750" dirty="0"/>
          </a:p>
        </p:txBody>
      </p:sp>
      <p:sp>
        <p:nvSpPr>
          <p:cNvPr id="47" name="Text 45"/>
          <p:cNvSpPr txBox="1"/>
          <p:nvPr/>
        </p:nvSpPr>
        <p:spPr>
          <a:xfrm>
            <a:off x="4892040" y="1325880"/>
            <a:ext cx="1234440" cy="73152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Cambria" pitchFamily="34" charset="0"/>
                <a:ea typeface="Cambria" pitchFamily="34" charset="-122"/>
                <a:cs typeface="Cambria" pitchFamily="34" charset="-120"/>
              </a:rPr>
              <a:t>22 / 22</a:t>
            </a:r>
            <a:endParaRPr lang="en-US" sz="2400" dirty="0"/>
          </a:p>
        </p:txBody>
      </p:sp>
      <p:sp>
        <p:nvSpPr>
          <p:cNvPr id="48" name="Text 46"/>
          <p:cNvSpPr txBox="1"/>
          <p:nvPr/>
        </p:nvSpPr>
        <p:spPr>
          <a:xfrm>
            <a:off x="6217920" y="1371600"/>
            <a:ext cx="2468880" cy="731520"/>
          </a:xfrm>
          <a:prstGeom prst="rect">
            <a:avLst/>
          </a:prstGeom>
          <a:noFill/>
          <a:ln/>
        </p:spPr>
        <p:txBody>
          <a:bodyPr wrap="square" lIns="0" tIns="0" rIns="0" bIns="0" rtlCol="0" anchor="t"/>
          <a:lstStyle/>
          <a:p>
            <a:pPr indent="0" marL="0">
              <a:buNone/>
            </a:pPr>
            <a:r>
              <a:rPr lang="en-US" sz="1000" dirty="0">
                <a:solidFill>
                  <a:srgbClr val="D1D5DB"/>
                </a:solidFill>
                <a:latin typeface="Calibri" pitchFamily="34" charset="0"/>
                <a:ea typeface="Calibri" pitchFamily="34" charset="-122"/>
                <a:cs typeface="Calibri" pitchFamily="34" charset="-120"/>
              </a:rPr>
              <a:t>HTTP acceptance steps passed against the live Aura instance; the runner refuses the in-memory double</a:t>
            </a:r>
            <a:endParaRPr lang="en-US" sz="1000" dirty="0"/>
          </a:p>
        </p:txBody>
      </p:sp>
      <p:sp>
        <p:nvSpPr>
          <p:cNvPr id="49" name="Text 47"/>
          <p:cNvSpPr txBox="1"/>
          <p:nvPr/>
        </p:nvSpPr>
        <p:spPr>
          <a:xfrm>
            <a:off x="4892040" y="2148840"/>
            <a:ext cx="1234440" cy="73152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Cambria" pitchFamily="34" charset="0"/>
                <a:ea typeface="Cambria" pitchFamily="34" charset="-122"/>
                <a:cs typeface="Cambria" pitchFamily="34" charset="-120"/>
              </a:rPr>
              <a:t>23 / 23</a:t>
            </a:r>
            <a:endParaRPr lang="en-US" sz="2400" dirty="0"/>
          </a:p>
        </p:txBody>
      </p:sp>
      <p:sp>
        <p:nvSpPr>
          <p:cNvPr id="50" name="Text 48"/>
          <p:cNvSpPr txBox="1"/>
          <p:nvPr/>
        </p:nvSpPr>
        <p:spPr>
          <a:xfrm>
            <a:off x="6217920" y="2194560"/>
            <a:ext cx="2468880" cy="731520"/>
          </a:xfrm>
          <a:prstGeom prst="rect">
            <a:avLst/>
          </a:prstGeom>
          <a:noFill/>
          <a:ln/>
        </p:spPr>
        <p:txBody>
          <a:bodyPr wrap="square" lIns="0" tIns="0" rIns="0" bIns="0" rtlCol="0" anchor="t"/>
          <a:lstStyle/>
          <a:p>
            <a:pPr indent="0" marL="0">
              <a:buNone/>
            </a:pPr>
            <a:r>
              <a:rPr lang="en-US" sz="1000" dirty="0">
                <a:solidFill>
                  <a:srgbClr val="D1D5DB"/>
                </a:solidFill>
                <a:latin typeface="Calibri" pitchFamily="34" charset="0"/>
                <a:ea typeface="Calibri" pitchFamily="34" charset="-122"/>
                <a:cs typeface="Calibri" pitchFamily="34" charset="-120"/>
              </a:rPr>
              <a:t>after a documented server restart, same issue, identical history</a:t>
            </a:r>
            <a:endParaRPr lang="en-US" sz="1000" dirty="0"/>
          </a:p>
        </p:txBody>
      </p:sp>
      <p:sp>
        <p:nvSpPr>
          <p:cNvPr id="51" name="Text 49"/>
          <p:cNvSpPr txBox="1"/>
          <p:nvPr/>
        </p:nvSpPr>
        <p:spPr>
          <a:xfrm>
            <a:off x="4892040" y="2971800"/>
            <a:ext cx="1234440" cy="731520"/>
          </a:xfrm>
          <a:prstGeom prst="rect">
            <a:avLst/>
          </a:prstGeom>
          <a:noFill/>
          <a:ln/>
        </p:spPr>
        <p:txBody>
          <a:bodyPr wrap="square" lIns="0" tIns="0" rIns="0" bIns="0" rtlCol="0" anchor="t">
            <a:normAutofit/>
          </a:bodyPr>
          <a:lstStyle/>
          <a:p>
            <a:pPr indent="0" marL="0">
              <a:buNone/>
            </a:pPr>
            <a:r>
              <a:rPr lang="en-US" sz="2400" b="1" dirty="0">
                <a:solidFill>
                  <a:srgbClr val="FFFFFF"/>
                </a:solidFill>
                <a:latin typeface="Cambria" pitchFamily="34" charset="0"/>
                <a:ea typeface="Cambria" pitchFamily="34" charset="-122"/>
                <a:cs typeface="Cambria" pitchFamily="34" charset="-120"/>
              </a:rPr>
              <a:t>114</a:t>
            </a:r>
            <a:endParaRPr lang="en-US" sz="2400" dirty="0"/>
          </a:p>
        </p:txBody>
      </p:sp>
      <p:sp>
        <p:nvSpPr>
          <p:cNvPr id="52" name="Text 50"/>
          <p:cNvSpPr txBox="1"/>
          <p:nvPr/>
        </p:nvSpPr>
        <p:spPr>
          <a:xfrm>
            <a:off x="6217920" y="3017520"/>
            <a:ext cx="2468880" cy="731520"/>
          </a:xfrm>
          <a:prstGeom prst="rect">
            <a:avLst/>
          </a:prstGeom>
          <a:noFill/>
          <a:ln/>
        </p:spPr>
        <p:txBody>
          <a:bodyPr wrap="square" lIns="0" tIns="0" rIns="0" bIns="0" rtlCol="0" anchor="t"/>
          <a:lstStyle/>
          <a:p>
            <a:pPr indent="0" marL="0">
              <a:buNone/>
            </a:pPr>
            <a:r>
              <a:rPr lang="en-US" sz="1000" dirty="0">
                <a:solidFill>
                  <a:srgbClr val="D1D5DB"/>
                </a:solidFill>
                <a:latin typeface="Calibri" pitchFamily="34" charset="0"/>
                <a:ea typeface="Calibri" pitchFamily="34" charset="-122"/>
                <a:cs typeface="Calibri" pitchFamily="34" charset="-120"/>
              </a:rPr>
              <a:t>Vitest tests passed, 8 skipped with a stated reason; typecheck and build pass</a:t>
            </a:r>
            <a:endParaRPr lang="en-US" sz="1000" dirty="0"/>
          </a:p>
        </p:txBody>
      </p:sp>
      <p:sp>
        <p:nvSpPr>
          <p:cNvPr id="53" name="Text 51"/>
          <p:cNvSpPr txBox="1"/>
          <p:nvPr/>
        </p:nvSpPr>
        <p:spPr>
          <a:xfrm>
            <a:off x="4892040" y="3794760"/>
            <a:ext cx="1234440" cy="731520"/>
          </a:xfrm>
          <a:prstGeom prst="rect">
            <a:avLst/>
          </a:prstGeom>
          <a:noFill/>
          <a:ln/>
        </p:spPr>
        <p:txBody>
          <a:bodyPr wrap="square" lIns="0" tIns="0" rIns="0" bIns="0" rtlCol="0" anchor="t">
            <a:normAutofit/>
          </a:bodyPr>
          <a:lstStyle/>
          <a:p>
            <a:pPr indent="0" marL="0">
              <a:buNone/>
            </a:pPr>
            <a:r>
              <a:rPr lang="en-US" sz="2400" b="1" dirty="0">
                <a:solidFill>
                  <a:srgbClr val="D9752B"/>
                </a:solidFill>
                <a:latin typeface="Cambria" pitchFamily="34" charset="0"/>
                <a:ea typeface="Cambria" pitchFamily="34" charset="-122"/>
                <a:cs typeface="Cambria" pitchFamily="34" charset="-120"/>
              </a:rPr>
              <a:t>N/A</a:t>
            </a:r>
            <a:endParaRPr lang="en-US" sz="2400" dirty="0"/>
          </a:p>
        </p:txBody>
      </p:sp>
      <p:sp>
        <p:nvSpPr>
          <p:cNvPr id="54" name="Text 52"/>
          <p:cNvSpPr txBox="1"/>
          <p:nvPr/>
        </p:nvSpPr>
        <p:spPr>
          <a:xfrm>
            <a:off x="6217920" y="3840480"/>
            <a:ext cx="2468880" cy="731520"/>
          </a:xfrm>
          <a:prstGeom prst="rect">
            <a:avLst/>
          </a:prstGeom>
          <a:noFill/>
          <a:ln/>
        </p:spPr>
        <p:txBody>
          <a:bodyPr wrap="square" lIns="0" tIns="0" rIns="0" bIns="0" rtlCol="0" anchor="t"/>
          <a:lstStyle/>
          <a:p>
            <a:pPr indent="0" marL="0">
              <a:buNone/>
            </a:pPr>
            <a:r>
              <a:rPr lang="en-US" sz="1000" dirty="0">
                <a:solidFill>
                  <a:srgbClr val="D1D5DB"/>
                </a:solidFill>
                <a:latin typeface="Calibri" pitchFamily="34" charset="0"/>
                <a:ea typeface="Calibri" pitchFamily="34" charset="-122"/>
                <a:cs typeface="Calibri" pitchFamily="34" charset="-120"/>
              </a:rPr>
              <a:t>supplier rate shown when no complete inspection cohort exists, never zero</a:t>
            </a:r>
            <a:endParaRPr lang="en-US" sz="1000" dirty="0"/>
          </a:p>
        </p:txBody>
      </p:sp>
      <p:sp>
        <p:nvSpPr>
          <p:cNvPr id="55" name="Text 53"/>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850" dirty="0">
                <a:solidFill>
                  <a:srgbClr val="9CA3AF"/>
                </a:solidFill>
                <a:latin typeface="Calibri" pitchFamily="34" charset="0"/>
                <a:ea typeface="Calibri" pitchFamily="34" charset="-122"/>
                <a:cs typeface="Calibri" pitchFamily="34" charset="-120"/>
              </a:rPr>
              <a:t>Neo4j Aura, driver 6.2, uniqueness on (ws, id). Evidence: docs/evidence/acceptance-graph-7bd3cbcf-before.json and -after.json, acceptance-graph-final-dc32792.json.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822960"/>
          </a:xfrm>
          <a:prstGeom prst="rect">
            <a:avLst/>
          </a:prstGeom>
          <a:noFill/>
          <a:ln/>
        </p:spPr>
        <p:txBody>
          <a:bodyPr wrap="square" lIns="0" tIns="0" rIns="0" bIns="0" rtlCol="0" anchor="t">
            <a:normAutofit/>
          </a:bodyPr>
          <a:lstStyle/>
          <a:p>
            <a:pPr indent="0" marL="0">
              <a:buNone/>
            </a:pPr>
            <a:r>
              <a:rPr lang="en-US" sz="2800" b="1" dirty="0">
                <a:solidFill>
                  <a:srgbClr val="FFFFFF"/>
                </a:solidFill>
                <a:latin typeface="Cambria" pitchFamily="34" charset="0"/>
                <a:ea typeface="Cambria" pitchFamily="34" charset="-122"/>
                <a:cs typeface="Cambria" pitchFamily="34" charset="-120"/>
              </a:rPr>
              <a:t>What is not built, and the next proof</a:t>
            </a:r>
            <a:endParaRPr lang="en-US" sz="2800" dirty="0"/>
          </a:p>
        </p:txBody>
      </p:sp>
      <p:sp>
        <p:nvSpPr>
          <p:cNvPr id="3" name="Shape 1"/>
          <p:cNvSpPr/>
          <p:nvPr/>
        </p:nvSpPr>
        <p:spPr>
          <a:xfrm>
            <a:off x="457200" y="1325880"/>
            <a:ext cx="4023360" cy="3246120"/>
          </a:xfrm>
          <a:prstGeom prst="roundRect">
            <a:avLst>
              <a:gd name="adj" fmla="val 2254"/>
            </a:avLst>
          </a:prstGeom>
          <a:solidFill>
            <a:srgbClr val="1E242E"/>
          </a:solidFill>
          <a:ln w="9525">
            <a:solidFill>
              <a:srgbClr val="2C3440"/>
            </a:solidFill>
            <a:prstDash val="solid"/>
          </a:ln>
        </p:spPr>
      </p:sp>
      <p:sp>
        <p:nvSpPr>
          <p:cNvPr id="4" name="Text 2"/>
          <p:cNvSpPr txBox="1"/>
          <p:nvPr/>
        </p:nvSpPr>
        <p:spPr>
          <a:xfrm>
            <a:off x="640080" y="1435608"/>
            <a:ext cx="3657600" cy="320040"/>
          </a:xfrm>
          <a:prstGeom prst="rect">
            <a:avLst/>
          </a:prstGeom>
          <a:noFill/>
          <a:ln/>
        </p:spPr>
        <p:txBody>
          <a:bodyPr wrap="square" lIns="0" tIns="0" rIns="0" bIns="0" rtlCol="0" anchor="ctr"/>
          <a:lstStyle/>
          <a:p>
            <a:pPr indent="0" marL="0">
              <a:buNone/>
            </a:pPr>
            <a:r>
              <a:rPr lang="en-US" sz="1400" b="1" dirty="0">
                <a:solidFill>
                  <a:srgbClr val="D9752B"/>
                </a:solidFill>
                <a:latin typeface="Cambria" pitchFamily="34" charset="0"/>
                <a:ea typeface="Cambria" pitchFamily="34" charset="-122"/>
                <a:cs typeface="Cambria" pitchFamily="34" charset="-120"/>
              </a:rPr>
              <a:t>Not built or not verified</a:t>
            </a:r>
            <a:endParaRPr lang="en-US" sz="1400" dirty="0"/>
          </a:p>
        </p:txBody>
      </p:sp>
      <p:sp>
        <p:nvSpPr>
          <p:cNvPr id="5" name="Text 3"/>
          <p:cNvSpPr txBox="1"/>
          <p:nvPr/>
        </p:nvSpPr>
        <p:spPr>
          <a:xfrm>
            <a:off x="640080" y="1828800"/>
            <a:ext cx="3657600"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E5E7EB"/>
                </a:solidFill>
                <a:latin typeface="Calibri" pitchFamily="34" charset="0"/>
                <a:ea typeface="Calibri" pitchFamily="34" charset="-122"/>
                <a:cs typeface="Calibri" pitchFamily="34" charset="-120"/>
              </a:rPr>
              <a:t>CSV import in graph mode records a revision marker only; late-evidence correction is not wired.</a:t>
            </a:r>
            <a:endParaRPr lang="en-US" sz="1050" dirty="0"/>
          </a:p>
          <a:p>
            <a:pPr marL="342900" indent="-342900">
              <a:spcAft>
                <a:spcPts val="500"/>
              </a:spcAft>
              <a:buSzPct val="100000"/>
              <a:buChar char="•"/>
            </a:pPr>
            <a:r>
              <a:rPr lang="en-US" sz="1050" dirty="0">
                <a:solidFill>
                  <a:srgbClr val="E5E7EB"/>
                </a:solidFill>
                <a:latin typeface="Calibri" pitchFamily="34" charset="0"/>
                <a:ea typeface="Calibri" pitchFamily="34" charset="-122"/>
                <a:cs typeface="Calibri" pitchFamily="34" charset="-120"/>
              </a:rPr>
              <a:t>Supplier rates need an inspection cohort we have not seeded, so they show N/A.</a:t>
            </a:r>
            <a:endParaRPr lang="en-US" sz="1050" dirty="0"/>
          </a:p>
          <a:p>
            <a:pPr marL="342900" indent="-342900">
              <a:spcAft>
                <a:spcPts val="500"/>
              </a:spcAft>
              <a:buSzPct val="100000"/>
              <a:buChar char="•"/>
            </a:pPr>
            <a:r>
              <a:rPr lang="en-US" sz="1050" dirty="0">
                <a:solidFill>
                  <a:srgbClr val="E5E7EB"/>
                </a:solidFill>
                <a:latin typeface="Calibri" pitchFamily="34" charset="0"/>
                <a:ea typeface="Calibri" pitchFamily="34" charset="-122"/>
                <a:cs typeface="Calibri" pitchFamily="34" charset="-120"/>
              </a:rPr>
              <a:t>AI is optional and off by default. The assistant ran a labelled deterministic planner; a live model was not called in the recorded demo.</a:t>
            </a:r>
            <a:endParaRPr lang="en-US" sz="1050" dirty="0"/>
          </a:p>
          <a:p>
            <a:pPr marL="342900" indent="-342900">
              <a:spcAft>
                <a:spcPts val="500"/>
              </a:spcAft>
              <a:buSzPct val="100000"/>
              <a:buChar char="•"/>
            </a:pPr>
            <a:r>
              <a:rPr lang="en-US" sz="1050" dirty="0">
                <a:solidFill>
                  <a:srgbClr val="E5E7EB"/>
                </a:solidFill>
                <a:latin typeface="Calibri" pitchFamily="34" charset="0"/>
                <a:ea typeface="Calibri" pitchFamily="34" charset="-122"/>
                <a:cs typeface="Calibri" pitchFamily="34" charset="-120"/>
              </a:rPr>
              <a:t>Qoder-assisted development is not evidenced from the backend lane; the frontend adapter is untested. We do not claim it.</a:t>
            </a:r>
            <a:endParaRPr lang="en-US" sz="1050" dirty="0"/>
          </a:p>
          <a:p>
            <a:pPr marL="342900" indent="-342900">
              <a:buSzPct val="100000"/>
              <a:buChar char="•"/>
            </a:pPr>
            <a:r>
              <a:rPr lang="en-US" sz="1050" dirty="0">
                <a:solidFill>
                  <a:srgbClr val="E5E7EB"/>
                </a:solidFill>
                <a:latin typeface="Calibri" pitchFamily="34" charset="0"/>
                <a:ea typeface="Calibri" pitchFamily="34" charset="-122"/>
                <a:cs typeface="Calibri" pitchFamily="34" charset="-120"/>
              </a:rPr>
              <a:t>Robotics regression fixture is not loaded into Neo4j; those tests skip with a stated reason.</a:t>
            </a:r>
            <a:endParaRPr lang="en-US" sz="1050" dirty="0"/>
          </a:p>
        </p:txBody>
      </p:sp>
      <p:sp>
        <p:nvSpPr>
          <p:cNvPr id="6" name="Shape 4"/>
          <p:cNvSpPr/>
          <p:nvPr/>
        </p:nvSpPr>
        <p:spPr>
          <a:xfrm>
            <a:off x="4754880" y="1325880"/>
            <a:ext cx="3931920" cy="3246120"/>
          </a:xfrm>
          <a:prstGeom prst="roundRect">
            <a:avLst>
              <a:gd name="adj" fmla="val 2254"/>
            </a:avLst>
          </a:prstGeom>
          <a:solidFill>
            <a:srgbClr val="B85E1C"/>
          </a:solidFill>
          <a:ln w="9525">
            <a:solidFill>
              <a:srgbClr val="B85E1C"/>
            </a:solidFill>
            <a:prstDash val="solid"/>
          </a:ln>
        </p:spPr>
      </p:sp>
      <p:sp>
        <p:nvSpPr>
          <p:cNvPr id="7" name="Text 5"/>
          <p:cNvSpPr txBox="1"/>
          <p:nvPr/>
        </p:nvSpPr>
        <p:spPr>
          <a:xfrm>
            <a:off x="4937760" y="1435608"/>
            <a:ext cx="356616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The ask: one bounded pilot</a:t>
            </a:r>
            <a:endParaRPr lang="en-US" sz="1400" dirty="0"/>
          </a:p>
        </p:txBody>
      </p:sp>
      <p:sp>
        <p:nvSpPr>
          <p:cNvPr id="8" name="Text 6"/>
          <p:cNvSpPr txBox="1"/>
          <p:nvPr/>
        </p:nvSpPr>
        <p:spPr>
          <a:xfrm>
            <a:off x="4937760" y="182880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One site, one process or part family, one named quality reviewer.</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Three measured numbers: investigation time per issue, repeated issue families, verified fix reuse.</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Pricing follows those numbers, not the other way round.</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Repo: github.com/zubair480/belle-hackathon, branch codex/final-integration.</a:t>
            </a:r>
            <a:endParaRPr lang="en-US" sz="1100" dirty="0"/>
          </a:p>
        </p:txBody>
      </p:sp>
      <p:sp>
        <p:nvSpPr>
          <p:cNvPr id="9" name="Text 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850" dirty="0">
                <a:solidFill>
                  <a:srgbClr val="9CA3AF"/>
                </a:solidFill>
                <a:latin typeface="Calibri" pitchFamily="34" charset="0"/>
                <a:ea typeface="Calibri" pitchFamily="34" charset="-122"/>
                <a:cs typeface="Calibri" pitchFamily="34" charset="-120"/>
              </a:rPr>
              <a:t>Track A Builder plus the Neo4j bonus. EV assembly is our chosen domain. Nothing in the demo is a real factory record.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RecallRadius judge deck</dc:title>
  <dc:subject>PptxGenJS Presentation</dc:subject>
  <dc:creator>RecallRadius team</dc:creator>
  <cp:lastModifiedBy>RecallRadius team</cp:lastModifiedBy>
  <cp:revision>1</cp:revision>
  <dcterms:created xsi:type="dcterms:W3CDTF">2026-09-12T23:27:12Z</dcterms:created>
  <dcterms:modified xsi:type="dcterms:W3CDTF">2026-09-12T23:27:12Z</dcterms:modified>
</cp:coreProperties>
</file>