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synthetic-data line once. Final Inspection finds the charge-port connector sitting proud on DEMO-EV-005. The connector was bought from a supplier; the bracket under it was made in-house. Today those records, the last fix and its verification live in different systems, and the team that found the defect usually gets the blame.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20 seconds. The middle card is the pain; the right card is the honesty that judges reward.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three-minute demo path in docs/pitch/DEMO_RUNBOOK_GRAPH.md. If the live app is down, narrate over the screenshots and say plainly that it is a recording of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asking 'why a graph': the answers are traversals over lots, origins, installations, fixes and verifications, not joins on a fixed schema. Point at Origin: a part that is bought and a part that is made share one shape, so one query answers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labels a double run as a dry run and refuses to claim integration unless /api/health reports graph services. 22 before restart, 23 after because the persistence step is only counted when --persist-from is given. Insights numbers are the seeded state after cleanup; they grow during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here. If asked about AI: it drafts and explains with citations that are verified against source spans, it never confirms a cause or closes an issue. If asked about Qoder: say what was and was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502920"/>
            <a:ext cx="5486400" cy="457200"/>
          </a:xfrm>
          <a:prstGeom prst="rect">
            <a:avLst/>
          </a:prstGeom>
          <a:noFill/>
          <a:ln/>
        </p:spPr>
        <p:txBody>
          <a:bodyPr wrap="square" lIns="0" tIns="0" rIns="0" bIns="0" rtlCol="0" anchor="ctr"/>
          <a:lstStyle/>
          <a:p>
            <a:pPr indent="0" marL="0">
              <a:buNone/>
            </a:pPr>
            <a:r>
              <a:rPr lang="en-US" sz="1400" b="1" spc="400" kern="0" dirty="0">
                <a:solidFill>
                  <a:srgbClr val="D9752B"/>
                </a:solidFill>
                <a:latin typeface="Calibri" pitchFamily="34" charset="0"/>
                <a:ea typeface="Calibri" pitchFamily="34" charset="-122"/>
                <a:cs typeface="Calibri" pitchFamily="34" charset="-120"/>
              </a:rPr>
              <a:t>RecallRadius</a:t>
            </a:r>
            <a:endParaRPr lang="en-US" sz="1400" dirty="0"/>
          </a:p>
        </p:txBody>
      </p:sp>
      <p:sp>
        <p:nvSpPr>
          <p:cNvPr id="3" name="Text 1"/>
          <p:cNvSpPr txBox="1"/>
          <p:nvPr/>
        </p:nvSpPr>
        <p:spPr>
          <a:xfrm>
            <a:off x="457200" y="960120"/>
            <a:ext cx="5577840" cy="1828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EV fails final inspection. Where did the part come from, and has anyone fixed this before?</a:t>
            </a:r>
            <a:endParaRPr lang="en-US" sz="3000" dirty="0"/>
          </a:p>
        </p:txBody>
      </p:sp>
      <p:sp>
        <p:nvSpPr>
          <p:cNvPr id="4" name="Text 2"/>
          <p:cNvSpPr txBox="1"/>
          <p:nvPr/>
        </p:nvSpPr>
        <p:spPr>
          <a:xfrm>
            <a:off x="457200" y="2926080"/>
            <a:ext cx="5486400" cy="822960"/>
          </a:xfrm>
          <a:prstGeom prst="rect">
            <a:avLst/>
          </a:prstGeom>
          <a:noFill/>
          <a:ln/>
        </p:spPr>
        <p:txBody>
          <a:bodyPr wrap="square" lIns="0" tIns="0" rIns="0" bIns="0" rtlCol="0" anchor="t"/>
          <a:lstStyle/>
          <a:p>
            <a:pPr indent="0" marL="0">
              <a:buNone/>
            </a:pPr>
            <a:r>
              <a:rPr lang="en-US" sz="1400" dirty="0">
                <a:solidFill>
                  <a:srgbClr val="D1D5DB"/>
                </a:solidFill>
                <a:latin typeface="Calibri" pitchFamily="34" charset="0"/>
                <a:ea typeface="Calibri" pitchFamily="34" charset="-122"/>
                <a:cs typeface="Calibri" pitchFamily="34" charset="-120"/>
              </a:rPr>
              <a:t>An issue-to-verified-fix workspace for EV vehicle assemblers, where every issue, part, lot, team, cause, fix and verification is one connected record in Neo4j.</a:t>
            </a:r>
            <a:endParaRPr lang="en-US" sz="1400" dirty="0"/>
          </a:p>
        </p:txBody>
      </p:sp>
      <p:sp>
        <p:nvSpPr>
          <p:cNvPr id="5" name="Text 3"/>
          <p:cNvSpPr txBox="1"/>
          <p:nvPr/>
        </p:nvSpPr>
        <p:spPr>
          <a:xfrm>
            <a:off x="457200" y="3931920"/>
            <a:ext cx="5669280" cy="548640"/>
          </a:xfrm>
          <a:prstGeom prst="rect">
            <a:avLst/>
          </a:prstGeom>
          <a:noFill/>
          <a:ln/>
        </p:spPr>
        <p:txBody>
          <a:bodyPr wrap="square" lIns="0" tIns="0" rIns="0" bIns="0" rtlCol="0" anchor="t"/>
          <a:lstStyle/>
          <a:p>
            <a:pPr indent="0" marL="0">
              <a:buNone/>
            </a:pPr>
            <a:r>
              <a:rPr lang="en-US" sz="1050" dirty="0">
                <a:solidFill>
                  <a:srgbClr val="9CA3AF"/>
                </a:solidFill>
                <a:latin typeface="Calibri" pitchFamily="34" charset="0"/>
                <a:ea typeface="Calibri" pitchFamily="34" charset="-122"/>
                <a:cs typeface="Calibri" pitchFamily="34" charset="-120"/>
              </a:rPr>
              <a:t>B.E.L.L.E hackathon, San Francisco, 12 September 2026  ·  Team: Zubair (backend, contract, Neo4j, integration), Ali (frontend, pitch), Codey (data, trace fixtures)</a:t>
            </a:r>
            <a:endParaRPr lang="en-US" sz="1050" dirty="0"/>
          </a:p>
        </p:txBody>
      </p:sp>
      <p:sp>
        <p:nvSpPr>
          <p:cNvPr id="6" name="Shape 4"/>
          <p:cNvSpPr/>
          <p:nvPr/>
        </p:nvSpPr>
        <p:spPr>
          <a:xfrm>
            <a:off x="6400800" y="914400"/>
            <a:ext cx="2286000" cy="3566160"/>
          </a:xfrm>
          <a:prstGeom prst="roundRect">
            <a:avLst>
              <a:gd name="adj" fmla="val 3200"/>
            </a:avLst>
          </a:prstGeom>
          <a:solidFill>
            <a:srgbClr val="1E242E"/>
          </a:solidFill>
          <a:ln w="9525">
            <a:solidFill>
              <a:srgbClr val="2C3440"/>
            </a:solidFill>
            <a:prstDash val="solid"/>
          </a:ln>
        </p:spPr>
      </p:sp>
      <p:sp>
        <p:nvSpPr>
          <p:cNvPr id="7" name="Text 5"/>
          <p:cNvSpPr txBox="1"/>
          <p:nvPr/>
        </p:nvSpPr>
        <p:spPr>
          <a:xfrm>
            <a:off x="6400800" y="1051560"/>
            <a:ext cx="22860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DEMO-EV-005</a:t>
            </a:r>
            <a:endParaRPr lang="en-US" sz="1100" dirty="0"/>
          </a:p>
        </p:txBody>
      </p:sp>
      <p:sp>
        <p:nvSpPr>
          <p:cNvPr id="8" name="Text 6"/>
          <p:cNvSpPr txBox="1"/>
          <p:nvPr/>
        </p:nvSpPr>
        <p:spPr>
          <a:xfrm>
            <a:off x="6400800" y="1298448"/>
            <a:ext cx="2286000" cy="228600"/>
          </a:xfrm>
          <a:prstGeom prst="rect">
            <a:avLst/>
          </a:prstGeom>
          <a:noFill/>
          <a:ln/>
        </p:spPr>
        <p:txBody>
          <a:bodyPr wrap="square" lIns="0" tIns="0" rIns="0" bIns="0"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sedan build, VIN not assigned</a:t>
            </a:r>
            <a:endParaRPr lang="en-US" sz="900" dirty="0"/>
          </a:p>
        </p:txBody>
      </p:sp>
      <p:sp>
        <p:nvSpPr>
          <p:cNvPr id="9" name="Shape 7"/>
          <p:cNvSpPr/>
          <p:nvPr/>
        </p:nvSpPr>
        <p:spPr>
          <a:xfrm>
            <a:off x="7543800" y="1572768"/>
            <a:ext cx="0" cy="210312"/>
          </a:xfrm>
          <a:prstGeom prst="line">
            <a:avLst/>
          </a:prstGeom>
          <a:noFill/>
          <a:ln w="15875">
            <a:solidFill>
              <a:srgbClr val="6B7280"/>
            </a:solidFill>
            <a:prstDash val="solid"/>
          </a:ln>
        </p:spPr>
      </p:sp>
      <p:sp>
        <p:nvSpPr>
          <p:cNvPr id="10" name="Shape 8"/>
          <p:cNvSpPr/>
          <p:nvPr/>
        </p:nvSpPr>
        <p:spPr>
          <a:xfrm flipH="1">
            <a:off x="6949440" y="2423160"/>
            <a:ext cx="594360" cy="457200"/>
          </a:xfrm>
          <a:prstGeom prst="line">
            <a:avLst/>
          </a:prstGeom>
          <a:noFill/>
          <a:ln w="15875">
            <a:solidFill>
              <a:srgbClr val="6B7280"/>
            </a:solidFill>
            <a:prstDash val="solid"/>
          </a:ln>
        </p:spPr>
      </p:sp>
      <p:sp>
        <p:nvSpPr>
          <p:cNvPr id="11" name="Shape 9"/>
          <p:cNvSpPr/>
          <p:nvPr/>
        </p:nvSpPr>
        <p:spPr>
          <a:xfrm>
            <a:off x="7543800" y="2423160"/>
            <a:ext cx="594360" cy="457200"/>
          </a:xfrm>
          <a:prstGeom prst="line">
            <a:avLst/>
          </a:prstGeom>
          <a:noFill/>
          <a:ln w="15875">
            <a:solidFill>
              <a:srgbClr val="6B7280"/>
            </a:solidFill>
            <a:prstDash val="solid"/>
          </a:ln>
        </p:spPr>
      </p:sp>
      <p:sp>
        <p:nvSpPr>
          <p:cNvPr id="12" name="Shape 10"/>
          <p:cNvSpPr/>
          <p:nvPr/>
        </p:nvSpPr>
        <p:spPr>
          <a:xfrm>
            <a:off x="7086600" y="1783080"/>
            <a:ext cx="914400" cy="640080"/>
          </a:xfrm>
          <a:prstGeom prst="roundRect">
            <a:avLst>
              <a:gd name="adj" fmla="val 14286"/>
            </a:avLst>
          </a:prstGeom>
          <a:solidFill>
            <a:srgbClr val="2C3440"/>
          </a:solidFill>
          <a:ln w="12700">
            <a:solidFill>
              <a:srgbClr val="2C3440"/>
            </a:solidFill>
            <a:prstDash val="solid"/>
          </a:ln>
        </p:spPr>
      </p:sp>
      <p:sp>
        <p:nvSpPr>
          <p:cNvPr id="13" name="Text 11"/>
          <p:cNvSpPr txBox="1"/>
          <p:nvPr/>
        </p:nvSpPr>
        <p:spPr>
          <a:xfrm>
            <a:off x="7086600" y="178308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CPM-0005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charge-port module</a:t>
            </a:r>
            <a:endParaRPr lang="en-US" sz="950" dirty="0"/>
          </a:p>
        </p:txBody>
      </p:sp>
      <p:sp>
        <p:nvSpPr>
          <p:cNvPr id="14" name="Shape 12"/>
          <p:cNvSpPr/>
          <p:nvPr/>
        </p:nvSpPr>
        <p:spPr>
          <a:xfrm>
            <a:off x="6492240" y="2880360"/>
            <a:ext cx="914400" cy="640080"/>
          </a:xfrm>
          <a:prstGeom prst="roundRect">
            <a:avLst>
              <a:gd name="adj" fmla="val 14286"/>
            </a:avLst>
          </a:prstGeom>
          <a:solidFill>
            <a:srgbClr val="B85E1C"/>
          </a:solidFill>
          <a:ln w="12700">
            <a:solidFill>
              <a:srgbClr val="B85E1C"/>
            </a:solidFill>
            <a:prstDash val="solid"/>
          </a:ln>
        </p:spPr>
      </p:sp>
      <p:sp>
        <p:nvSpPr>
          <p:cNvPr id="15" name="Text 13"/>
          <p:cNvSpPr txBox="1"/>
          <p:nvPr/>
        </p:nvSpPr>
        <p:spPr>
          <a:xfrm>
            <a:off x="6492240" y="288036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CONN-0005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bought · DEMO-SUP-LOT-01</a:t>
            </a:r>
            <a:endParaRPr lang="en-US" sz="950" dirty="0"/>
          </a:p>
        </p:txBody>
      </p:sp>
      <p:sp>
        <p:nvSpPr>
          <p:cNvPr id="16" name="Shape 14"/>
          <p:cNvSpPr/>
          <p:nvPr/>
        </p:nvSpPr>
        <p:spPr>
          <a:xfrm>
            <a:off x="7680960" y="2880360"/>
            <a:ext cx="914400" cy="640080"/>
          </a:xfrm>
          <a:prstGeom prst="roundRect">
            <a:avLst>
              <a:gd name="adj" fmla="val 14286"/>
            </a:avLst>
          </a:prstGeom>
          <a:solidFill>
            <a:srgbClr val="3E8E6E"/>
          </a:solidFill>
          <a:ln w="12700">
            <a:solidFill>
              <a:srgbClr val="3E8E6E"/>
            </a:solidFill>
            <a:prstDash val="solid"/>
          </a:ln>
        </p:spPr>
      </p:sp>
      <p:sp>
        <p:nvSpPr>
          <p:cNvPr id="17" name="Text 15"/>
          <p:cNvSpPr txBox="1"/>
          <p:nvPr/>
        </p:nvSpPr>
        <p:spPr>
          <a:xfrm>
            <a:off x="7680960" y="288036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BRKT-0005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made · DEMO-MFG-LOT-01</a:t>
            </a:r>
            <a:endParaRPr lang="en-US" sz="950" dirty="0"/>
          </a:p>
        </p:txBody>
      </p:sp>
      <p:sp>
        <p:nvSpPr>
          <p:cNvPr id="18" name="Text 16"/>
          <p:cNvSpPr txBox="1"/>
          <p:nvPr/>
        </p:nvSpPr>
        <p:spPr>
          <a:xfrm>
            <a:off x="6400800" y="3703320"/>
            <a:ext cx="2286000" cy="548640"/>
          </a:xfrm>
          <a:prstGeom prst="rect">
            <a:avLst/>
          </a:prstGeom>
          <a:noFill/>
          <a:ln/>
        </p:spPr>
        <p:txBody>
          <a:bodyPr wrap="square" lIns="635" tIns="635" rIns="635" bIns="635" rtlCol="0" anchor="t"/>
          <a:lstStyle/>
          <a:p>
            <a:pPr algn="ctr" indent="0" marL="0">
              <a:buNone/>
            </a:pPr>
            <a:r>
              <a:rPr lang="en-US" sz="850" i="1" dirty="0">
                <a:solidFill>
                  <a:srgbClr val="9CA3AF"/>
                </a:solidFill>
                <a:latin typeface="Calibri" pitchFamily="34" charset="0"/>
                <a:ea typeface="Calibri" pitchFamily="34" charset="-122"/>
                <a:cs typeface="Calibri" pitchFamily="34" charset="-120"/>
              </a:rPr>
              <a:t>purchased connector and in-house bracket, one module, one build</a:t>
            </a:r>
            <a:endParaRPr lang="en-US" sz="850" dirty="0"/>
          </a:p>
        </p:txBody>
      </p:sp>
      <p:sp>
        <p:nvSpPr>
          <p:cNvPr id="19" name="Text 1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All factory records are synthetic. The plant, suppliers, vehicles and teams are fictional.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Four teams, four record systems, and the finder gets blamed</a:t>
            </a:r>
            <a:endParaRPr lang="en-US" sz="2800" dirty="0"/>
          </a:p>
        </p:txBody>
      </p:sp>
      <p:sp>
        <p:nvSpPr>
          <p:cNvPr id="3" name="Shape 1"/>
          <p:cNvSpPr/>
          <p:nvPr/>
        </p:nvSpPr>
        <p:spPr>
          <a:xfrm>
            <a:off x="457200" y="1371600"/>
            <a:ext cx="2651760" cy="2834640"/>
          </a:xfrm>
          <a:prstGeom prst="roundRect">
            <a:avLst>
              <a:gd name="adj" fmla="val 2759"/>
            </a:avLst>
          </a:prstGeom>
          <a:solidFill>
            <a:srgbClr val="F3F4F6"/>
          </a:solidFill>
          <a:ln w="9525">
            <a:solidFill>
              <a:srgbClr val="F3F4F6"/>
            </a:solidFill>
            <a:prstDash val="solid"/>
          </a:ln>
        </p:spPr>
      </p:sp>
      <p:sp>
        <p:nvSpPr>
          <p:cNvPr id="4" name="Shape 2"/>
          <p:cNvSpPr/>
          <p:nvPr/>
        </p:nvSpPr>
        <p:spPr>
          <a:xfrm>
            <a:off x="640080" y="1554480"/>
            <a:ext cx="310896" cy="310896"/>
          </a:xfrm>
          <a:prstGeom prst="ellipse">
            <a:avLst/>
          </a:prstGeom>
          <a:solidFill>
            <a:srgbClr val="D9752B"/>
          </a:solidFill>
          <a:ln w="12700">
            <a:solidFill>
              <a:srgbClr val="D9752B"/>
            </a:solidFill>
            <a:prstDash val="solid"/>
          </a:ln>
        </p:spPr>
      </p:sp>
      <p:sp>
        <p:nvSpPr>
          <p:cNvPr id="5" name="Text 3"/>
          <p:cNvSpPr txBox="1"/>
          <p:nvPr/>
        </p:nvSpPr>
        <p:spPr>
          <a:xfrm>
            <a:off x="64008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536192"/>
            <a:ext cx="1920240" cy="347472"/>
          </a:xfrm>
          <a:prstGeom prst="rect">
            <a:avLst/>
          </a:prstGeom>
          <a:noFill/>
          <a:ln/>
        </p:spPr>
        <p:txBody>
          <a:bodyPr wrap="square" lIns="0" tIns="0" rIns="0" bIns="0" rtlCol="0" anchor="ctr"/>
          <a:lstStyle/>
          <a:p>
            <a:pPr indent="0" marL="0">
              <a:buNone/>
            </a:pPr>
            <a:r>
              <a:rPr lang="en-US" sz="1500" b="1" dirty="0">
                <a:solidFill>
                  <a:srgbClr val="14181F"/>
                </a:solidFill>
                <a:latin typeface="Cambria" pitchFamily="34" charset="0"/>
                <a:ea typeface="Cambria" pitchFamily="34" charset="-122"/>
                <a:cs typeface="Cambria" pitchFamily="34" charset="-120"/>
              </a:rPr>
              <a:t>Who buys</a:t>
            </a:r>
            <a:endParaRPr lang="en-US" sz="1500" dirty="0"/>
          </a:p>
        </p:txBody>
      </p:sp>
      <p:sp>
        <p:nvSpPr>
          <p:cNvPr id="7" name="Text 5"/>
          <p:cNvSpPr txBox="1"/>
          <p:nvPr/>
        </p:nvSpPr>
        <p:spPr>
          <a:xfrm>
            <a:off x="640080" y="2011680"/>
            <a:ext cx="2286000" cy="2423160"/>
          </a:xfrm>
          <a:prstGeom prst="rect">
            <a:avLst/>
          </a:prstGeom>
          <a:noFill/>
          <a:ln/>
        </p:spPr>
        <p:txBody>
          <a:bodyPr wrap="square" lIns="0" tIns="0" rIns="0" bIns="0" rtlCol="0" anchor="t"/>
          <a:lstStyle/>
          <a:p>
            <a:pPr indent="0" marL="0">
              <a:buNone/>
            </a:pPr>
            <a:r>
              <a:rPr lang="en-US" sz="1150" dirty="0">
                <a:solidFill>
                  <a:srgbClr val="374151"/>
                </a:solidFill>
                <a:latin typeface="Calibri" pitchFamily="34" charset="0"/>
                <a:ea typeface="Calibri" pitchFamily="34" charset="-122"/>
                <a:cs typeface="Calibri" pitchFamily="34" charset="-120"/>
              </a:rPr>
              <a:t>Head of quality or manufacturing operations at an EV assembler that buys some components and makes others in-house. Users: final inspection, assembly, in-house manufacturing, supplier quality, quality engineering.</a:t>
            </a:r>
            <a:endParaRPr lang="en-US" sz="1150" dirty="0"/>
          </a:p>
        </p:txBody>
      </p:sp>
      <p:sp>
        <p:nvSpPr>
          <p:cNvPr id="8" name="Shape 6"/>
          <p:cNvSpPr/>
          <p:nvPr/>
        </p:nvSpPr>
        <p:spPr>
          <a:xfrm>
            <a:off x="3246120" y="1371600"/>
            <a:ext cx="2651760" cy="2834640"/>
          </a:xfrm>
          <a:prstGeom prst="roundRect">
            <a:avLst>
              <a:gd name="adj" fmla="val 2759"/>
            </a:avLst>
          </a:prstGeom>
          <a:solidFill>
            <a:srgbClr val="14181F"/>
          </a:solidFill>
          <a:ln w="9525">
            <a:solidFill>
              <a:srgbClr val="14181F"/>
            </a:solidFill>
            <a:prstDash val="solid"/>
          </a:ln>
        </p:spPr>
      </p:sp>
      <p:sp>
        <p:nvSpPr>
          <p:cNvPr id="9" name="Shape 7"/>
          <p:cNvSpPr/>
          <p:nvPr/>
        </p:nvSpPr>
        <p:spPr>
          <a:xfrm>
            <a:off x="3429000" y="1554480"/>
            <a:ext cx="310896" cy="310896"/>
          </a:xfrm>
          <a:prstGeom prst="ellipse">
            <a:avLst/>
          </a:prstGeom>
          <a:solidFill>
            <a:srgbClr val="D9752B"/>
          </a:solidFill>
          <a:ln w="12700">
            <a:solidFill>
              <a:srgbClr val="D9752B"/>
            </a:solidFill>
            <a:prstDash val="solid"/>
          </a:ln>
        </p:spPr>
      </p:sp>
      <p:sp>
        <p:nvSpPr>
          <p:cNvPr id="10" name="Text 8"/>
          <p:cNvSpPr txBox="1"/>
          <p:nvPr/>
        </p:nvSpPr>
        <p:spPr>
          <a:xfrm>
            <a:off x="342900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3840480" y="1536192"/>
            <a:ext cx="1920240" cy="347472"/>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breaks today</a:t>
            </a:r>
            <a:endParaRPr lang="en-US" sz="1500" dirty="0"/>
          </a:p>
        </p:txBody>
      </p:sp>
      <p:sp>
        <p:nvSpPr>
          <p:cNvPr id="12" name="Text 10"/>
          <p:cNvSpPr txBox="1"/>
          <p:nvPr/>
        </p:nvSpPr>
        <p:spPr>
          <a:xfrm>
            <a:off x="3429000" y="2011680"/>
            <a:ext cx="2286000" cy="2423160"/>
          </a:xfrm>
          <a:prstGeom prst="rect">
            <a:avLst/>
          </a:prstGeom>
          <a:noFill/>
          <a:ln/>
        </p:spPr>
        <p:txBody>
          <a:bodyPr wrap="square" lIns="0" tIns="0" rIns="0" bIns="0" rtlCol="0" anchor="t"/>
          <a:lstStyle/>
          <a:p>
            <a:pPr indent="0" marL="0">
              <a:buNone/>
            </a:pPr>
            <a:r>
              <a:rPr lang="en-US" sz="1150" dirty="0">
                <a:solidFill>
                  <a:srgbClr val="E5E7EB"/>
                </a:solidFill>
                <a:latin typeface="Calibri" pitchFamily="34" charset="0"/>
                <a:ea typeface="Calibri" pitchFamily="34" charset="-122"/>
                <a:cs typeface="Calibri" pitchFamily="34" charset="-120"/>
              </a:rPr>
              <a:t>An issue on the line touches a purchased connector and an in-house bracket. The receipt, the manufacturing lot, the earlier fix and its verification live in different records. Who reported, who is assigned and who caused it collapse into one blame column.</a:t>
            </a:r>
            <a:endParaRPr lang="en-US" sz="1150" dirty="0"/>
          </a:p>
        </p:txBody>
      </p:sp>
      <p:sp>
        <p:nvSpPr>
          <p:cNvPr id="13" name="Shape 11"/>
          <p:cNvSpPr/>
          <p:nvPr/>
        </p:nvSpPr>
        <p:spPr>
          <a:xfrm>
            <a:off x="6035040" y="1371600"/>
            <a:ext cx="2651760" cy="2834640"/>
          </a:xfrm>
          <a:prstGeom prst="roundRect">
            <a:avLst>
              <a:gd name="adj" fmla="val 2759"/>
            </a:avLst>
          </a:prstGeom>
          <a:solidFill>
            <a:srgbClr val="F3F4F6"/>
          </a:solidFill>
          <a:ln w="9525">
            <a:solidFill>
              <a:srgbClr val="F3F4F6"/>
            </a:solidFill>
            <a:prstDash val="solid"/>
          </a:ln>
        </p:spPr>
      </p:sp>
      <p:sp>
        <p:nvSpPr>
          <p:cNvPr id="14" name="Shape 12"/>
          <p:cNvSpPr/>
          <p:nvPr/>
        </p:nvSpPr>
        <p:spPr>
          <a:xfrm>
            <a:off x="6217920" y="1554480"/>
            <a:ext cx="310896" cy="310896"/>
          </a:xfrm>
          <a:prstGeom prst="ellipse">
            <a:avLst/>
          </a:prstGeom>
          <a:solidFill>
            <a:srgbClr val="D9752B"/>
          </a:solidFill>
          <a:ln w="12700">
            <a:solidFill>
              <a:srgbClr val="D9752B"/>
            </a:solidFill>
            <a:prstDash val="solid"/>
          </a:ln>
        </p:spPr>
      </p:sp>
      <p:sp>
        <p:nvSpPr>
          <p:cNvPr id="15" name="Text 13"/>
          <p:cNvSpPr txBox="1"/>
          <p:nvPr/>
        </p:nvSpPr>
        <p:spPr>
          <a:xfrm>
            <a:off x="621792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629400" y="1536192"/>
            <a:ext cx="1920240" cy="347472"/>
          </a:xfrm>
          <a:prstGeom prst="rect">
            <a:avLst/>
          </a:prstGeom>
          <a:noFill/>
          <a:ln/>
        </p:spPr>
        <p:txBody>
          <a:bodyPr wrap="square" lIns="0" tIns="0" rIns="0" bIns="0" rtlCol="0" anchor="ctr"/>
          <a:lstStyle/>
          <a:p>
            <a:pPr indent="0" marL="0">
              <a:buNone/>
            </a:pPr>
            <a:r>
              <a:rPr lang="en-US" sz="1500" b="1" dirty="0">
                <a:solidFill>
                  <a:srgbClr val="14181F"/>
                </a:solidFill>
                <a:latin typeface="Cambria" pitchFamily="34" charset="0"/>
                <a:ea typeface="Cambria" pitchFamily="34" charset="-122"/>
                <a:cs typeface="Cambria" pitchFamily="34" charset="-120"/>
              </a:rPr>
              <a:t>What we are not claiming</a:t>
            </a:r>
            <a:endParaRPr lang="en-US" sz="1500" dirty="0"/>
          </a:p>
        </p:txBody>
      </p:sp>
      <p:sp>
        <p:nvSpPr>
          <p:cNvPr id="17" name="Text 15"/>
          <p:cNvSpPr txBox="1"/>
          <p:nvPr/>
        </p:nvSpPr>
        <p:spPr>
          <a:xfrm>
            <a:off x="6217920" y="2011680"/>
            <a:ext cx="2286000" cy="2423160"/>
          </a:xfrm>
          <a:prstGeom prst="rect">
            <a:avLst/>
          </a:prstGeom>
          <a:noFill/>
          <a:ln/>
        </p:spPr>
        <p:txBody>
          <a:bodyPr wrap="square" lIns="0" tIns="0" rIns="0" bIns="0" rtlCol="0" anchor="t"/>
          <a:lstStyle/>
          <a:p>
            <a:pPr indent="0" marL="0">
              <a:buNone/>
            </a:pPr>
            <a:r>
              <a:rPr lang="en-US" sz="1150" dirty="0">
                <a:solidFill>
                  <a:srgbClr val="374151"/>
                </a:solidFill>
                <a:latin typeface="Calibri" pitchFamily="34" charset="0"/>
                <a:ea typeface="Calibri" pitchFamily="34" charset="-122"/>
                <a:cs typeface="Calibri" pitchFamily="34" charset="-120"/>
              </a:rPr>
              <a:t>No measured savings, no customers, no market-size figure. Traceability exists inside MES suites; we test a narrower advantage: one connected record from issue to verified fix, with attribution kept honest.</a:t>
            </a:r>
            <a:endParaRPr lang="en-US" sz="1150" dirty="0"/>
          </a:p>
        </p:txBody>
      </p:sp>
      <p:sp>
        <p:nvSpPr>
          <p:cNvPr id="18" name="Text 16"/>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Buyer and users are a hypothesis to test in a pilot, not a validated segment.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Report from the 3D sketch, save a real record, prove it with this vehicle</a:t>
            </a:r>
            <a:endParaRPr lang="en-US" sz="2800" dirty="0"/>
          </a:p>
        </p:txBody>
      </p:sp>
      <p:sp>
        <p:nvSpPr>
          <p:cNvPr id="3" name="Shape 1"/>
          <p:cNvSpPr/>
          <p:nvPr/>
        </p:nvSpPr>
        <p:spPr>
          <a:xfrm>
            <a:off x="457200" y="1371600"/>
            <a:ext cx="1572768" cy="2834640"/>
          </a:xfrm>
          <a:prstGeom prst="roundRect">
            <a:avLst>
              <a:gd name="adj" fmla="val 4651"/>
            </a:avLst>
          </a:prstGeom>
          <a:solidFill>
            <a:srgbClr val="F3F4F6"/>
          </a:solidFill>
          <a:ln w="9525">
            <a:solidFill>
              <a:srgbClr val="F3F4F6"/>
            </a:solidFill>
            <a:prstDash val="solid"/>
          </a:ln>
        </p:spPr>
      </p:sp>
      <p:sp>
        <p:nvSpPr>
          <p:cNvPr id="4" name="Shape 2"/>
          <p:cNvSpPr/>
          <p:nvPr/>
        </p:nvSpPr>
        <p:spPr>
          <a:xfrm>
            <a:off x="594360" y="1508760"/>
            <a:ext cx="310896" cy="310896"/>
          </a:xfrm>
          <a:prstGeom prst="ellipse">
            <a:avLst/>
          </a:prstGeom>
          <a:solidFill>
            <a:srgbClr val="D9752B"/>
          </a:solidFill>
          <a:ln w="12700">
            <a:solidFill>
              <a:srgbClr val="D9752B"/>
            </a:solidFill>
            <a:prstDash val="solid"/>
          </a:ln>
        </p:spPr>
      </p:sp>
      <p:sp>
        <p:nvSpPr>
          <p:cNvPr id="5" name="Text 3"/>
          <p:cNvSpPr txBox="1"/>
          <p:nvPr/>
        </p:nvSpPr>
        <p:spPr>
          <a:xfrm>
            <a:off x="594360"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594360"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Tap the charge port</a:t>
            </a:r>
            <a:endParaRPr lang="en-US" sz="1250" dirty="0"/>
          </a:p>
        </p:txBody>
      </p:sp>
      <p:sp>
        <p:nvSpPr>
          <p:cNvPr id="7" name="Text 5"/>
          <p:cNvSpPr txBox="1"/>
          <p:nvPr/>
        </p:nvSpPr>
        <p:spPr>
          <a:xfrm>
            <a:off x="594360"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CONN-0005 shows "Bought from supplier · DEMO-SUP-LOT-01"; BRKT-0005 shows "Made in-house · DEMO-MFG-LOT-01 · WO-DEMO-0001". Parts with no record say so. We never invent provenance.</a:t>
            </a:r>
            <a:endParaRPr lang="en-US" sz="950" dirty="0"/>
          </a:p>
        </p:txBody>
      </p:sp>
      <p:sp>
        <p:nvSpPr>
          <p:cNvPr id="8" name="Shape 6"/>
          <p:cNvSpPr/>
          <p:nvPr/>
        </p:nvSpPr>
        <p:spPr>
          <a:xfrm>
            <a:off x="2121408" y="1371600"/>
            <a:ext cx="1572768" cy="2834640"/>
          </a:xfrm>
          <a:prstGeom prst="roundRect">
            <a:avLst>
              <a:gd name="adj" fmla="val 4651"/>
            </a:avLst>
          </a:prstGeom>
          <a:solidFill>
            <a:srgbClr val="F3F4F6"/>
          </a:solidFill>
          <a:ln w="9525">
            <a:solidFill>
              <a:srgbClr val="F3F4F6"/>
            </a:solidFill>
            <a:prstDash val="solid"/>
          </a:ln>
        </p:spPr>
      </p:sp>
      <p:sp>
        <p:nvSpPr>
          <p:cNvPr id="9" name="Shape 7"/>
          <p:cNvSpPr/>
          <p:nvPr/>
        </p:nvSpPr>
        <p:spPr>
          <a:xfrm>
            <a:off x="2258568" y="1508760"/>
            <a:ext cx="310896" cy="310896"/>
          </a:xfrm>
          <a:prstGeom prst="ellipse">
            <a:avLst/>
          </a:prstGeom>
          <a:solidFill>
            <a:srgbClr val="D9752B"/>
          </a:solidFill>
          <a:ln w="12700">
            <a:solidFill>
              <a:srgbClr val="D9752B"/>
            </a:solidFill>
            <a:prstDash val="solid"/>
          </a:ln>
        </p:spPr>
      </p:sp>
      <p:sp>
        <p:nvSpPr>
          <p:cNvPr id="10" name="Text 8"/>
          <p:cNvSpPr txBox="1"/>
          <p:nvPr/>
        </p:nvSpPr>
        <p:spPr>
          <a:xfrm>
            <a:off x="2258568"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2258568"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Report and save</a:t>
            </a:r>
            <a:endParaRPr lang="en-US" sz="1250" dirty="0"/>
          </a:p>
        </p:txBody>
      </p:sp>
      <p:sp>
        <p:nvSpPr>
          <p:cNvPr id="12" name="Text 10"/>
          <p:cNvSpPr txBox="1"/>
          <p:nvPr/>
        </p:nvSpPr>
        <p:spPr>
          <a:xfrm>
            <a:off x="2258568"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Title, severity, defect code, station, process step, reporting team. No CSV, no alert, no model call. Saved as v1 in Neo4j; F5 reloads it with its audit entry.</a:t>
            </a:r>
            <a:endParaRPr lang="en-US" sz="950" dirty="0"/>
          </a:p>
        </p:txBody>
      </p:sp>
      <p:sp>
        <p:nvSpPr>
          <p:cNvPr id="13" name="Shape 11"/>
          <p:cNvSpPr/>
          <p:nvPr/>
        </p:nvSpPr>
        <p:spPr>
          <a:xfrm>
            <a:off x="3785616" y="1371600"/>
            <a:ext cx="1572768" cy="2834640"/>
          </a:xfrm>
          <a:prstGeom prst="roundRect">
            <a:avLst>
              <a:gd name="adj" fmla="val 4651"/>
            </a:avLst>
          </a:prstGeom>
          <a:solidFill>
            <a:srgbClr val="F3F4F6"/>
          </a:solidFill>
          <a:ln w="9525">
            <a:solidFill>
              <a:srgbClr val="F3F4F6"/>
            </a:solidFill>
            <a:prstDash val="solid"/>
          </a:ln>
        </p:spPr>
      </p:sp>
      <p:sp>
        <p:nvSpPr>
          <p:cNvPr id="14" name="Shape 12"/>
          <p:cNvSpPr/>
          <p:nvPr/>
        </p:nvSpPr>
        <p:spPr>
          <a:xfrm>
            <a:off x="3922776" y="1508760"/>
            <a:ext cx="310896" cy="310896"/>
          </a:xfrm>
          <a:prstGeom prst="ellipse">
            <a:avLst/>
          </a:prstGeom>
          <a:solidFill>
            <a:srgbClr val="D9752B"/>
          </a:solidFill>
          <a:ln w="12700">
            <a:solidFill>
              <a:srgbClr val="D9752B"/>
            </a:solidFill>
            <a:prstDash val="solid"/>
          </a:ln>
        </p:spPr>
      </p:sp>
      <p:sp>
        <p:nvSpPr>
          <p:cNvPr id="15" name="Text 13"/>
          <p:cNvSpPr txBox="1"/>
          <p:nvPr/>
        </p:nvSpPr>
        <p:spPr>
          <a:xfrm>
            <a:off x="3922776"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3922776"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Confirm the cause</a:t>
            </a:r>
            <a:endParaRPr lang="en-US" sz="1250" dirty="0"/>
          </a:p>
        </p:txBody>
      </p:sp>
      <p:sp>
        <p:nvSpPr>
          <p:cNvPr id="17" name="Text 15"/>
          <p:cNvSpPr txBox="1"/>
          <p:nvPr/>
        </p:nvSpPr>
        <p:spPr>
          <a:xfrm>
            <a:off x="3922776"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Cause assessment: confirmed, type in-house manufacturing, team In-house Manufacturing, step Bracket forming. Header now separates reporter, assignee and confirmed causal team.</a:t>
            </a:r>
            <a:endParaRPr lang="en-US" sz="950" dirty="0"/>
          </a:p>
        </p:txBody>
      </p:sp>
      <p:sp>
        <p:nvSpPr>
          <p:cNvPr id="18" name="Shape 16"/>
          <p:cNvSpPr/>
          <p:nvPr/>
        </p:nvSpPr>
        <p:spPr>
          <a:xfrm>
            <a:off x="5449824" y="1371600"/>
            <a:ext cx="1572768" cy="2834640"/>
          </a:xfrm>
          <a:prstGeom prst="roundRect">
            <a:avLst>
              <a:gd name="adj" fmla="val 4651"/>
            </a:avLst>
          </a:prstGeom>
          <a:solidFill>
            <a:srgbClr val="F3F4F6"/>
          </a:solidFill>
          <a:ln w="9525">
            <a:solidFill>
              <a:srgbClr val="F3F4F6"/>
            </a:solidFill>
            <a:prstDash val="solid"/>
          </a:ln>
        </p:spPr>
      </p:sp>
      <p:sp>
        <p:nvSpPr>
          <p:cNvPr id="19" name="Shape 17"/>
          <p:cNvSpPr/>
          <p:nvPr/>
        </p:nvSpPr>
        <p:spPr>
          <a:xfrm>
            <a:off x="5586984" y="1508760"/>
            <a:ext cx="310896" cy="310896"/>
          </a:xfrm>
          <a:prstGeom prst="ellipse">
            <a:avLst/>
          </a:prstGeom>
          <a:solidFill>
            <a:srgbClr val="D9752B"/>
          </a:solidFill>
          <a:ln w="12700">
            <a:solidFill>
              <a:srgbClr val="D9752B"/>
            </a:solidFill>
            <a:prstDash val="solid"/>
          </a:ln>
        </p:spPr>
      </p:sp>
      <p:sp>
        <p:nvSpPr>
          <p:cNvPr id="20" name="Text 18"/>
          <p:cNvSpPr txBox="1"/>
          <p:nvPr/>
        </p:nvSpPr>
        <p:spPr>
          <a:xfrm>
            <a:off x="5586984"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5586984"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Reuse a verified fix</a:t>
            </a:r>
            <a:endParaRPr lang="en-US" sz="1250" dirty="0"/>
          </a:p>
        </p:txBody>
      </p:sp>
      <p:sp>
        <p:nvSpPr>
          <p:cNvPr id="22" name="Text 20"/>
          <p:cNvSpPr txBox="1"/>
          <p:nvPr/>
        </p:nvSpPr>
        <p:spPr>
          <a:xfrm>
            <a:off x="5586984"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Graph retrieval returns the bracket fix verified on DEMO-EV-002 with match reasons and limits. Reuse creates a new proposal; the original is never edited.</a:t>
            </a:r>
            <a:endParaRPr lang="en-US" sz="950" dirty="0"/>
          </a:p>
        </p:txBody>
      </p:sp>
      <p:sp>
        <p:nvSpPr>
          <p:cNvPr id="23" name="Shape 21"/>
          <p:cNvSpPr/>
          <p:nvPr/>
        </p:nvSpPr>
        <p:spPr>
          <a:xfrm>
            <a:off x="7114032" y="1371600"/>
            <a:ext cx="1572768" cy="2834640"/>
          </a:xfrm>
          <a:prstGeom prst="roundRect">
            <a:avLst>
              <a:gd name="adj" fmla="val 4651"/>
            </a:avLst>
          </a:prstGeom>
          <a:solidFill>
            <a:srgbClr val="F3F4F6"/>
          </a:solidFill>
          <a:ln w="9525">
            <a:solidFill>
              <a:srgbClr val="F3F4F6"/>
            </a:solidFill>
            <a:prstDash val="solid"/>
          </a:ln>
        </p:spPr>
      </p:sp>
      <p:sp>
        <p:nvSpPr>
          <p:cNvPr id="24" name="Shape 22"/>
          <p:cNvSpPr/>
          <p:nvPr/>
        </p:nvSpPr>
        <p:spPr>
          <a:xfrm>
            <a:off x="7251192" y="1508760"/>
            <a:ext cx="310896" cy="310896"/>
          </a:xfrm>
          <a:prstGeom prst="ellipse">
            <a:avLst/>
          </a:prstGeom>
          <a:solidFill>
            <a:srgbClr val="D9752B"/>
          </a:solidFill>
          <a:ln w="12700">
            <a:solidFill>
              <a:srgbClr val="D9752B"/>
            </a:solidFill>
            <a:prstDash val="solid"/>
          </a:ln>
        </p:spPr>
      </p:sp>
      <p:sp>
        <p:nvSpPr>
          <p:cNvPr id="25" name="Text 23"/>
          <p:cNvSpPr txBox="1"/>
          <p:nvPr/>
        </p:nvSpPr>
        <p:spPr>
          <a:xfrm>
            <a:off x="7251192"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7251192"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Fail, then pass, then close</a:t>
            </a:r>
            <a:endParaRPr lang="en-US" sz="1250" dirty="0"/>
          </a:p>
        </p:txBody>
      </p:sp>
      <p:sp>
        <p:nvSpPr>
          <p:cNvPr id="27" name="Text 25"/>
          <p:cNvSpPr txBox="1"/>
          <p:nvPr/>
        </p:nvSpPr>
        <p:spPr>
          <a:xfrm>
            <a:off x="7251192"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Close stays disabled until a passed verification of the applied fix. A failed verification is kept, status returns to in progress, then pass and close. Reopen keeps the full history.</a:t>
            </a:r>
            <a:endParaRPr lang="en-US" sz="950" dirty="0"/>
          </a:p>
        </p:txBody>
      </p:sp>
      <p:sp>
        <p:nvSpPr>
          <p:cNvPr id="28" name="Text 26"/>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Every state above was cross-checked in the browser by reading the issue back through GET /api/issues/:id in graph mode (docs/evidence/BROWSER_ACCEPTANCE_RUN_2026-09-12.md).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Why Neo4j: the questions are relationship questions</a:t>
            </a:r>
            <a:endParaRPr lang="en-US" sz="2800" dirty="0"/>
          </a:p>
        </p:txBody>
      </p:sp>
      <p:sp>
        <p:nvSpPr>
          <p:cNvPr id="3" name="Shape 1"/>
          <p:cNvSpPr/>
          <p:nvPr/>
        </p:nvSpPr>
        <p:spPr>
          <a:xfrm>
            <a:off x="457200" y="1325880"/>
            <a:ext cx="4206240" cy="3246120"/>
          </a:xfrm>
          <a:prstGeom prst="roundRect">
            <a:avLst>
              <a:gd name="adj" fmla="val 2254"/>
            </a:avLst>
          </a:prstGeom>
          <a:solidFill>
            <a:srgbClr val="1E242E"/>
          </a:solidFill>
          <a:ln w="9525">
            <a:solidFill>
              <a:srgbClr val="2C3440"/>
            </a:solidFill>
            <a:prstDash val="solid"/>
          </a:ln>
        </p:spPr>
      </p:sp>
      <p:sp>
        <p:nvSpPr>
          <p:cNvPr id="4" name="Shape 2"/>
          <p:cNvSpPr/>
          <p:nvPr/>
        </p:nvSpPr>
        <p:spPr>
          <a:xfrm>
            <a:off x="640080" y="1554480"/>
            <a:ext cx="1051560" cy="365760"/>
          </a:xfrm>
          <a:prstGeom prst="roundRect">
            <a:avLst>
              <a:gd name="adj" fmla="val 20000"/>
            </a:avLst>
          </a:prstGeom>
          <a:solidFill>
            <a:srgbClr val="4B5563"/>
          </a:solidFill>
          <a:ln w="12700">
            <a:solidFill>
              <a:srgbClr val="4B5563"/>
            </a:solidFill>
            <a:prstDash val="solid"/>
          </a:ln>
        </p:spPr>
      </p:sp>
      <p:sp>
        <p:nvSpPr>
          <p:cNvPr id="5" name="Text 3"/>
          <p:cNvSpPr txBox="1"/>
          <p:nvPr/>
        </p:nvSpPr>
        <p:spPr>
          <a:xfrm>
            <a:off x="6400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Supplier</a:t>
            </a:r>
            <a:endParaRPr lang="en-US" sz="900" dirty="0"/>
          </a:p>
        </p:txBody>
      </p:sp>
      <p:sp>
        <p:nvSpPr>
          <p:cNvPr id="6" name="Shape 4"/>
          <p:cNvSpPr/>
          <p:nvPr/>
        </p:nvSpPr>
        <p:spPr>
          <a:xfrm>
            <a:off x="2011680" y="1554480"/>
            <a:ext cx="1051560" cy="365760"/>
          </a:xfrm>
          <a:prstGeom prst="roundRect">
            <a:avLst>
              <a:gd name="adj" fmla="val 20000"/>
            </a:avLst>
          </a:prstGeom>
          <a:solidFill>
            <a:srgbClr val="B85E1C"/>
          </a:solidFill>
          <a:ln w="12700">
            <a:solidFill>
              <a:srgbClr val="B85E1C"/>
            </a:solidFill>
            <a:prstDash val="solid"/>
          </a:ln>
        </p:spPr>
      </p:sp>
      <p:sp>
        <p:nvSpPr>
          <p:cNvPr id="7" name="Text 5"/>
          <p:cNvSpPr txBox="1"/>
          <p:nvPr/>
        </p:nvSpPr>
        <p:spPr>
          <a:xfrm>
            <a:off x="20116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SupplierLot</a:t>
            </a:r>
            <a:endParaRPr lang="en-US" sz="900" dirty="0"/>
          </a:p>
        </p:txBody>
      </p:sp>
      <p:sp>
        <p:nvSpPr>
          <p:cNvPr id="8" name="Shape 6"/>
          <p:cNvSpPr/>
          <p:nvPr/>
        </p:nvSpPr>
        <p:spPr>
          <a:xfrm>
            <a:off x="3383280" y="1554480"/>
            <a:ext cx="1051560" cy="365760"/>
          </a:xfrm>
          <a:prstGeom prst="roundRect">
            <a:avLst>
              <a:gd name="adj" fmla="val 20000"/>
            </a:avLst>
          </a:prstGeom>
          <a:solidFill>
            <a:srgbClr val="3E8E6E"/>
          </a:solidFill>
          <a:ln w="12700">
            <a:solidFill>
              <a:srgbClr val="3E8E6E"/>
            </a:solidFill>
            <a:prstDash val="solid"/>
          </a:ln>
        </p:spPr>
      </p:sp>
      <p:sp>
        <p:nvSpPr>
          <p:cNvPr id="9" name="Text 7"/>
          <p:cNvSpPr txBox="1"/>
          <p:nvPr/>
        </p:nvSpPr>
        <p:spPr>
          <a:xfrm>
            <a:off x="33832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MfgLot</a:t>
            </a:r>
            <a:endParaRPr lang="en-US" sz="900" dirty="0"/>
          </a:p>
        </p:txBody>
      </p:sp>
      <p:sp>
        <p:nvSpPr>
          <p:cNvPr id="10" name="Shape 8"/>
          <p:cNvSpPr/>
          <p:nvPr/>
        </p:nvSpPr>
        <p:spPr>
          <a:xfrm>
            <a:off x="1691640" y="1737360"/>
            <a:ext cx="320040" cy="0"/>
          </a:xfrm>
          <a:prstGeom prst="line">
            <a:avLst/>
          </a:prstGeom>
          <a:noFill/>
          <a:ln w="12700">
            <a:solidFill>
              <a:srgbClr val="9CA3AF"/>
            </a:solidFill>
            <a:prstDash val="solid"/>
            <a:tailEnd type="triangle"/>
          </a:ln>
        </p:spPr>
      </p:sp>
      <p:sp>
        <p:nvSpPr>
          <p:cNvPr id="11" name="Text 9"/>
          <p:cNvSpPr txBox="1"/>
          <p:nvPr/>
        </p:nvSpPr>
        <p:spPr>
          <a:xfrm>
            <a:off x="1417320" y="1371600"/>
            <a:ext cx="86868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SUPPLIED_BY</a:t>
            </a:r>
            <a:endParaRPr lang="en-US" sz="700" dirty="0"/>
          </a:p>
        </p:txBody>
      </p:sp>
      <p:sp>
        <p:nvSpPr>
          <p:cNvPr id="12" name="Shape 10"/>
          <p:cNvSpPr/>
          <p:nvPr/>
        </p:nvSpPr>
        <p:spPr>
          <a:xfrm>
            <a:off x="2011680" y="2377440"/>
            <a:ext cx="1051560" cy="365760"/>
          </a:xfrm>
          <a:prstGeom prst="roundRect">
            <a:avLst>
              <a:gd name="adj" fmla="val 20000"/>
            </a:avLst>
          </a:prstGeom>
          <a:solidFill>
            <a:srgbClr val="374151"/>
          </a:solidFill>
          <a:ln w="12700">
            <a:solidFill>
              <a:srgbClr val="374151"/>
            </a:solidFill>
            <a:prstDash val="solid"/>
          </a:ln>
        </p:spPr>
      </p:sp>
      <p:sp>
        <p:nvSpPr>
          <p:cNvPr id="13" name="Text 11"/>
          <p:cNvSpPr txBox="1"/>
          <p:nvPr/>
        </p:nvSpPr>
        <p:spPr>
          <a:xfrm>
            <a:off x="20116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Origin</a:t>
            </a:r>
            <a:endParaRPr lang="en-US" sz="900" dirty="0"/>
          </a:p>
        </p:txBody>
      </p:sp>
      <p:sp>
        <p:nvSpPr>
          <p:cNvPr id="14" name="Shape 12"/>
          <p:cNvSpPr/>
          <p:nvPr/>
        </p:nvSpPr>
        <p:spPr>
          <a:xfrm>
            <a:off x="2532888" y="1920240"/>
            <a:ext cx="0" cy="457200"/>
          </a:xfrm>
          <a:prstGeom prst="line">
            <a:avLst/>
          </a:prstGeom>
          <a:noFill/>
          <a:ln w="12700">
            <a:solidFill>
              <a:srgbClr val="9CA3AF"/>
            </a:solidFill>
            <a:prstDash val="solid"/>
            <a:tailEnd type="triangle"/>
          </a:ln>
        </p:spPr>
      </p:sp>
      <p:sp>
        <p:nvSpPr>
          <p:cNvPr id="15" name="Text 13"/>
          <p:cNvSpPr txBox="1"/>
          <p:nvPr/>
        </p:nvSpPr>
        <p:spPr>
          <a:xfrm>
            <a:off x="2560320" y="1984248"/>
            <a:ext cx="10058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FROM_SUPPLIER_LOT</a:t>
            </a:r>
            <a:endParaRPr lang="en-US" sz="700" dirty="0"/>
          </a:p>
        </p:txBody>
      </p:sp>
      <p:sp>
        <p:nvSpPr>
          <p:cNvPr id="16" name="Shape 14"/>
          <p:cNvSpPr/>
          <p:nvPr/>
        </p:nvSpPr>
        <p:spPr>
          <a:xfrm>
            <a:off x="3063240" y="2560320"/>
            <a:ext cx="320040" cy="0"/>
          </a:xfrm>
          <a:prstGeom prst="line">
            <a:avLst/>
          </a:prstGeom>
          <a:noFill/>
          <a:ln w="12700">
            <a:solidFill>
              <a:srgbClr val="9CA3AF"/>
            </a:solidFill>
            <a:prstDash val="solid"/>
            <a:tailEnd type="triangle"/>
          </a:ln>
        </p:spPr>
      </p:sp>
      <p:sp>
        <p:nvSpPr>
          <p:cNvPr id="17" name="Text 15"/>
          <p:cNvSpPr txBox="1"/>
          <p:nvPr/>
        </p:nvSpPr>
        <p:spPr>
          <a:xfrm>
            <a:off x="2971800" y="2743200"/>
            <a:ext cx="64008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PRODUCED_IN</a:t>
            </a:r>
            <a:endParaRPr lang="en-US" sz="700" dirty="0"/>
          </a:p>
        </p:txBody>
      </p:sp>
      <p:sp>
        <p:nvSpPr>
          <p:cNvPr id="18" name="Shape 16"/>
          <p:cNvSpPr/>
          <p:nvPr/>
        </p:nvSpPr>
        <p:spPr>
          <a:xfrm>
            <a:off x="3383280" y="2377440"/>
            <a:ext cx="1051560" cy="365760"/>
          </a:xfrm>
          <a:prstGeom prst="roundRect">
            <a:avLst>
              <a:gd name="adj" fmla="val 20000"/>
            </a:avLst>
          </a:prstGeom>
          <a:solidFill>
            <a:srgbClr val="4B5563"/>
          </a:solidFill>
          <a:ln w="12700">
            <a:solidFill>
              <a:srgbClr val="4B5563"/>
            </a:solidFill>
            <a:prstDash val="solid"/>
          </a:ln>
        </p:spPr>
      </p:sp>
      <p:sp>
        <p:nvSpPr>
          <p:cNvPr id="19" name="Text 17"/>
          <p:cNvSpPr txBox="1"/>
          <p:nvPr/>
        </p:nvSpPr>
        <p:spPr>
          <a:xfrm>
            <a:off x="33832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Team</a:t>
            </a:r>
            <a:endParaRPr lang="en-US" sz="900" dirty="0"/>
          </a:p>
        </p:txBody>
      </p:sp>
      <p:sp>
        <p:nvSpPr>
          <p:cNvPr id="20" name="Shape 18"/>
          <p:cNvSpPr/>
          <p:nvPr/>
        </p:nvSpPr>
        <p:spPr>
          <a:xfrm>
            <a:off x="3904488" y="1920240"/>
            <a:ext cx="0" cy="457200"/>
          </a:xfrm>
          <a:prstGeom prst="line">
            <a:avLst/>
          </a:prstGeom>
          <a:noFill/>
          <a:ln w="12700">
            <a:solidFill>
              <a:srgbClr val="9CA3AF"/>
            </a:solidFill>
            <a:prstDash val="solid"/>
            <a:tailEnd type="triangle"/>
          </a:ln>
        </p:spPr>
      </p:sp>
      <p:sp>
        <p:nvSpPr>
          <p:cNvPr id="21" name="Text 19"/>
          <p:cNvSpPr txBox="1"/>
          <p:nvPr/>
        </p:nvSpPr>
        <p:spPr>
          <a:xfrm>
            <a:off x="3931920" y="198424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MADE_BY</a:t>
            </a:r>
            <a:endParaRPr lang="en-US" sz="700" dirty="0"/>
          </a:p>
        </p:txBody>
      </p:sp>
      <p:sp>
        <p:nvSpPr>
          <p:cNvPr id="22" name="Shape 20"/>
          <p:cNvSpPr/>
          <p:nvPr/>
        </p:nvSpPr>
        <p:spPr>
          <a:xfrm>
            <a:off x="640080" y="2377440"/>
            <a:ext cx="1051560" cy="365760"/>
          </a:xfrm>
          <a:prstGeom prst="roundRect">
            <a:avLst>
              <a:gd name="adj" fmla="val 20000"/>
            </a:avLst>
          </a:prstGeom>
          <a:solidFill>
            <a:srgbClr val="374151"/>
          </a:solidFill>
          <a:ln w="12700">
            <a:solidFill>
              <a:srgbClr val="374151"/>
            </a:solidFill>
            <a:prstDash val="solid"/>
          </a:ln>
        </p:spPr>
      </p:sp>
      <p:sp>
        <p:nvSpPr>
          <p:cNvPr id="23" name="Text 21"/>
          <p:cNvSpPr txBox="1"/>
          <p:nvPr/>
        </p:nvSpPr>
        <p:spPr>
          <a:xfrm>
            <a:off x="6400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Entity (part)</a:t>
            </a:r>
            <a:endParaRPr lang="en-US" sz="900" dirty="0"/>
          </a:p>
        </p:txBody>
      </p:sp>
      <p:sp>
        <p:nvSpPr>
          <p:cNvPr id="24" name="Shape 22"/>
          <p:cNvSpPr/>
          <p:nvPr/>
        </p:nvSpPr>
        <p:spPr>
          <a:xfrm>
            <a:off x="1691640" y="2560320"/>
            <a:ext cx="320040" cy="0"/>
          </a:xfrm>
          <a:prstGeom prst="line">
            <a:avLst/>
          </a:prstGeom>
          <a:noFill/>
          <a:ln w="12700">
            <a:solidFill>
              <a:srgbClr val="9CA3AF"/>
            </a:solidFill>
            <a:prstDash val="solid"/>
            <a:tailEnd type="triangle"/>
          </a:ln>
        </p:spPr>
      </p:sp>
      <p:sp>
        <p:nvSpPr>
          <p:cNvPr id="25" name="Text 23"/>
          <p:cNvSpPr txBox="1"/>
          <p:nvPr/>
        </p:nvSpPr>
        <p:spPr>
          <a:xfrm>
            <a:off x="1554480" y="2761488"/>
            <a:ext cx="59436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HAS_ORIGIN</a:t>
            </a:r>
            <a:endParaRPr lang="en-US" sz="700" dirty="0"/>
          </a:p>
        </p:txBody>
      </p:sp>
      <p:sp>
        <p:nvSpPr>
          <p:cNvPr id="26" name="Shape 24"/>
          <p:cNvSpPr/>
          <p:nvPr/>
        </p:nvSpPr>
        <p:spPr>
          <a:xfrm>
            <a:off x="640080" y="3200400"/>
            <a:ext cx="1051560" cy="365760"/>
          </a:xfrm>
          <a:prstGeom prst="roundRect">
            <a:avLst>
              <a:gd name="adj" fmla="val 20000"/>
            </a:avLst>
          </a:prstGeom>
          <a:solidFill>
            <a:srgbClr val="374151"/>
          </a:solidFill>
          <a:ln w="12700">
            <a:solidFill>
              <a:srgbClr val="374151"/>
            </a:solidFill>
            <a:prstDash val="solid"/>
          </a:ln>
        </p:spPr>
      </p:sp>
      <p:sp>
        <p:nvSpPr>
          <p:cNvPr id="27" name="Text 25"/>
          <p:cNvSpPr txBox="1"/>
          <p:nvPr/>
        </p:nvSpPr>
        <p:spPr>
          <a:xfrm>
            <a:off x="6400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Entity (vehicle)</a:t>
            </a:r>
            <a:endParaRPr lang="en-US" sz="900" dirty="0"/>
          </a:p>
        </p:txBody>
      </p:sp>
      <p:sp>
        <p:nvSpPr>
          <p:cNvPr id="28" name="Shape 26"/>
          <p:cNvSpPr/>
          <p:nvPr/>
        </p:nvSpPr>
        <p:spPr>
          <a:xfrm>
            <a:off x="1161288" y="2743200"/>
            <a:ext cx="0" cy="457200"/>
          </a:xfrm>
          <a:prstGeom prst="line">
            <a:avLst/>
          </a:prstGeom>
          <a:noFill/>
          <a:ln w="12700">
            <a:solidFill>
              <a:srgbClr val="9CA3AF"/>
            </a:solidFill>
            <a:prstDash val="solid"/>
            <a:tailEnd type="triangle"/>
          </a:ln>
        </p:spPr>
      </p:sp>
      <p:sp>
        <p:nvSpPr>
          <p:cNvPr id="29" name="Text 27"/>
          <p:cNvSpPr txBox="1"/>
          <p:nvPr/>
        </p:nvSpPr>
        <p:spPr>
          <a:xfrm>
            <a:off x="475488" y="2880360"/>
            <a:ext cx="640080" cy="182880"/>
          </a:xfrm>
          <a:prstGeom prst="rect">
            <a:avLst/>
          </a:prstGeom>
          <a:noFill/>
          <a:ln/>
        </p:spPr>
        <p:txBody>
          <a:bodyPr wrap="square" lIns="0" tIns="0" rIns="0" bIns="0" rtlCol="0" anchor="ctr"/>
          <a:lstStyle/>
          <a:p>
            <a:pPr algn="r" indent="0" marL="0">
              <a:buNone/>
            </a:pPr>
            <a:r>
              <a:rPr lang="en-US" sz="700" dirty="0">
                <a:solidFill>
                  <a:srgbClr val="9CA3AF"/>
                </a:solidFill>
                <a:latin typeface="Calibri" pitchFamily="34" charset="0"/>
                <a:ea typeface="Calibri" pitchFamily="34" charset="-122"/>
                <a:cs typeface="Calibri" pitchFamily="34" charset="-120"/>
              </a:rPr>
              <a:t>INSTALLED_IN</a:t>
            </a:r>
            <a:endParaRPr lang="en-US" sz="700" dirty="0"/>
          </a:p>
        </p:txBody>
      </p:sp>
      <p:sp>
        <p:nvSpPr>
          <p:cNvPr id="30" name="Shape 28"/>
          <p:cNvSpPr/>
          <p:nvPr/>
        </p:nvSpPr>
        <p:spPr>
          <a:xfrm>
            <a:off x="2011680" y="3200400"/>
            <a:ext cx="1051560" cy="365760"/>
          </a:xfrm>
          <a:prstGeom prst="roundRect">
            <a:avLst>
              <a:gd name="adj" fmla="val 20000"/>
            </a:avLst>
          </a:prstGeom>
          <a:solidFill>
            <a:srgbClr val="D9752B"/>
          </a:solidFill>
          <a:ln w="12700">
            <a:solidFill>
              <a:srgbClr val="D9752B"/>
            </a:solidFill>
            <a:prstDash val="solid"/>
          </a:ln>
        </p:spPr>
      </p:sp>
      <p:sp>
        <p:nvSpPr>
          <p:cNvPr id="31" name="Text 29"/>
          <p:cNvSpPr txBox="1"/>
          <p:nvPr/>
        </p:nvSpPr>
        <p:spPr>
          <a:xfrm>
            <a:off x="20116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32" name="Shape 30"/>
          <p:cNvSpPr/>
          <p:nvPr/>
        </p:nvSpPr>
        <p:spPr>
          <a:xfrm flipH="1">
            <a:off x="1691640" y="3383280"/>
            <a:ext cx="320040" cy="0"/>
          </a:xfrm>
          <a:prstGeom prst="line">
            <a:avLst/>
          </a:prstGeom>
          <a:noFill/>
          <a:ln w="12700">
            <a:solidFill>
              <a:srgbClr val="9CA3AF"/>
            </a:solidFill>
            <a:prstDash val="solid"/>
            <a:tailEnd type="triangle"/>
          </a:ln>
        </p:spPr>
      </p:sp>
      <p:sp>
        <p:nvSpPr>
          <p:cNvPr id="33" name="Text 31"/>
          <p:cNvSpPr txBox="1"/>
          <p:nvPr/>
        </p:nvSpPr>
        <p:spPr>
          <a:xfrm>
            <a:off x="1600200" y="3584448"/>
            <a:ext cx="50292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AFFECTS</a:t>
            </a:r>
            <a:endParaRPr lang="en-US" sz="700" dirty="0"/>
          </a:p>
        </p:txBody>
      </p:sp>
      <p:sp>
        <p:nvSpPr>
          <p:cNvPr id="34" name="Shape 32"/>
          <p:cNvSpPr/>
          <p:nvPr/>
        </p:nvSpPr>
        <p:spPr>
          <a:xfrm>
            <a:off x="3383280" y="3200400"/>
            <a:ext cx="1051560" cy="365760"/>
          </a:xfrm>
          <a:prstGeom prst="roundRect">
            <a:avLst>
              <a:gd name="adj" fmla="val 20000"/>
            </a:avLst>
          </a:prstGeom>
          <a:solidFill>
            <a:srgbClr val="374151"/>
          </a:solidFill>
          <a:ln w="12700">
            <a:solidFill>
              <a:srgbClr val="374151"/>
            </a:solidFill>
            <a:prstDash val="solid"/>
          </a:ln>
        </p:spPr>
      </p:sp>
      <p:sp>
        <p:nvSpPr>
          <p:cNvPr id="35" name="Text 33"/>
          <p:cNvSpPr txBox="1"/>
          <p:nvPr/>
        </p:nvSpPr>
        <p:spPr>
          <a:xfrm>
            <a:off x="33832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Cause</a:t>
            </a:r>
            <a:endParaRPr lang="en-US" sz="900" dirty="0"/>
          </a:p>
        </p:txBody>
      </p:sp>
      <p:sp>
        <p:nvSpPr>
          <p:cNvPr id="36" name="Shape 34"/>
          <p:cNvSpPr/>
          <p:nvPr/>
        </p:nvSpPr>
        <p:spPr>
          <a:xfrm flipH="1">
            <a:off x="3063240" y="3383280"/>
            <a:ext cx="320040" cy="0"/>
          </a:xfrm>
          <a:prstGeom prst="line">
            <a:avLst/>
          </a:prstGeom>
          <a:noFill/>
          <a:ln w="12700">
            <a:solidFill>
              <a:srgbClr val="9CA3AF"/>
            </a:solidFill>
            <a:prstDash val="solid"/>
            <a:tailEnd type="triangle"/>
          </a:ln>
        </p:spPr>
      </p:sp>
      <p:sp>
        <p:nvSpPr>
          <p:cNvPr id="37" name="Text 35"/>
          <p:cNvSpPr txBox="1"/>
          <p:nvPr/>
        </p:nvSpPr>
        <p:spPr>
          <a:xfrm>
            <a:off x="2971800" y="358444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ASSESSES</a:t>
            </a:r>
            <a:endParaRPr lang="en-US" sz="700" dirty="0"/>
          </a:p>
        </p:txBody>
      </p:sp>
      <p:sp>
        <p:nvSpPr>
          <p:cNvPr id="38" name="Shape 36"/>
          <p:cNvSpPr/>
          <p:nvPr/>
        </p:nvSpPr>
        <p:spPr>
          <a:xfrm>
            <a:off x="2011680" y="3931920"/>
            <a:ext cx="1051560" cy="365760"/>
          </a:xfrm>
          <a:prstGeom prst="roundRect">
            <a:avLst>
              <a:gd name="adj" fmla="val 20000"/>
            </a:avLst>
          </a:prstGeom>
          <a:solidFill>
            <a:srgbClr val="374151"/>
          </a:solidFill>
          <a:ln w="12700">
            <a:solidFill>
              <a:srgbClr val="374151"/>
            </a:solidFill>
            <a:prstDash val="solid"/>
          </a:ln>
        </p:spPr>
      </p:sp>
      <p:sp>
        <p:nvSpPr>
          <p:cNvPr id="39" name="Text 37"/>
          <p:cNvSpPr txBox="1"/>
          <p:nvPr/>
        </p:nvSpPr>
        <p:spPr>
          <a:xfrm>
            <a:off x="2011680" y="393192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Fix</a:t>
            </a:r>
            <a:endParaRPr lang="en-US" sz="900" dirty="0"/>
          </a:p>
        </p:txBody>
      </p:sp>
      <p:sp>
        <p:nvSpPr>
          <p:cNvPr id="40" name="Shape 38"/>
          <p:cNvSpPr/>
          <p:nvPr/>
        </p:nvSpPr>
        <p:spPr>
          <a:xfrm>
            <a:off x="2532888" y="3566160"/>
            <a:ext cx="0" cy="365760"/>
          </a:xfrm>
          <a:prstGeom prst="line">
            <a:avLst/>
          </a:prstGeom>
          <a:noFill/>
          <a:ln w="12700">
            <a:solidFill>
              <a:srgbClr val="9CA3AF"/>
            </a:solidFill>
            <a:prstDash val="solid"/>
            <a:tailEnd type="triangle"/>
          </a:ln>
        </p:spPr>
      </p:sp>
      <p:sp>
        <p:nvSpPr>
          <p:cNvPr id="41" name="Text 39"/>
          <p:cNvSpPr txBox="1"/>
          <p:nvPr/>
        </p:nvSpPr>
        <p:spPr>
          <a:xfrm>
            <a:off x="2587752" y="3657600"/>
            <a:ext cx="457200" cy="182880"/>
          </a:xfrm>
          <a:prstGeom prst="rect">
            <a:avLst/>
          </a:prstGeom>
          <a:noFill/>
          <a:ln/>
        </p:spPr>
        <p:txBody>
          <a:bodyPr wrap="square" lIns="0" tIns="0" rIns="0" bIns="0" rtlCol="0" anchor="ctr"/>
          <a:lstStyle/>
          <a:p>
            <a:pPr algn="l" indent="0" marL="0">
              <a:buNone/>
            </a:pPr>
            <a:r>
              <a:rPr lang="en-US" sz="700" dirty="0">
                <a:solidFill>
                  <a:srgbClr val="9CA3AF"/>
                </a:solidFill>
                <a:latin typeface="Calibri" pitchFamily="34" charset="0"/>
                <a:ea typeface="Calibri" pitchFamily="34" charset="-122"/>
                <a:cs typeface="Calibri" pitchFamily="34" charset="-120"/>
              </a:rPr>
              <a:t>FIXES</a:t>
            </a:r>
            <a:endParaRPr lang="en-US" sz="700" dirty="0"/>
          </a:p>
        </p:txBody>
      </p:sp>
      <p:sp>
        <p:nvSpPr>
          <p:cNvPr id="42" name="Shape 40"/>
          <p:cNvSpPr/>
          <p:nvPr/>
        </p:nvSpPr>
        <p:spPr>
          <a:xfrm>
            <a:off x="3383280" y="3931920"/>
            <a:ext cx="1051560" cy="365760"/>
          </a:xfrm>
          <a:prstGeom prst="roundRect">
            <a:avLst>
              <a:gd name="adj" fmla="val 20000"/>
            </a:avLst>
          </a:prstGeom>
          <a:solidFill>
            <a:srgbClr val="3E8E6E"/>
          </a:solidFill>
          <a:ln w="12700">
            <a:solidFill>
              <a:srgbClr val="3E8E6E"/>
            </a:solidFill>
            <a:prstDash val="solid"/>
          </a:ln>
        </p:spPr>
      </p:sp>
      <p:sp>
        <p:nvSpPr>
          <p:cNvPr id="43" name="Text 41"/>
          <p:cNvSpPr txBox="1"/>
          <p:nvPr/>
        </p:nvSpPr>
        <p:spPr>
          <a:xfrm>
            <a:off x="3383280" y="393192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Verification</a:t>
            </a:r>
            <a:endParaRPr lang="en-US" sz="900" dirty="0"/>
          </a:p>
        </p:txBody>
      </p:sp>
      <p:sp>
        <p:nvSpPr>
          <p:cNvPr id="44" name="Shape 42"/>
          <p:cNvSpPr/>
          <p:nvPr/>
        </p:nvSpPr>
        <p:spPr>
          <a:xfrm flipH="1">
            <a:off x="3063240" y="4114800"/>
            <a:ext cx="320040" cy="0"/>
          </a:xfrm>
          <a:prstGeom prst="line">
            <a:avLst/>
          </a:prstGeom>
          <a:noFill/>
          <a:ln w="12700">
            <a:solidFill>
              <a:srgbClr val="9CA3AF"/>
            </a:solidFill>
            <a:prstDash val="solid"/>
            <a:tailEnd type="triangle"/>
          </a:ln>
        </p:spPr>
      </p:sp>
      <p:sp>
        <p:nvSpPr>
          <p:cNvPr id="45" name="Text 43"/>
          <p:cNvSpPr txBox="1"/>
          <p:nvPr/>
        </p:nvSpPr>
        <p:spPr>
          <a:xfrm>
            <a:off x="2971800" y="376732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VERIFIES</a:t>
            </a:r>
            <a:endParaRPr lang="en-US" sz="700" dirty="0"/>
          </a:p>
        </p:txBody>
      </p:sp>
      <p:sp>
        <p:nvSpPr>
          <p:cNvPr id="46" name="Text 44"/>
          <p:cNvSpPr txBox="1"/>
          <p:nvPr/>
        </p:nvSpPr>
        <p:spPr>
          <a:xfrm>
            <a:off x="594360" y="4325112"/>
            <a:ext cx="3931920" cy="228600"/>
          </a:xfrm>
          <a:prstGeom prst="rect">
            <a:avLst/>
          </a:prstGeom>
          <a:noFill/>
          <a:ln/>
        </p:spPr>
        <p:txBody>
          <a:bodyPr wrap="square" lIns="0" tIns="0" rIns="0" bIns="0" rtlCol="0" anchor="ctr"/>
          <a:lstStyle/>
          <a:p>
            <a:pPr indent="0" marL="0">
              <a:buNone/>
            </a:pPr>
            <a:r>
              <a:rPr lang="en-US" sz="750" i="1" dirty="0">
                <a:solidFill>
                  <a:srgbClr val="9CA3AF"/>
                </a:solidFill>
                <a:latin typeface="Calibri" pitchFamily="34" charset="0"/>
                <a:ea typeface="Calibri" pitchFamily="34" charset="-122"/>
                <a:cs typeface="Calibri" pitchFamily="34" charset="-120"/>
              </a:rPr>
              <a:t>Fix -[:DERIVED_FROM]-&gt; Fix keeps reuse lineage; Cause -[:RESPONSIBLE_TEAM]-&gt; Team keeps attribution separate from reporter and assignee.</a:t>
            </a:r>
            <a:endParaRPr lang="en-US" sz="750" dirty="0"/>
          </a:p>
        </p:txBody>
      </p:sp>
      <p:sp>
        <p:nvSpPr>
          <p:cNvPr id="47" name="Shape 45"/>
          <p:cNvSpPr/>
          <p:nvPr/>
        </p:nvSpPr>
        <p:spPr>
          <a:xfrm>
            <a:off x="4892040" y="1344168"/>
            <a:ext cx="310896" cy="310896"/>
          </a:xfrm>
          <a:prstGeom prst="ellipse">
            <a:avLst/>
          </a:prstGeom>
          <a:solidFill>
            <a:srgbClr val="D9752B"/>
          </a:solidFill>
          <a:ln w="12700">
            <a:solidFill>
              <a:srgbClr val="D9752B"/>
            </a:solidFill>
            <a:prstDash val="solid"/>
          </a:ln>
        </p:spPr>
      </p:sp>
      <p:sp>
        <p:nvSpPr>
          <p:cNvPr id="48" name="Text 46"/>
          <p:cNvSpPr txBox="1"/>
          <p:nvPr/>
        </p:nvSpPr>
        <p:spPr>
          <a:xfrm>
            <a:off x="4892040" y="13441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9" name="Text 47"/>
          <p:cNvSpPr txBox="1"/>
          <p:nvPr/>
        </p:nvSpPr>
        <p:spPr>
          <a:xfrm>
            <a:off x="5303520" y="132588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Which vehicles hold parts from this lot?</a:t>
            </a:r>
            <a:endParaRPr lang="en-US" sz="1250" dirty="0"/>
          </a:p>
        </p:txBody>
      </p:sp>
      <p:sp>
        <p:nvSpPr>
          <p:cNvPr id="50" name="Text 48"/>
          <p:cNvSpPr txBox="1"/>
          <p:nvPr/>
        </p:nvSpPr>
        <p:spPr>
          <a:xfrm>
            <a:off x="5303520" y="167335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Trace from a supplier lot or manufacturing lot through Origin and INSTALLED_IN intervals. DEMO-EV-003 holds two parts from one lot and is counted once.</a:t>
            </a:r>
            <a:endParaRPr lang="en-US" sz="950" dirty="0"/>
          </a:p>
        </p:txBody>
      </p:sp>
      <p:sp>
        <p:nvSpPr>
          <p:cNvPr id="51" name="Shape 49"/>
          <p:cNvSpPr/>
          <p:nvPr/>
        </p:nvSpPr>
        <p:spPr>
          <a:xfrm>
            <a:off x="4892040" y="2441448"/>
            <a:ext cx="310896" cy="310896"/>
          </a:xfrm>
          <a:prstGeom prst="ellipse">
            <a:avLst/>
          </a:prstGeom>
          <a:solidFill>
            <a:srgbClr val="D9752B"/>
          </a:solidFill>
          <a:ln w="12700">
            <a:solidFill>
              <a:srgbClr val="D9752B"/>
            </a:solidFill>
            <a:prstDash val="solid"/>
          </a:ln>
        </p:spPr>
      </p:sp>
      <p:sp>
        <p:nvSpPr>
          <p:cNvPr id="52" name="Text 50"/>
          <p:cNvSpPr txBox="1"/>
          <p:nvPr/>
        </p:nvSpPr>
        <p:spPr>
          <a:xfrm>
            <a:off x="4892040" y="2441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3" name="Text 51"/>
          <p:cNvSpPr txBox="1"/>
          <p:nvPr/>
        </p:nvSpPr>
        <p:spPr>
          <a:xfrm>
            <a:off x="5303520" y="242316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Which verified fix connects to this defect?</a:t>
            </a:r>
            <a:endParaRPr lang="en-US" sz="1250" dirty="0"/>
          </a:p>
        </p:txBody>
      </p:sp>
      <p:sp>
        <p:nvSpPr>
          <p:cNvPr id="54" name="Text 52"/>
          <p:cNvSpPr txBox="1"/>
          <p:nvPr/>
        </p:nvSpPr>
        <p:spPr>
          <a:xfrm>
            <a:off x="5303520" y="277063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Walk Issue, Fix, Verification and DERIVED_FROM. Deterministic score: defect code +3, part family +2, cause type +1, process step +1. Supplier and team are never a reason.</a:t>
            </a:r>
            <a:endParaRPr lang="en-US" sz="950" dirty="0"/>
          </a:p>
        </p:txBody>
      </p:sp>
      <p:sp>
        <p:nvSpPr>
          <p:cNvPr id="55" name="Shape 53"/>
          <p:cNvSpPr/>
          <p:nvPr/>
        </p:nvSpPr>
        <p:spPr>
          <a:xfrm>
            <a:off x="4892040" y="3538728"/>
            <a:ext cx="310896" cy="310896"/>
          </a:xfrm>
          <a:prstGeom prst="ellipse">
            <a:avLst/>
          </a:prstGeom>
          <a:solidFill>
            <a:srgbClr val="D9752B"/>
          </a:solidFill>
          <a:ln w="12700">
            <a:solidFill>
              <a:srgbClr val="D9752B"/>
            </a:solidFill>
            <a:prstDash val="solid"/>
          </a:ln>
        </p:spPr>
      </p:sp>
      <p:sp>
        <p:nvSpPr>
          <p:cNvPr id="56" name="Text 54"/>
          <p:cNvSpPr txBox="1"/>
          <p:nvPr/>
        </p:nvSpPr>
        <p:spPr>
          <a:xfrm>
            <a:off x="4892040" y="3538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7" name="Text 55"/>
          <p:cNvSpPr txBox="1"/>
          <p:nvPr/>
        </p:nvSpPr>
        <p:spPr>
          <a:xfrm>
            <a:off x="5303520" y="352044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Who is confirmed causal, not just reporting?</a:t>
            </a:r>
            <a:endParaRPr lang="en-US" sz="1250" dirty="0"/>
          </a:p>
        </p:txBody>
      </p:sp>
      <p:sp>
        <p:nvSpPr>
          <p:cNvPr id="58" name="Text 56"/>
          <p:cNvSpPr txBox="1"/>
          <p:nvPr/>
        </p:nvSpPr>
        <p:spPr>
          <a:xfrm>
            <a:off x="5303520" y="386791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Team counts split into reported, assigned-open and confirmed-cause. Supplier linked versus confirmed. Rate is null without a complete inspection cohort.</a:t>
            </a:r>
            <a:endParaRPr lang="en-US" sz="950" dirty="0"/>
          </a:p>
        </p:txBody>
      </p:sp>
      <p:sp>
        <p:nvSpPr>
          <p:cNvPr id="59" name="Text 5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Neo4j Aura (5.x), driver 6.2, per-workspace uniqueness constraints on (ws, id). Model in src/server/graph/schema.ts and index.ts.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What is real: verified against the live Aura instance today</a:t>
            </a:r>
            <a:endParaRPr lang="en-US" sz="2800" dirty="0"/>
          </a:p>
        </p:txBody>
      </p:sp>
      <p:sp>
        <p:nvSpPr>
          <p:cNvPr id="3" name="Shape 1"/>
          <p:cNvSpPr/>
          <p:nvPr/>
        </p:nvSpPr>
        <p:spPr>
          <a:xfrm>
            <a:off x="457200" y="1325880"/>
            <a:ext cx="1965960" cy="1783080"/>
          </a:xfrm>
          <a:prstGeom prst="roundRect">
            <a:avLst>
              <a:gd name="adj" fmla="val 4103"/>
            </a:avLst>
          </a:prstGeom>
          <a:solidFill>
            <a:srgbClr val="14181F"/>
          </a:solidFill>
          <a:ln w="9525">
            <a:solidFill>
              <a:srgbClr val="14181F"/>
            </a:solidFill>
            <a:prstDash val="solid"/>
          </a:ln>
        </p:spPr>
      </p:sp>
      <p:sp>
        <p:nvSpPr>
          <p:cNvPr id="4" name="Text 2"/>
          <p:cNvSpPr txBox="1"/>
          <p:nvPr/>
        </p:nvSpPr>
        <p:spPr>
          <a:xfrm>
            <a:off x="594360" y="1435608"/>
            <a:ext cx="1691640" cy="685800"/>
          </a:xfrm>
          <a:prstGeom prst="rect">
            <a:avLst/>
          </a:prstGeom>
          <a:noFill/>
          <a:ln/>
        </p:spPr>
        <p:txBody>
          <a:bodyPr wrap="square" lIns="0" tIns="0" rIns="0" bIns="0" rtlCol="0" anchor="ctr"/>
          <a:lstStyle/>
          <a:p>
            <a:pPr indent="0" marL="0">
              <a:buNone/>
            </a:pPr>
            <a:r>
              <a:rPr lang="en-US" sz="3000" b="1" dirty="0">
                <a:solidFill>
                  <a:srgbClr val="D9752B"/>
                </a:solidFill>
                <a:latin typeface="Cambria" pitchFamily="34" charset="0"/>
                <a:ea typeface="Cambria" pitchFamily="34" charset="-122"/>
                <a:cs typeface="Cambria" pitchFamily="34" charset="-120"/>
              </a:rPr>
              <a:t>22 / 22</a:t>
            </a:r>
            <a:endParaRPr lang="en-US" sz="3000" dirty="0"/>
          </a:p>
        </p:txBody>
      </p:sp>
      <p:sp>
        <p:nvSpPr>
          <p:cNvPr id="5" name="Text 3"/>
          <p:cNvSpPr txBox="1"/>
          <p:nvPr/>
        </p:nvSpPr>
        <p:spPr>
          <a:xfrm>
            <a:off x="594360" y="2148840"/>
            <a:ext cx="1691640" cy="54864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HTTP acceptance steps passed against real graph services</a:t>
            </a:r>
            <a:endParaRPr lang="en-US" sz="1050" dirty="0"/>
          </a:p>
        </p:txBody>
      </p:sp>
      <p:sp>
        <p:nvSpPr>
          <p:cNvPr id="6" name="Text 4"/>
          <p:cNvSpPr txBox="1"/>
          <p:nvPr/>
        </p:nvSpPr>
        <p:spPr>
          <a:xfrm>
            <a:off x="594360" y="2697480"/>
            <a:ext cx="1691640" cy="365760"/>
          </a:xfrm>
          <a:prstGeom prst="rect">
            <a:avLst/>
          </a:prstGeom>
          <a:noFill/>
          <a:ln/>
        </p:spPr>
        <p:txBody>
          <a:bodyPr wrap="square" lIns="0" tIns="0" rIns="0" bIns="0" rtlCol="0" anchor="t"/>
          <a:lstStyle/>
          <a:p>
            <a:pPr indent="0" marL="0">
              <a:buNone/>
            </a:pPr>
            <a:r>
              <a:rPr lang="en-US" sz="850" dirty="0">
                <a:solidFill>
                  <a:srgbClr val="9CA3AF"/>
                </a:solidFill>
                <a:latin typeface="Calibri" pitchFamily="34" charset="0"/>
                <a:ea typeface="Calibri" pitchFamily="34" charset="-122"/>
                <a:cs typeface="Calibri" pitchFamily="34" charset="-120"/>
              </a:rPr>
              <a:t>runner refuses to run against the in-memory double</a:t>
            </a:r>
            <a:endParaRPr lang="en-US" sz="850" dirty="0"/>
          </a:p>
        </p:txBody>
      </p:sp>
      <p:sp>
        <p:nvSpPr>
          <p:cNvPr id="7" name="Shape 5"/>
          <p:cNvSpPr/>
          <p:nvPr/>
        </p:nvSpPr>
        <p:spPr>
          <a:xfrm>
            <a:off x="2542032" y="1325880"/>
            <a:ext cx="1965960" cy="1783080"/>
          </a:xfrm>
          <a:prstGeom prst="roundRect">
            <a:avLst>
              <a:gd name="adj" fmla="val 4103"/>
            </a:avLst>
          </a:prstGeom>
          <a:solidFill>
            <a:srgbClr val="F3F4F6"/>
          </a:solidFill>
          <a:ln w="9525">
            <a:solidFill>
              <a:srgbClr val="F3F4F6"/>
            </a:solidFill>
            <a:prstDash val="solid"/>
          </a:ln>
        </p:spPr>
      </p:sp>
      <p:sp>
        <p:nvSpPr>
          <p:cNvPr id="8" name="Text 6"/>
          <p:cNvSpPr txBox="1"/>
          <p:nvPr/>
        </p:nvSpPr>
        <p:spPr>
          <a:xfrm>
            <a:off x="2679192"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23 / 23</a:t>
            </a:r>
            <a:endParaRPr lang="en-US" sz="3000" dirty="0"/>
          </a:p>
        </p:txBody>
      </p:sp>
      <p:sp>
        <p:nvSpPr>
          <p:cNvPr id="9" name="Text 7"/>
          <p:cNvSpPr txBox="1"/>
          <p:nvPr/>
        </p:nvSpPr>
        <p:spPr>
          <a:xfrm>
            <a:off x="2679192"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steps after a documented server restart</a:t>
            </a:r>
            <a:endParaRPr lang="en-US" sz="1050" dirty="0"/>
          </a:p>
        </p:txBody>
      </p:sp>
      <p:sp>
        <p:nvSpPr>
          <p:cNvPr id="10" name="Text 8"/>
          <p:cNvSpPr txBox="1"/>
          <p:nvPr/>
        </p:nvSpPr>
        <p:spPr>
          <a:xfrm>
            <a:off x="2679192"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same issue, identical history, persistence step added</a:t>
            </a:r>
            <a:endParaRPr lang="en-US" sz="850" dirty="0"/>
          </a:p>
        </p:txBody>
      </p:sp>
      <p:sp>
        <p:nvSpPr>
          <p:cNvPr id="11" name="Shape 9"/>
          <p:cNvSpPr/>
          <p:nvPr/>
        </p:nvSpPr>
        <p:spPr>
          <a:xfrm>
            <a:off x="4626864" y="1325880"/>
            <a:ext cx="1965960" cy="1783080"/>
          </a:xfrm>
          <a:prstGeom prst="roundRect">
            <a:avLst>
              <a:gd name="adj" fmla="val 4103"/>
            </a:avLst>
          </a:prstGeom>
          <a:solidFill>
            <a:srgbClr val="F3F4F6"/>
          </a:solidFill>
          <a:ln w="9525">
            <a:solidFill>
              <a:srgbClr val="F3F4F6"/>
            </a:solidFill>
            <a:prstDash val="solid"/>
          </a:ln>
        </p:spPr>
      </p:sp>
      <p:sp>
        <p:nvSpPr>
          <p:cNvPr id="12" name="Text 10"/>
          <p:cNvSpPr txBox="1"/>
          <p:nvPr/>
        </p:nvSpPr>
        <p:spPr>
          <a:xfrm>
            <a:off x="4764024"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114</a:t>
            </a:r>
            <a:endParaRPr lang="en-US" sz="3000" dirty="0"/>
          </a:p>
        </p:txBody>
      </p:sp>
      <p:sp>
        <p:nvSpPr>
          <p:cNvPr id="13" name="Text 11"/>
          <p:cNvSpPr txBox="1"/>
          <p:nvPr/>
        </p:nvSpPr>
        <p:spPr>
          <a:xfrm>
            <a:off x="4764024"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Vitest tests passed, 8 skipped with a stated reason</a:t>
            </a:r>
            <a:endParaRPr lang="en-US" sz="1050" dirty="0"/>
          </a:p>
        </p:txBody>
      </p:sp>
      <p:sp>
        <p:nvSpPr>
          <p:cNvPr id="14" name="Text 12"/>
          <p:cNvSpPr txBox="1"/>
          <p:nvPr/>
        </p:nvSpPr>
        <p:spPr>
          <a:xfrm>
            <a:off x="4764024"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typecheck and next build pass at dc32792</a:t>
            </a:r>
            <a:endParaRPr lang="en-US" sz="850" dirty="0"/>
          </a:p>
        </p:txBody>
      </p:sp>
      <p:sp>
        <p:nvSpPr>
          <p:cNvPr id="15" name="Shape 13"/>
          <p:cNvSpPr/>
          <p:nvPr/>
        </p:nvSpPr>
        <p:spPr>
          <a:xfrm>
            <a:off x="6711696" y="1325880"/>
            <a:ext cx="1965960" cy="1783080"/>
          </a:xfrm>
          <a:prstGeom prst="roundRect">
            <a:avLst>
              <a:gd name="adj" fmla="val 4103"/>
            </a:avLst>
          </a:prstGeom>
          <a:solidFill>
            <a:srgbClr val="F3F4F6"/>
          </a:solidFill>
          <a:ln w="9525">
            <a:solidFill>
              <a:srgbClr val="F3F4F6"/>
            </a:solidFill>
            <a:prstDash val="solid"/>
          </a:ln>
        </p:spPr>
      </p:sp>
      <p:sp>
        <p:nvSpPr>
          <p:cNvPr id="16" name="Text 14"/>
          <p:cNvSpPr txBox="1"/>
          <p:nvPr/>
        </p:nvSpPr>
        <p:spPr>
          <a:xfrm>
            <a:off x="6848856"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2 / 1</a:t>
            </a:r>
            <a:endParaRPr lang="en-US" sz="3000" dirty="0"/>
          </a:p>
        </p:txBody>
      </p:sp>
      <p:sp>
        <p:nvSpPr>
          <p:cNvPr id="17" name="Text 15"/>
          <p:cNvSpPr txBox="1"/>
          <p:nvPr/>
        </p:nvSpPr>
        <p:spPr>
          <a:xfrm>
            <a:off x="6848856"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seeded issues / open, on a clean demo database</a:t>
            </a:r>
            <a:endParaRPr lang="en-US" sz="1050" dirty="0"/>
          </a:p>
        </p:txBody>
      </p:sp>
      <p:sp>
        <p:nvSpPr>
          <p:cNvPr id="18" name="Text 16"/>
          <p:cNvSpPr txBox="1"/>
          <p:nvPr/>
        </p:nvSpPr>
        <p:spPr>
          <a:xfrm>
            <a:off x="6848856"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acceptance-run issues removed before the demo</a:t>
            </a:r>
            <a:endParaRPr lang="en-US" sz="850" dirty="0"/>
          </a:p>
        </p:txBody>
      </p:sp>
      <p:sp>
        <p:nvSpPr>
          <p:cNvPr id="19" name="Shape 17"/>
          <p:cNvSpPr/>
          <p:nvPr/>
        </p:nvSpPr>
        <p:spPr>
          <a:xfrm>
            <a:off x="457200" y="3291840"/>
            <a:ext cx="8229600" cy="1325880"/>
          </a:xfrm>
          <a:prstGeom prst="roundRect">
            <a:avLst>
              <a:gd name="adj" fmla="val 5517"/>
            </a:avLst>
          </a:prstGeom>
          <a:solidFill>
            <a:srgbClr val="F3F4F6"/>
          </a:solidFill>
          <a:ln w="9525">
            <a:solidFill>
              <a:srgbClr val="F3F4F6"/>
            </a:solidFill>
            <a:prstDash val="solid"/>
          </a:ln>
        </p:spPr>
      </p:sp>
      <p:sp>
        <p:nvSpPr>
          <p:cNvPr id="20" name="Text 18"/>
          <p:cNvSpPr txBox="1"/>
          <p:nvPr/>
        </p:nvSpPr>
        <p:spPr>
          <a:xfrm>
            <a:off x="640080" y="3383280"/>
            <a:ext cx="3657600" cy="274320"/>
          </a:xfrm>
          <a:prstGeom prst="rect">
            <a:avLst/>
          </a:prstGeom>
          <a:noFill/>
          <a:ln/>
        </p:spPr>
        <p:txBody>
          <a:bodyPr wrap="square" lIns="0" tIns="0" rIns="0" bIns="0" rtlCol="0" anchor="ctr"/>
          <a:lstStyle/>
          <a:p>
            <a:pPr indent="0" marL="0">
              <a:buNone/>
            </a:pPr>
            <a:r>
              <a:rPr lang="en-US" sz="1250" b="1" dirty="0">
                <a:solidFill>
                  <a:srgbClr val="14181F"/>
                </a:solidFill>
                <a:latin typeface="Cambria" pitchFamily="34" charset="0"/>
                <a:ea typeface="Cambria" pitchFamily="34" charset="-122"/>
                <a:cs typeface="Cambria" pitchFamily="34" charset="-120"/>
              </a:rPr>
              <a:t>Team &amp; supplier insights, live</a:t>
            </a:r>
            <a:endParaRPr lang="en-US" sz="1250" dirty="0"/>
          </a:p>
        </p:txBody>
      </p:sp>
      <p:sp>
        <p:nvSpPr>
          <p:cNvPr id="21" name="Text 19"/>
          <p:cNvSpPr txBox="1"/>
          <p:nvPr/>
        </p:nvSpPr>
        <p:spPr>
          <a:xfrm>
            <a:off x="640080" y="370332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Final Inspection</a:t>
            </a:r>
            <a:endParaRPr lang="en-US" sz="1050" dirty="0"/>
          </a:p>
        </p:txBody>
      </p:sp>
      <p:sp>
        <p:nvSpPr>
          <p:cNvPr id="22" name="Text 20"/>
          <p:cNvSpPr txBox="1"/>
          <p:nvPr/>
        </p:nvSpPr>
        <p:spPr>
          <a:xfrm>
            <a:off x="2926080" y="370332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reported 1</a:t>
            </a:r>
            <a:endParaRPr lang="en-US" sz="1050" dirty="0"/>
          </a:p>
        </p:txBody>
      </p:sp>
      <p:sp>
        <p:nvSpPr>
          <p:cNvPr id="23" name="Text 21"/>
          <p:cNvSpPr txBox="1"/>
          <p:nvPr/>
        </p:nvSpPr>
        <p:spPr>
          <a:xfrm>
            <a:off x="5120640" y="3703320"/>
            <a:ext cx="338328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confirmed cause 0</a:t>
            </a:r>
            <a:endParaRPr lang="en-US" sz="1050" dirty="0"/>
          </a:p>
        </p:txBody>
      </p:sp>
      <p:sp>
        <p:nvSpPr>
          <p:cNvPr id="24" name="Text 22"/>
          <p:cNvSpPr txBox="1"/>
          <p:nvPr/>
        </p:nvSpPr>
        <p:spPr>
          <a:xfrm>
            <a:off x="640080" y="397764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In-house Manufacturing</a:t>
            </a:r>
            <a:endParaRPr lang="en-US" sz="1050" dirty="0"/>
          </a:p>
        </p:txBody>
      </p:sp>
      <p:sp>
        <p:nvSpPr>
          <p:cNvPr id="25" name="Text 23"/>
          <p:cNvSpPr txBox="1"/>
          <p:nvPr/>
        </p:nvSpPr>
        <p:spPr>
          <a:xfrm>
            <a:off x="2926080" y="397764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reported 0</a:t>
            </a:r>
            <a:endParaRPr lang="en-US" sz="1050" dirty="0"/>
          </a:p>
        </p:txBody>
      </p:sp>
      <p:sp>
        <p:nvSpPr>
          <p:cNvPr id="26" name="Text 24"/>
          <p:cNvSpPr txBox="1"/>
          <p:nvPr/>
        </p:nvSpPr>
        <p:spPr>
          <a:xfrm>
            <a:off x="5120640" y="3977640"/>
            <a:ext cx="338328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confirmed cause 1</a:t>
            </a:r>
            <a:endParaRPr lang="en-US" sz="1050" dirty="0"/>
          </a:p>
        </p:txBody>
      </p:sp>
      <p:sp>
        <p:nvSpPr>
          <p:cNvPr id="27" name="Text 25"/>
          <p:cNvSpPr txBox="1"/>
          <p:nvPr/>
        </p:nvSpPr>
        <p:spPr>
          <a:xfrm>
            <a:off x="640080" y="425196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Demo Connector Supplier</a:t>
            </a:r>
            <a:endParaRPr lang="en-US" sz="1050" dirty="0"/>
          </a:p>
        </p:txBody>
      </p:sp>
      <p:sp>
        <p:nvSpPr>
          <p:cNvPr id="28" name="Text 26"/>
          <p:cNvSpPr txBox="1"/>
          <p:nvPr/>
        </p:nvSpPr>
        <p:spPr>
          <a:xfrm>
            <a:off x="2926080" y="425196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linked 1 · confirmed 1</a:t>
            </a:r>
            <a:endParaRPr lang="en-US" sz="1050" dirty="0"/>
          </a:p>
        </p:txBody>
      </p:sp>
      <p:sp>
        <p:nvSpPr>
          <p:cNvPr id="29" name="Text 27"/>
          <p:cNvSpPr txBox="1"/>
          <p:nvPr/>
        </p:nvSpPr>
        <p:spPr>
          <a:xfrm>
            <a:off x="5120640" y="4251960"/>
            <a:ext cx="3383280" cy="256032"/>
          </a:xfrm>
          <a:prstGeom prst="rect">
            <a:avLst/>
          </a:prstGeom>
          <a:noFill/>
          <a:ln/>
        </p:spPr>
        <p:txBody>
          <a:bodyPr wrap="square" lIns="0" tIns="0" rIns="0" bIns="0" rtlCol="0" anchor="ctr"/>
          <a:lstStyle/>
          <a:p>
            <a:pPr indent="0" marL="0">
              <a:buNone/>
            </a:pPr>
            <a:r>
              <a:rPr lang="en-US" sz="1050" b="1" dirty="0">
                <a:solidFill>
                  <a:srgbClr val="B85E1C"/>
                </a:solidFill>
                <a:latin typeface="Calibri" pitchFamily="34" charset="0"/>
                <a:ea typeface="Calibri" pitchFamily="34" charset="-122"/>
                <a:cs typeface="Calibri" pitchFamily="34" charset="-120"/>
              </a:rPr>
              <a:t>rate N/A, no complete cohort</a:t>
            </a:r>
            <a:endParaRPr lang="en-US" sz="1050" dirty="0"/>
          </a:p>
        </p:txBody>
      </p:sp>
      <p:sp>
        <p:nvSpPr>
          <p:cNvPr id="30" name="Text 28"/>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Evidence: docs/evidence/acceptance-graph-7bd3cbcf-before.json and -after.json, acceptance-graph-final-dc32792.json, GET /api/insights on 2026-09-12. We show N/A, not zero.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What is not built, and the next proof</a:t>
            </a:r>
            <a:endParaRPr lang="en-US" sz="2800" dirty="0"/>
          </a:p>
        </p:txBody>
      </p:sp>
      <p:sp>
        <p:nvSpPr>
          <p:cNvPr id="3" name="Shape 1"/>
          <p:cNvSpPr/>
          <p:nvPr/>
        </p:nvSpPr>
        <p:spPr>
          <a:xfrm>
            <a:off x="457200" y="1325880"/>
            <a:ext cx="4023360" cy="3246120"/>
          </a:xfrm>
          <a:prstGeom prst="roundRect">
            <a:avLst>
              <a:gd name="adj" fmla="val 2254"/>
            </a:avLst>
          </a:prstGeom>
          <a:solidFill>
            <a:srgbClr val="1E242E"/>
          </a:solidFill>
          <a:ln w="9525">
            <a:solidFill>
              <a:srgbClr val="2C3440"/>
            </a:solidFill>
            <a:prstDash val="solid"/>
          </a:ln>
        </p:spPr>
      </p:sp>
      <p:sp>
        <p:nvSpPr>
          <p:cNvPr id="4" name="Text 2"/>
          <p:cNvSpPr txBox="1"/>
          <p:nvPr/>
        </p:nvSpPr>
        <p:spPr>
          <a:xfrm>
            <a:off x="640080" y="1435608"/>
            <a:ext cx="3657600" cy="320040"/>
          </a:xfrm>
          <a:prstGeom prst="rect">
            <a:avLst/>
          </a:prstGeom>
          <a:noFill/>
          <a:ln/>
        </p:spPr>
        <p:txBody>
          <a:bodyPr wrap="square" lIns="0" tIns="0" rIns="0" bIns="0" rtlCol="0" anchor="ctr"/>
          <a:lstStyle/>
          <a:p>
            <a:pPr indent="0" marL="0">
              <a:buNone/>
            </a:pPr>
            <a:r>
              <a:rPr lang="en-US" sz="1400" b="1" dirty="0">
                <a:solidFill>
                  <a:srgbClr val="D9752B"/>
                </a:solidFill>
                <a:latin typeface="Cambria" pitchFamily="34" charset="0"/>
                <a:ea typeface="Cambria" pitchFamily="34" charset="-122"/>
                <a:cs typeface="Cambria" pitchFamily="34" charset="-120"/>
              </a:rPr>
              <a:t>Not built or not verified</a:t>
            </a:r>
            <a:endParaRPr lang="en-US" sz="1400" dirty="0"/>
          </a:p>
        </p:txBody>
      </p:sp>
      <p:sp>
        <p:nvSpPr>
          <p:cNvPr id="5" name="Text 3"/>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CSV import in graph mode records a revision marker only; late-evidence correction is not wired.</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Supplier rates need an inspection cohort we have not seeded, so they show N/A.</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AI is optional and off by default. The assistant ran a labelled deterministic planner; a live model was not called in the recorded demo.</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Qoder-assisted development is not evidenced from the backend lane; the frontend adapter is untested. We do not claim it.</a:t>
            </a:r>
            <a:endParaRPr lang="en-US" sz="1050" dirty="0"/>
          </a:p>
          <a:p>
            <a:pPr marL="342900" indent="-342900">
              <a:buSzPct val="100000"/>
              <a:buChar char="•"/>
            </a:pPr>
            <a:r>
              <a:rPr lang="en-US" sz="1050" dirty="0">
                <a:solidFill>
                  <a:srgbClr val="E5E7EB"/>
                </a:solidFill>
                <a:latin typeface="Calibri" pitchFamily="34" charset="0"/>
                <a:ea typeface="Calibri" pitchFamily="34" charset="-122"/>
                <a:cs typeface="Calibri" pitchFamily="34" charset="-120"/>
              </a:rPr>
              <a:t>Robotics regression fixture is not loaded into Neo4j; those tests skip with a stated reason.</a:t>
            </a:r>
            <a:endParaRPr lang="en-US" sz="1050" dirty="0"/>
          </a:p>
        </p:txBody>
      </p:sp>
      <p:sp>
        <p:nvSpPr>
          <p:cNvPr id="6" name="Shape 4"/>
          <p:cNvSpPr/>
          <p:nvPr/>
        </p:nvSpPr>
        <p:spPr>
          <a:xfrm>
            <a:off x="4754880" y="1325880"/>
            <a:ext cx="3931920" cy="3246120"/>
          </a:xfrm>
          <a:prstGeom prst="roundRect">
            <a:avLst>
              <a:gd name="adj" fmla="val 2254"/>
            </a:avLst>
          </a:prstGeom>
          <a:solidFill>
            <a:srgbClr val="B85E1C"/>
          </a:solidFill>
          <a:ln w="9525">
            <a:solidFill>
              <a:srgbClr val="B85E1C"/>
            </a:solidFill>
            <a:prstDash val="solid"/>
          </a:ln>
        </p:spPr>
      </p:sp>
      <p:sp>
        <p:nvSpPr>
          <p:cNvPr id="7" name="Text 5"/>
          <p:cNvSpPr txBox="1"/>
          <p:nvPr/>
        </p:nvSpPr>
        <p:spPr>
          <a:xfrm>
            <a:off x="4937760" y="1435608"/>
            <a:ext cx="3566160" cy="3200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The ask: one bounded pilot</a:t>
            </a:r>
            <a:endParaRPr lang="en-US" sz="1400" dirty="0"/>
          </a:p>
        </p:txBody>
      </p:sp>
      <p:sp>
        <p:nvSpPr>
          <p:cNvPr id="8" name="Text 6"/>
          <p:cNvSpPr txBox="1"/>
          <p:nvPr/>
        </p:nvSpPr>
        <p:spPr>
          <a:xfrm>
            <a:off x="4937760" y="182880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One site, one process or part family, one named quality reviewer.</a:t>
            </a:r>
            <a:endParaRPr lang="en-US" sz="1100" dirty="0"/>
          </a:p>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Three measured numbers: investigation time per issue, repeated issue families, verified fix reuse.</a:t>
            </a:r>
            <a:endParaRPr lang="en-US" sz="1100" dirty="0"/>
          </a:p>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Pricing follows those numbers, not the other way round.</a:t>
            </a:r>
            <a:endParaRPr lang="en-US" sz="1100" dirty="0"/>
          </a:p>
          <a:p>
            <a:pPr marL="342900" indent="-342900">
              <a:buSzPct val="100000"/>
              <a:buChar char="•"/>
            </a:pPr>
            <a:r>
              <a:rPr lang="en-US" sz="1100" dirty="0">
                <a:solidFill>
                  <a:srgbClr val="FFFFFF"/>
                </a:solidFill>
                <a:latin typeface="Calibri" pitchFamily="34" charset="0"/>
                <a:ea typeface="Calibri" pitchFamily="34" charset="-122"/>
                <a:cs typeface="Calibri" pitchFamily="34" charset="-120"/>
              </a:rPr>
              <a:t>Repo: github.com/zubair480/belle-hackathon, branch codex/final-integration.</a:t>
            </a:r>
            <a:endParaRPr lang="en-US" sz="1100" dirty="0"/>
          </a:p>
        </p:txBody>
      </p:sp>
      <p:sp>
        <p:nvSpPr>
          <p:cNvPr id="9" name="Text 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Track A Builder plus the Neo4j bonus. EV assembly is our chosen domain. Nothing in the demo is a real factory record.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RecallRadius judge deck</dc:title>
  <dc:subject>PptxGenJS Presentation</dc:subject>
  <dc:creator>RecallRadius team</dc:creator>
  <cp:lastModifiedBy>RecallRadius team</cp:lastModifiedBy>
  <cp:revision>1</cp:revision>
  <dcterms:created xsi:type="dcterms:W3CDTF">2026-09-12T23:10:42Z</dcterms:created>
  <dcterms:modified xsi:type="dcterms:W3CDTF">2026-09-12T23:10:42Z</dcterms:modified>
</cp:coreProperties>
</file>